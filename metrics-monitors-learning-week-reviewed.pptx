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F4D6"/>
          </a:solidFill>
        </a:fill>
      </a:tcStyle>
    </a:wholeTbl>
    <a:band2H>
      <a:tcTxStyle b="def" i="def"/>
      <a:tcStyle>
        <a:tcBdr/>
        <a:fill>
          <a:solidFill>
            <a:srgbClr val="E6FA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1CA"/>
          </a:solidFill>
        </a:fill>
      </a:tcStyle>
    </a:wholeTbl>
    <a:band2H>
      <a:tcTxStyle b="def" i="def"/>
      <a:tcStyle>
        <a:tcBdr/>
        <a:fill>
          <a:solidFill>
            <a:srgbClr val="FFE9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AD7"/>
          </a:solidFill>
        </a:fill>
      </a:tcStyle>
    </a:wholeTbl>
    <a:band2H>
      <a:tcTxStyle b="def" i="def"/>
      <a:tcStyle>
        <a:tcBdr/>
        <a:fill>
          <a:solidFill>
            <a:srgbClr val="FFE6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Shape 59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93" name="Shape 59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10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3" name="Google Shape;11;p1" descr="Google Shape;11;p1"/>
            <p:cNvPicPr>
              <a:picLocks noChangeAspect="1"/>
            </p:cNvPicPr>
            <p:nvPr/>
          </p:nvPicPr>
          <p:blipFill>
            <a:blip r:embed="rId2">
              <a:alphaModFix amt="40000"/>
              <a:extLst/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4" name="Google Shape;12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4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44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</p:grpSp>
      <p:grpSp>
        <p:nvGrpSpPr>
          <p:cNvPr id="33" name="Google Shape;17;p1"/>
          <p:cNvGrpSpPr/>
          <p:nvPr/>
        </p:nvGrpSpPr>
        <p:grpSpPr>
          <a:xfrm>
            <a:off x="0" y="-710591"/>
            <a:ext cx="4109466" cy="479101"/>
            <a:chOff x="0" y="0"/>
            <a:chExt cx="4109465" cy="479100"/>
          </a:xfrm>
        </p:grpSpPr>
        <p:sp>
          <p:nvSpPr>
            <p:cNvPr id="26" name="Google Shape;18;p1"/>
            <p:cNvSpPr/>
            <p:nvPr/>
          </p:nvSpPr>
          <p:spPr>
            <a:xfrm>
              <a:off x="0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90000">
                  <a:srgbClr val="9C43FE"/>
                </a:gs>
                <a:gs pos="100000">
                  <a:srgbClr val="9C43FE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7" name="Google Shape;19;p1"/>
            <p:cNvSpPr/>
            <p:nvPr/>
          </p:nvSpPr>
          <p:spPr>
            <a:xfrm>
              <a:off x="60506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100000">
                  <a:schemeClr val="accent2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28" name="Google Shape;20;p1"/>
            <p:cNvSpPr/>
            <p:nvPr/>
          </p:nvSpPr>
          <p:spPr>
            <a:xfrm>
              <a:off x="121012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30000">
                  <a:schemeClr val="accent2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29" name="Google Shape;21;p1"/>
            <p:cNvSpPr/>
            <p:nvPr/>
          </p:nvSpPr>
          <p:spPr>
            <a:xfrm>
              <a:off x="181518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00B765"/>
                </a:gs>
                <a:gs pos="30000">
                  <a:srgbClr val="00B765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0" name="Google Shape;22;p1"/>
            <p:cNvSpPr/>
            <p:nvPr/>
          </p:nvSpPr>
          <p:spPr>
            <a:xfrm>
              <a:off x="242024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8000FF"/>
                </a:gs>
                <a:gs pos="90000">
                  <a:schemeClr val="accent6"/>
                </a:gs>
                <a:gs pos="100000">
                  <a:schemeClr val="accent6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31" name="Google Shape;23;p1"/>
            <p:cNvSpPr/>
            <p:nvPr/>
          </p:nvSpPr>
          <p:spPr>
            <a:xfrm>
              <a:off x="3025304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6"/>
                </a:gs>
                <a:gs pos="30000">
                  <a:schemeClr val="accent6"/>
                </a:gs>
                <a:gs pos="90000">
                  <a:schemeClr val="accent3"/>
                </a:gs>
                <a:gs pos="100000">
                  <a:schemeClr val="accent3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" name="Google Shape;24;p1"/>
            <p:cNvSpPr/>
            <p:nvPr/>
          </p:nvSpPr>
          <p:spPr>
            <a:xfrm>
              <a:off x="3630365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30000">
                  <a:schemeClr val="accent3"/>
                </a:gs>
                <a:gs pos="90000">
                  <a:schemeClr val="accent5"/>
                </a:gs>
                <a:gs pos="100000">
                  <a:schemeClr val="accent5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34" name="Google Shape;25;p1"/>
          <p:cNvSpPr/>
          <p:nvPr/>
        </p:nvSpPr>
        <p:spPr>
          <a:xfrm>
            <a:off x="10585766" y="6450774"/>
            <a:ext cx="1080115" cy="2747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33" fill="norm" stroke="1" extrusionOk="0">
                <a:moveTo>
                  <a:pt x="4627" y="12440"/>
                </a:moveTo>
                <a:lnTo>
                  <a:pt x="4750" y="17639"/>
                </a:lnTo>
                <a:lnTo>
                  <a:pt x="2635" y="19175"/>
                </a:lnTo>
                <a:lnTo>
                  <a:pt x="2616" y="18439"/>
                </a:lnTo>
                <a:lnTo>
                  <a:pt x="3005" y="16103"/>
                </a:lnTo>
                <a:lnTo>
                  <a:pt x="3447" y="16610"/>
                </a:lnTo>
                <a:lnTo>
                  <a:pt x="3827" y="14112"/>
                </a:lnTo>
                <a:lnTo>
                  <a:pt x="4281" y="15293"/>
                </a:lnTo>
                <a:lnTo>
                  <a:pt x="4281" y="15295"/>
                </a:lnTo>
                <a:lnTo>
                  <a:pt x="4282" y="15295"/>
                </a:lnTo>
                <a:lnTo>
                  <a:pt x="4281" y="15293"/>
                </a:lnTo>
                <a:close/>
                <a:moveTo>
                  <a:pt x="4755" y="11377"/>
                </a:moveTo>
                <a:lnTo>
                  <a:pt x="3365" y="12368"/>
                </a:lnTo>
                <a:cubicBezTo>
                  <a:pt x="3332" y="12542"/>
                  <a:pt x="3246" y="12849"/>
                  <a:pt x="3205" y="12929"/>
                </a:cubicBezTo>
                <a:cubicBezTo>
                  <a:pt x="3030" y="13274"/>
                  <a:pt x="2911" y="13176"/>
                  <a:pt x="2808" y="13070"/>
                </a:cubicBezTo>
                <a:cubicBezTo>
                  <a:pt x="2742" y="13006"/>
                  <a:pt x="2705" y="12968"/>
                  <a:pt x="2649" y="12870"/>
                </a:cubicBezTo>
                <a:lnTo>
                  <a:pt x="2310" y="13053"/>
                </a:lnTo>
                <a:lnTo>
                  <a:pt x="2310" y="13057"/>
                </a:lnTo>
                <a:lnTo>
                  <a:pt x="2515" y="19822"/>
                </a:lnTo>
                <a:lnTo>
                  <a:pt x="4897" y="18133"/>
                </a:lnTo>
                <a:close/>
                <a:moveTo>
                  <a:pt x="3698" y="9185"/>
                </a:moveTo>
                <a:cubicBezTo>
                  <a:pt x="3739" y="9275"/>
                  <a:pt x="3739" y="9551"/>
                  <a:pt x="3711" y="9811"/>
                </a:cubicBezTo>
                <a:cubicBezTo>
                  <a:pt x="3670" y="10185"/>
                  <a:pt x="3612" y="10598"/>
                  <a:pt x="3546" y="10632"/>
                </a:cubicBezTo>
                <a:cubicBezTo>
                  <a:pt x="3437" y="10692"/>
                  <a:pt x="3336" y="10462"/>
                  <a:pt x="3219" y="10117"/>
                </a:cubicBezTo>
                <a:cubicBezTo>
                  <a:pt x="3178" y="9994"/>
                  <a:pt x="3152" y="9696"/>
                  <a:pt x="3208" y="9526"/>
                </a:cubicBezTo>
                <a:cubicBezTo>
                  <a:pt x="3239" y="9428"/>
                  <a:pt x="3380" y="9249"/>
                  <a:pt x="3511" y="9190"/>
                </a:cubicBezTo>
                <a:cubicBezTo>
                  <a:pt x="3579" y="9160"/>
                  <a:pt x="3677" y="9139"/>
                  <a:pt x="3698" y="9185"/>
                </a:cubicBezTo>
                <a:close/>
                <a:moveTo>
                  <a:pt x="15082" y="7671"/>
                </a:moveTo>
                <a:lnTo>
                  <a:pt x="15082" y="13878"/>
                </a:lnTo>
                <a:lnTo>
                  <a:pt x="15595" y="13878"/>
                </a:lnTo>
                <a:cubicBezTo>
                  <a:pt x="16078" y="13878"/>
                  <a:pt x="16321" y="12759"/>
                  <a:pt x="16321" y="10526"/>
                </a:cubicBezTo>
                <a:cubicBezTo>
                  <a:pt x="16321" y="8624"/>
                  <a:pt x="16078" y="7671"/>
                  <a:pt x="15595" y="7671"/>
                </a:cubicBezTo>
                <a:close/>
                <a:moveTo>
                  <a:pt x="6458" y="7671"/>
                </a:moveTo>
                <a:lnTo>
                  <a:pt x="6458" y="13878"/>
                </a:lnTo>
                <a:lnTo>
                  <a:pt x="6971" y="13878"/>
                </a:lnTo>
                <a:cubicBezTo>
                  <a:pt x="7454" y="13878"/>
                  <a:pt x="7695" y="12759"/>
                  <a:pt x="7695" y="10526"/>
                </a:cubicBezTo>
                <a:cubicBezTo>
                  <a:pt x="7695" y="8624"/>
                  <a:pt x="7454" y="7671"/>
                  <a:pt x="6971" y="7671"/>
                </a:cubicBezTo>
                <a:close/>
                <a:moveTo>
                  <a:pt x="18214" y="7598"/>
                </a:moveTo>
                <a:cubicBezTo>
                  <a:pt x="17745" y="7598"/>
                  <a:pt x="17493" y="8645"/>
                  <a:pt x="17493" y="10743"/>
                </a:cubicBezTo>
                <a:cubicBezTo>
                  <a:pt x="17493" y="12840"/>
                  <a:pt x="17733" y="13933"/>
                  <a:pt x="18214" y="13933"/>
                </a:cubicBezTo>
                <a:cubicBezTo>
                  <a:pt x="18684" y="13933"/>
                  <a:pt x="18918" y="12870"/>
                  <a:pt x="18918" y="10743"/>
                </a:cubicBezTo>
                <a:cubicBezTo>
                  <a:pt x="18918" y="8615"/>
                  <a:pt x="18684" y="7598"/>
                  <a:pt x="18214" y="7598"/>
                </a:cubicBezTo>
                <a:close/>
                <a:moveTo>
                  <a:pt x="2441" y="6390"/>
                </a:moveTo>
                <a:cubicBezTo>
                  <a:pt x="2513" y="6396"/>
                  <a:pt x="2559" y="6475"/>
                  <a:pt x="2540" y="6543"/>
                </a:cubicBezTo>
                <a:cubicBezTo>
                  <a:pt x="2470" y="6807"/>
                  <a:pt x="2564" y="6731"/>
                  <a:pt x="2574" y="7216"/>
                </a:cubicBezTo>
                <a:cubicBezTo>
                  <a:pt x="2581" y="7573"/>
                  <a:pt x="2552" y="7773"/>
                  <a:pt x="2526" y="7884"/>
                </a:cubicBezTo>
                <a:cubicBezTo>
                  <a:pt x="2472" y="7909"/>
                  <a:pt x="2407" y="7964"/>
                  <a:pt x="2329" y="8062"/>
                </a:cubicBezTo>
                <a:cubicBezTo>
                  <a:pt x="2283" y="8122"/>
                  <a:pt x="2243" y="8190"/>
                  <a:pt x="2207" y="8254"/>
                </a:cubicBezTo>
                <a:cubicBezTo>
                  <a:pt x="2198" y="8228"/>
                  <a:pt x="2188" y="8203"/>
                  <a:pt x="2176" y="8160"/>
                </a:cubicBezTo>
                <a:cubicBezTo>
                  <a:pt x="2056" y="7747"/>
                  <a:pt x="2059" y="7024"/>
                  <a:pt x="2186" y="6684"/>
                </a:cubicBezTo>
                <a:cubicBezTo>
                  <a:pt x="2271" y="6454"/>
                  <a:pt x="2369" y="6385"/>
                  <a:pt x="2441" y="6390"/>
                </a:cubicBezTo>
                <a:close/>
                <a:moveTo>
                  <a:pt x="14650" y="6199"/>
                </a:moveTo>
                <a:lnTo>
                  <a:pt x="15660" y="6199"/>
                </a:lnTo>
                <a:cubicBezTo>
                  <a:pt x="16388" y="6199"/>
                  <a:pt x="16752" y="7641"/>
                  <a:pt x="16752" y="10526"/>
                </a:cubicBezTo>
                <a:cubicBezTo>
                  <a:pt x="16752" y="13742"/>
                  <a:pt x="16389" y="15350"/>
                  <a:pt x="15660" y="15350"/>
                </a:cubicBezTo>
                <a:lnTo>
                  <a:pt x="15660" y="15346"/>
                </a:lnTo>
                <a:lnTo>
                  <a:pt x="14650" y="15346"/>
                </a:lnTo>
                <a:close/>
                <a:moveTo>
                  <a:pt x="6026" y="6199"/>
                </a:moveTo>
                <a:lnTo>
                  <a:pt x="7036" y="6199"/>
                </a:lnTo>
                <a:cubicBezTo>
                  <a:pt x="7764" y="6199"/>
                  <a:pt x="8128" y="7641"/>
                  <a:pt x="8128" y="10526"/>
                </a:cubicBezTo>
                <a:cubicBezTo>
                  <a:pt x="8128" y="13742"/>
                  <a:pt x="7764" y="15350"/>
                  <a:pt x="7036" y="15350"/>
                </a:cubicBezTo>
                <a:lnTo>
                  <a:pt x="7036" y="15346"/>
                </a:lnTo>
                <a:lnTo>
                  <a:pt x="6026" y="15346"/>
                </a:lnTo>
                <a:close/>
                <a:moveTo>
                  <a:pt x="12890" y="6195"/>
                </a:moveTo>
                <a:lnTo>
                  <a:pt x="13354" y="6195"/>
                </a:lnTo>
                <a:lnTo>
                  <a:pt x="14364" y="15346"/>
                </a:lnTo>
                <a:lnTo>
                  <a:pt x="13899" y="15346"/>
                </a:lnTo>
                <a:lnTo>
                  <a:pt x="13606" y="12849"/>
                </a:lnTo>
                <a:lnTo>
                  <a:pt x="12860" y="12849"/>
                </a:lnTo>
                <a:lnTo>
                  <a:pt x="13008" y="11377"/>
                </a:lnTo>
                <a:lnTo>
                  <a:pt x="13493" y="11377"/>
                </a:lnTo>
                <a:lnTo>
                  <a:pt x="13111" y="7943"/>
                </a:lnTo>
                <a:lnTo>
                  <a:pt x="12345" y="15346"/>
                </a:lnTo>
                <a:lnTo>
                  <a:pt x="11902" y="15346"/>
                </a:lnTo>
                <a:close/>
                <a:moveTo>
                  <a:pt x="10356" y="6195"/>
                </a:moveTo>
                <a:lnTo>
                  <a:pt x="12123" y="6195"/>
                </a:lnTo>
                <a:lnTo>
                  <a:pt x="12123" y="7667"/>
                </a:lnTo>
                <a:lnTo>
                  <a:pt x="11455" y="7667"/>
                </a:lnTo>
                <a:lnTo>
                  <a:pt x="11455" y="15346"/>
                </a:lnTo>
                <a:lnTo>
                  <a:pt x="11024" y="15346"/>
                </a:lnTo>
                <a:lnTo>
                  <a:pt x="11024" y="7667"/>
                </a:lnTo>
                <a:lnTo>
                  <a:pt x="10356" y="7667"/>
                </a:lnTo>
                <a:close/>
                <a:moveTo>
                  <a:pt x="9124" y="6195"/>
                </a:moveTo>
                <a:lnTo>
                  <a:pt x="9589" y="6195"/>
                </a:lnTo>
                <a:lnTo>
                  <a:pt x="10599" y="15346"/>
                </a:lnTo>
                <a:lnTo>
                  <a:pt x="10135" y="15346"/>
                </a:lnTo>
                <a:lnTo>
                  <a:pt x="9842" y="12849"/>
                </a:lnTo>
                <a:lnTo>
                  <a:pt x="9096" y="12849"/>
                </a:lnTo>
                <a:lnTo>
                  <a:pt x="9244" y="11377"/>
                </a:lnTo>
                <a:lnTo>
                  <a:pt x="9728" y="11377"/>
                </a:lnTo>
                <a:lnTo>
                  <a:pt x="9347" y="7943"/>
                </a:lnTo>
                <a:lnTo>
                  <a:pt x="8580" y="15346"/>
                </a:lnTo>
                <a:lnTo>
                  <a:pt x="8136" y="15346"/>
                </a:lnTo>
                <a:close/>
                <a:moveTo>
                  <a:pt x="20915" y="6135"/>
                </a:moveTo>
                <a:cubicBezTo>
                  <a:pt x="21170" y="6135"/>
                  <a:pt x="21398" y="6284"/>
                  <a:pt x="21599" y="6582"/>
                </a:cubicBezTo>
                <a:lnTo>
                  <a:pt x="21599" y="8118"/>
                </a:lnTo>
                <a:cubicBezTo>
                  <a:pt x="21398" y="7773"/>
                  <a:pt x="21181" y="7603"/>
                  <a:pt x="20947" y="7603"/>
                </a:cubicBezTo>
                <a:cubicBezTo>
                  <a:pt x="20388" y="7603"/>
                  <a:pt x="20108" y="8615"/>
                  <a:pt x="20108" y="10645"/>
                </a:cubicBezTo>
                <a:cubicBezTo>
                  <a:pt x="20108" y="12840"/>
                  <a:pt x="20372" y="13938"/>
                  <a:pt x="20900" y="13938"/>
                </a:cubicBezTo>
                <a:cubicBezTo>
                  <a:pt x="20977" y="13938"/>
                  <a:pt x="21067" y="13887"/>
                  <a:pt x="21167" y="13785"/>
                </a:cubicBezTo>
                <a:lnTo>
                  <a:pt x="21167" y="11653"/>
                </a:lnTo>
                <a:lnTo>
                  <a:pt x="21169" y="11653"/>
                </a:lnTo>
                <a:lnTo>
                  <a:pt x="21167" y="11640"/>
                </a:lnTo>
                <a:lnTo>
                  <a:pt x="21167" y="11653"/>
                </a:lnTo>
                <a:lnTo>
                  <a:pt x="20757" y="11653"/>
                </a:lnTo>
                <a:lnTo>
                  <a:pt x="20903" y="10147"/>
                </a:lnTo>
                <a:lnTo>
                  <a:pt x="21600" y="10147"/>
                </a:lnTo>
                <a:lnTo>
                  <a:pt x="21600" y="14933"/>
                </a:lnTo>
                <a:cubicBezTo>
                  <a:pt x="21412" y="15257"/>
                  <a:pt x="21177" y="15418"/>
                  <a:pt x="20894" y="15418"/>
                </a:cubicBezTo>
                <a:cubicBezTo>
                  <a:pt x="20071" y="15418"/>
                  <a:pt x="19661" y="13827"/>
                  <a:pt x="19661" y="10649"/>
                </a:cubicBezTo>
                <a:cubicBezTo>
                  <a:pt x="19661" y="7637"/>
                  <a:pt x="20079" y="6135"/>
                  <a:pt x="20915" y="6135"/>
                </a:cubicBezTo>
                <a:close/>
                <a:moveTo>
                  <a:pt x="18214" y="6126"/>
                </a:moveTo>
                <a:cubicBezTo>
                  <a:pt x="18994" y="6126"/>
                  <a:pt x="19366" y="7675"/>
                  <a:pt x="19366" y="10781"/>
                </a:cubicBezTo>
                <a:cubicBezTo>
                  <a:pt x="19366" y="13887"/>
                  <a:pt x="18982" y="15410"/>
                  <a:pt x="18214" y="15410"/>
                </a:cubicBezTo>
                <a:cubicBezTo>
                  <a:pt x="17447" y="15410"/>
                  <a:pt x="17079" y="13865"/>
                  <a:pt x="17045" y="10781"/>
                </a:cubicBezTo>
                <a:cubicBezTo>
                  <a:pt x="17045" y="7679"/>
                  <a:pt x="17435" y="6126"/>
                  <a:pt x="18214" y="6126"/>
                </a:cubicBezTo>
                <a:close/>
                <a:moveTo>
                  <a:pt x="3405" y="5888"/>
                </a:moveTo>
                <a:cubicBezTo>
                  <a:pt x="3564" y="6182"/>
                  <a:pt x="3543" y="6735"/>
                  <a:pt x="3548" y="7062"/>
                </a:cubicBezTo>
                <a:cubicBezTo>
                  <a:pt x="3549" y="7156"/>
                  <a:pt x="3549" y="7220"/>
                  <a:pt x="3547" y="7262"/>
                </a:cubicBezTo>
                <a:cubicBezTo>
                  <a:pt x="3524" y="7216"/>
                  <a:pt x="3489" y="7182"/>
                  <a:pt x="3434" y="7190"/>
                </a:cubicBezTo>
                <a:cubicBezTo>
                  <a:pt x="3418" y="7194"/>
                  <a:pt x="3402" y="7203"/>
                  <a:pt x="3387" y="7211"/>
                </a:cubicBezTo>
                <a:cubicBezTo>
                  <a:pt x="3328" y="7088"/>
                  <a:pt x="3294" y="6845"/>
                  <a:pt x="3261" y="6586"/>
                </a:cubicBezTo>
                <a:lnTo>
                  <a:pt x="3254" y="6522"/>
                </a:lnTo>
                <a:lnTo>
                  <a:pt x="3249" y="6492"/>
                </a:lnTo>
                <a:lnTo>
                  <a:pt x="3249" y="6480"/>
                </a:lnTo>
                <a:cubicBezTo>
                  <a:pt x="3232" y="6258"/>
                  <a:pt x="3244" y="6216"/>
                  <a:pt x="3252" y="6148"/>
                </a:cubicBezTo>
                <a:lnTo>
                  <a:pt x="3252" y="6143"/>
                </a:lnTo>
                <a:cubicBezTo>
                  <a:pt x="3259" y="6075"/>
                  <a:pt x="3287" y="6020"/>
                  <a:pt x="3245" y="5961"/>
                </a:cubicBezTo>
                <a:cubicBezTo>
                  <a:pt x="3242" y="5956"/>
                  <a:pt x="3238" y="5948"/>
                  <a:pt x="3232" y="5948"/>
                </a:cubicBezTo>
                <a:cubicBezTo>
                  <a:pt x="3260" y="5812"/>
                  <a:pt x="3345" y="5778"/>
                  <a:pt x="3405" y="5888"/>
                </a:cubicBezTo>
                <a:close/>
                <a:moveTo>
                  <a:pt x="4491" y="0"/>
                </a:moveTo>
                <a:lnTo>
                  <a:pt x="4755" y="10721"/>
                </a:lnTo>
                <a:lnTo>
                  <a:pt x="4892" y="10619"/>
                </a:lnTo>
                <a:lnTo>
                  <a:pt x="4894" y="10615"/>
                </a:lnTo>
                <a:lnTo>
                  <a:pt x="5113" y="19060"/>
                </a:lnTo>
                <a:lnTo>
                  <a:pt x="2416" y="20336"/>
                </a:lnTo>
                <a:lnTo>
                  <a:pt x="2358" y="18690"/>
                </a:lnTo>
                <a:lnTo>
                  <a:pt x="2194" y="18784"/>
                </a:lnTo>
                <a:cubicBezTo>
                  <a:pt x="2208" y="19698"/>
                  <a:pt x="2153" y="20570"/>
                  <a:pt x="2051" y="20987"/>
                </a:cubicBezTo>
                <a:cubicBezTo>
                  <a:pt x="1931" y="21477"/>
                  <a:pt x="1756" y="21600"/>
                  <a:pt x="1571" y="21502"/>
                </a:cubicBezTo>
                <a:cubicBezTo>
                  <a:pt x="1446" y="21438"/>
                  <a:pt x="1353" y="21085"/>
                  <a:pt x="1285" y="20651"/>
                </a:cubicBezTo>
                <a:cubicBezTo>
                  <a:pt x="1541" y="21362"/>
                  <a:pt x="1858" y="21034"/>
                  <a:pt x="1966" y="20439"/>
                </a:cubicBezTo>
                <a:cubicBezTo>
                  <a:pt x="2119" y="19605"/>
                  <a:pt x="2079" y="18813"/>
                  <a:pt x="2023" y="18077"/>
                </a:cubicBezTo>
                <a:cubicBezTo>
                  <a:pt x="1978" y="17499"/>
                  <a:pt x="1858" y="16541"/>
                  <a:pt x="1709" y="16171"/>
                </a:cubicBezTo>
                <a:cubicBezTo>
                  <a:pt x="1558" y="15793"/>
                  <a:pt x="1410" y="15720"/>
                  <a:pt x="1284" y="15771"/>
                </a:cubicBezTo>
                <a:lnTo>
                  <a:pt x="1296" y="15720"/>
                </a:lnTo>
                <a:cubicBezTo>
                  <a:pt x="1477" y="15580"/>
                  <a:pt x="1665" y="15656"/>
                  <a:pt x="1801" y="16001"/>
                </a:cubicBezTo>
                <a:cubicBezTo>
                  <a:pt x="1955" y="16393"/>
                  <a:pt x="2097" y="17065"/>
                  <a:pt x="2171" y="18094"/>
                </a:cubicBezTo>
                <a:cubicBezTo>
                  <a:pt x="2255" y="18048"/>
                  <a:pt x="2267" y="18026"/>
                  <a:pt x="2344" y="17984"/>
                </a:cubicBezTo>
                <a:lnTo>
                  <a:pt x="2171" y="12683"/>
                </a:lnTo>
                <a:lnTo>
                  <a:pt x="2537" y="12525"/>
                </a:lnTo>
                <a:cubicBezTo>
                  <a:pt x="2365" y="12091"/>
                  <a:pt x="2188" y="11470"/>
                  <a:pt x="2110" y="11125"/>
                </a:cubicBezTo>
                <a:cubicBezTo>
                  <a:pt x="2097" y="11087"/>
                  <a:pt x="2099" y="10917"/>
                  <a:pt x="2099" y="10917"/>
                </a:cubicBezTo>
                <a:cubicBezTo>
                  <a:pt x="2170" y="11130"/>
                  <a:pt x="2460" y="11947"/>
                  <a:pt x="2767" y="12321"/>
                </a:cubicBezTo>
                <a:cubicBezTo>
                  <a:pt x="2875" y="12453"/>
                  <a:pt x="3042" y="12504"/>
                  <a:pt x="3187" y="12181"/>
                </a:cubicBezTo>
                <a:cubicBezTo>
                  <a:pt x="3297" y="11934"/>
                  <a:pt x="3430" y="11504"/>
                  <a:pt x="3509" y="11062"/>
                </a:cubicBezTo>
                <a:lnTo>
                  <a:pt x="3523" y="11160"/>
                </a:lnTo>
                <a:cubicBezTo>
                  <a:pt x="3523" y="11228"/>
                  <a:pt x="3486" y="11547"/>
                  <a:pt x="3468" y="11674"/>
                </a:cubicBezTo>
                <a:cubicBezTo>
                  <a:pt x="3501" y="11751"/>
                  <a:pt x="3526" y="11768"/>
                  <a:pt x="3564" y="11810"/>
                </a:cubicBezTo>
                <a:lnTo>
                  <a:pt x="3819" y="11653"/>
                </a:lnTo>
                <a:cubicBezTo>
                  <a:pt x="3910" y="11074"/>
                  <a:pt x="3976" y="10134"/>
                  <a:pt x="3906" y="9245"/>
                </a:cubicBezTo>
                <a:cubicBezTo>
                  <a:pt x="3866" y="8734"/>
                  <a:pt x="3658" y="7713"/>
                  <a:pt x="3643" y="7658"/>
                </a:cubicBezTo>
                <a:cubicBezTo>
                  <a:pt x="3590" y="7462"/>
                  <a:pt x="3652" y="6701"/>
                  <a:pt x="3548" y="5867"/>
                </a:cubicBezTo>
                <a:cubicBezTo>
                  <a:pt x="3439" y="4986"/>
                  <a:pt x="3154" y="4067"/>
                  <a:pt x="3030" y="3667"/>
                </a:cubicBezTo>
                <a:cubicBezTo>
                  <a:pt x="3067" y="3769"/>
                  <a:pt x="3290" y="4127"/>
                  <a:pt x="3395" y="4625"/>
                </a:cubicBezTo>
                <a:cubicBezTo>
                  <a:pt x="3405" y="4574"/>
                  <a:pt x="3409" y="4306"/>
                  <a:pt x="3418" y="4237"/>
                </a:cubicBezTo>
                <a:cubicBezTo>
                  <a:pt x="3328" y="3778"/>
                  <a:pt x="3321" y="2953"/>
                  <a:pt x="3321" y="2731"/>
                </a:cubicBezTo>
                <a:cubicBezTo>
                  <a:pt x="3321" y="2327"/>
                  <a:pt x="3269" y="1868"/>
                  <a:pt x="3269" y="1868"/>
                </a:cubicBezTo>
                <a:cubicBezTo>
                  <a:pt x="3269" y="1868"/>
                  <a:pt x="3360" y="2149"/>
                  <a:pt x="3382" y="2629"/>
                </a:cubicBezTo>
                <a:cubicBezTo>
                  <a:pt x="3409" y="3199"/>
                  <a:pt x="3468" y="3650"/>
                  <a:pt x="3546" y="4029"/>
                </a:cubicBezTo>
                <a:cubicBezTo>
                  <a:pt x="3693" y="4748"/>
                  <a:pt x="3824" y="5114"/>
                  <a:pt x="3892" y="4850"/>
                </a:cubicBezTo>
                <a:cubicBezTo>
                  <a:pt x="3971" y="4531"/>
                  <a:pt x="3812" y="3106"/>
                  <a:pt x="3605" y="2310"/>
                </a:cubicBezTo>
                <a:cubicBezTo>
                  <a:pt x="3365" y="1383"/>
                  <a:pt x="3301" y="1502"/>
                  <a:pt x="3161" y="1702"/>
                </a:cubicBezTo>
                <a:cubicBezTo>
                  <a:pt x="3048" y="1859"/>
                  <a:pt x="2988" y="3119"/>
                  <a:pt x="2695" y="3093"/>
                </a:cubicBezTo>
                <a:cubicBezTo>
                  <a:pt x="2645" y="3072"/>
                  <a:pt x="2517" y="3059"/>
                  <a:pt x="2454" y="3059"/>
                </a:cubicBezTo>
                <a:cubicBezTo>
                  <a:pt x="2487" y="2880"/>
                  <a:pt x="2515" y="2740"/>
                  <a:pt x="2515" y="2740"/>
                </a:cubicBezTo>
                <a:cubicBezTo>
                  <a:pt x="2515" y="2740"/>
                  <a:pt x="2417" y="2897"/>
                  <a:pt x="2334" y="3093"/>
                </a:cubicBezTo>
                <a:lnTo>
                  <a:pt x="2327" y="3055"/>
                </a:lnTo>
                <a:cubicBezTo>
                  <a:pt x="2355" y="2821"/>
                  <a:pt x="2386" y="2672"/>
                  <a:pt x="2386" y="2672"/>
                </a:cubicBezTo>
                <a:cubicBezTo>
                  <a:pt x="2386" y="2672"/>
                  <a:pt x="2307" y="2859"/>
                  <a:pt x="2235" y="3080"/>
                </a:cubicBezTo>
                <a:cubicBezTo>
                  <a:pt x="2248" y="2804"/>
                  <a:pt x="2298" y="2625"/>
                  <a:pt x="2298" y="2625"/>
                </a:cubicBezTo>
                <a:cubicBezTo>
                  <a:pt x="2298" y="2625"/>
                  <a:pt x="2199" y="2693"/>
                  <a:pt x="2072" y="3242"/>
                </a:cubicBezTo>
                <a:cubicBezTo>
                  <a:pt x="1928" y="3395"/>
                  <a:pt x="1894" y="3497"/>
                  <a:pt x="1779" y="3697"/>
                </a:cubicBezTo>
                <a:cubicBezTo>
                  <a:pt x="1593" y="3535"/>
                  <a:pt x="1505" y="3280"/>
                  <a:pt x="1421" y="2804"/>
                </a:cubicBezTo>
                <a:cubicBezTo>
                  <a:pt x="1358" y="2442"/>
                  <a:pt x="1244" y="2387"/>
                  <a:pt x="1129" y="2574"/>
                </a:cubicBezTo>
                <a:cubicBezTo>
                  <a:pt x="960" y="2846"/>
                  <a:pt x="746" y="3225"/>
                  <a:pt x="746" y="3225"/>
                </a:cubicBezTo>
                <a:cubicBezTo>
                  <a:pt x="746" y="3225"/>
                  <a:pt x="816" y="3212"/>
                  <a:pt x="889" y="3225"/>
                </a:cubicBezTo>
                <a:cubicBezTo>
                  <a:pt x="790" y="3374"/>
                  <a:pt x="694" y="3578"/>
                  <a:pt x="694" y="3578"/>
                </a:cubicBezTo>
                <a:cubicBezTo>
                  <a:pt x="694" y="3578"/>
                  <a:pt x="740" y="3578"/>
                  <a:pt x="798" y="3578"/>
                </a:cubicBezTo>
                <a:cubicBezTo>
                  <a:pt x="758" y="3706"/>
                  <a:pt x="736" y="3769"/>
                  <a:pt x="698" y="3867"/>
                </a:cubicBezTo>
                <a:cubicBezTo>
                  <a:pt x="608" y="4127"/>
                  <a:pt x="534" y="4429"/>
                  <a:pt x="534" y="4429"/>
                </a:cubicBezTo>
                <a:cubicBezTo>
                  <a:pt x="534" y="4429"/>
                  <a:pt x="596" y="4318"/>
                  <a:pt x="651" y="4254"/>
                </a:cubicBezTo>
                <a:cubicBezTo>
                  <a:pt x="612" y="4603"/>
                  <a:pt x="535" y="4859"/>
                  <a:pt x="549" y="5288"/>
                </a:cubicBezTo>
                <a:cubicBezTo>
                  <a:pt x="563" y="5680"/>
                  <a:pt x="684" y="6484"/>
                  <a:pt x="842" y="6977"/>
                </a:cubicBezTo>
                <a:cubicBezTo>
                  <a:pt x="855" y="7024"/>
                  <a:pt x="1070" y="7803"/>
                  <a:pt x="1232" y="7484"/>
                </a:cubicBezTo>
                <a:cubicBezTo>
                  <a:pt x="1394" y="7160"/>
                  <a:pt x="1458" y="6875"/>
                  <a:pt x="1485" y="6437"/>
                </a:cubicBezTo>
                <a:cubicBezTo>
                  <a:pt x="1517" y="5931"/>
                  <a:pt x="1499" y="5552"/>
                  <a:pt x="1432" y="4459"/>
                </a:cubicBezTo>
                <a:cubicBezTo>
                  <a:pt x="1411" y="4097"/>
                  <a:pt x="1353" y="3353"/>
                  <a:pt x="1325" y="2999"/>
                </a:cubicBezTo>
                <a:lnTo>
                  <a:pt x="1332" y="2982"/>
                </a:lnTo>
                <a:cubicBezTo>
                  <a:pt x="1385" y="3421"/>
                  <a:pt x="1520" y="4582"/>
                  <a:pt x="1575" y="5361"/>
                </a:cubicBezTo>
                <a:cubicBezTo>
                  <a:pt x="1660" y="6577"/>
                  <a:pt x="1633" y="7194"/>
                  <a:pt x="1594" y="7420"/>
                </a:cubicBezTo>
                <a:cubicBezTo>
                  <a:pt x="1477" y="8105"/>
                  <a:pt x="1175" y="8194"/>
                  <a:pt x="1038" y="7816"/>
                </a:cubicBezTo>
                <a:cubicBezTo>
                  <a:pt x="1016" y="9122"/>
                  <a:pt x="1091" y="9700"/>
                  <a:pt x="1116" y="9990"/>
                </a:cubicBezTo>
                <a:cubicBezTo>
                  <a:pt x="1103" y="10321"/>
                  <a:pt x="1158" y="10943"/>
                  <a:pt x="1158" y="10943"/>
                </a:cubicBezTo>
                <a:cubicBezTo>
                  <a:pt x="1158" y="10943"/>
                  <a:pt x="1164" y="10662"/>
                  <a:pt x="1189" y="10513"/>
                </a:cubicBezTo>
                <a:cubicBezTo>
                  <a:pt x="1196" y="10845"/>
                  <a:pt x="1238" y="11236"/>
                  <a:pt x="1238" y="11236"/>
                </a:cubicBezTo>
                <a:cubicBezTo>
                  <a:pt x="1238" y="11236"/>
                  <a:pt x="1234" y="10994"/>
                  <a:pt x="1254" y="10785"/>
                </a:cubicBezTo>
                <a:cubicBezTo>
                  <a:pt x="1281" y="10968"/>
                  <a:pt x="1300" y="11011"/>
                  <a:pt x="1326" y="11147"/>
                </a:cubicBezTo>
                <a:cubicBezTo>
                  <a:pt x="1351" y="11500"/>
                  <a:pt x="1403" y="11759"/>
                  <a:pt x="1403" y="11759"/>
                </a:cubicBezTo>
                <a:cubicBezTo>
                  <a:pt x="1403" y="11759"/>
                  <a:pt x="1394" y="11568"/>
                  <a:pt x="1399" y="11372"/>
                </a:cubicBezTo>
                <a:cubicBezTo>
                  <a:pt x="1524" y="11844"/>
                  <a:pt x="1546" y="12542"/>
                  <a:pt x="1559" y="13074"/>
                </a:cubicBezTo>
                <a:cubicBezTo>
                  <a:pt x="1594" y="14542"/>
                  <a:pt x="972" y="15708"/>
                  <a:pt x="851" y="16627"/>
                </a:cubicBezTo>
                <a:cubicBezTo>
                  <a:pt x="759" y="17171"/>
                  <a:pt x="705" y="18031"/>
                  <a:pt x="859" y="18537"/>
                </a:cubicBezTo>
                <a:cubicBezTo>
                  <a:pt x="972" y="18898"/>
                  <a:pt x="1037" y="19183"/>
                  <a:pt x="1079" y="19422"/>
                </a:cubicBezTo>
                <a:lnTo>
                  <a:pt x="553" y="19724"/>
                </a:lnTo>
                <a:lnTo>
                  <a:pt x="0" y="2051"/>
                </a:lnTo>
                <a:close/>
              </a:path>
            </a:pathLst>
          </a:custGeom>
          <a:solidFill>
            <a:srgbClr val="632CA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35" name="Google Shape;27;p2" descr="Google Shape;27;p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Body Level One…"/>
          <p:cNvSpPr txBox="1"/>
          <p:nvPr>
            <p:ph type="body" sz="quarter" idx="1"/>
          </p:nvPr>
        </p:nvSpPr>
        <p:spPr>
          <a:xfrm>
            <a:off x="703259" y="1888332"/>
            <a:ext cx="10785601" cy="954001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 marL="228600" indent="457200">
              <a:buSzTx/>
              <a:buNone/>
              <a:defRPr sz="2400">
                <a:solidFill>
                  <a:srgbClr val="FFFFFF"/>
                </a:solidFill>
              </a:defRPr>
            </a:lvl2pPr>
            <a:lvl3pPr marL="228600" indent="914400">
              <a:buSzTx/>
              <a:buNone/>
              <a:defRPr sz="2400">
                <a:solidFill>
                  <a:srgbClr val="FFFFFF"/>
                </a:solidFill>
              </a:defRPr>
            </a:lvl3pPr>
            <a:lvl4pPr marL="228600" indent="1371600">
              <a:buSzTx/>
              <a:buNone/>
              <a:defRPr sz="2400">
                <a:solidFill>
                  <a:srgbClr val="FFFFFF"/>
                </a:solidFill>
              </a:defRPr>
            </a:lvl4pPr>
            <a:lvl5pPr marL="228600" indent="1828800">
              <a:buSz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Title Text"/>
          <p:cNvSpPr txBox="1"/>
          <p:nvPr>
            <p:ph type="title"/>
          </p:nvPr>
        </p:nvSpPr>
        <p:spPr>
          <a:xfrm>
            <a:off x="703250" y="601046"/>
            <a:ext cx="10785600" cy="826201"/>
          </a:xfrm>
          <a:prstGeom prst="rect">
            <a:avLst/>
          </a:prstGeom>
        </p:spPr>
        <p:txBody>
          <a:bodyPr/>
          <a:lstStyle>
            <a:lvl1pPr>
              <a:defRPr sz="72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8" name="Google Shape;30;p2"/>
          <p:cNvSpPr txBox="1"/>
          <p:nvPr>
            <p:ph type="body" sz="quarter" idx="21"/>
          </p:nvPr>
        </p:nvSpPr>
        <p:spPr>
          <a:xfrm>
            <a:off x="703260" y="326571"/>
            <a:ext cx="10785479" cy="321129"/>
          </a:xfrm>
          <a:prstGeom prst="rect">
            <a:avLst/>
          </a:prstGeom>
        </p:spPr>
        <p:txBody>
          <a:bodyPr/>
          <a:lstStyle/>
          <a:p>
            <a:pPr>
              <a:defRPr b="1" sz="1600">
                <a:solidFill>
                  <a:srgbClr val="FFFFFF"/>
                </a:solidFill>
              </a:defRPr>
            </a:pPr>
          </a:p>
        </p:txBody>
      </p:sp>
      <p:sp>
        <p:nvSpPr>
          <p:cNvPr id="39" name="Google Shape;31;p2"/>
          <p:cNvSpPr/>
          <p:nvPr/>
        </p:nvSpPr>
        <p:spPr>
          <a:xfrm>
            <a:off x="10202151" y="4969092"/>
            <a:ext cx="1371791" cy="13711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65" fill="norm" stroke="1" extrusionOk="0">
                <a:moveTo>
                  <a:pt x="12562" y="18835"/>
                </a:moveTo>
                <a:lnTo>
                  <a:pt x="12562" y="21020"/>
                </a:lnTo>
                <a:lnTo>
                  <a:pt x="13273" y="21020"/>
                </a:lnTo>
                <a:cubicBezTo>
                  <a:pt x="13942" y="21020"/>
                  <a:pt x="14278" y="20627"/>
                  <a:pt x="14278" y="19839"/>
                </a:cubicBezTo>
                <a:cubicBezTo>
                  <a:pt x="14278" y="19171"/>
                  <a:pt x="13942" y="18835"/>
                  <a:pt x="13273" y="18835"/>
                </a:cubicBezTo>
                <a:close/>
                <a:moveTo>
                  <a:pt x="600" y="18835"/>
                </a:moveTo>
                <a:lnTo>
                  <a:pt x="600" y="21020"/>
                </a:lnTo>
                <a:lnTo>
                  <a:pt x="1311" y="21020"/>
                </a:lnTo>
                <a:cubicBezTo>
                  <a:pt x="1980" y="21020"/>
                  <a:pt x="2316" y="20627"/>
                  <a:pt x="2316" y="19839"/>
                </a:cubicBezTo>
                <a:cubicBezTo>
                  <a:pt x="2316" y="19171"/>
                  <a:pt x="1980" y="18835"/>
                  <a:pt x="1311" y="18835"/>
                </a:cubicBezTo>
                <a:close/>
                <a:moveTo>
                  <a:pt x="16906" y="18815"/>
                </a:moveTo>
                <a:cubicBezTo>
                  <a:pt x="16255" y="18815"/>
                  <a:pt x="15904" y="19183"/>
                  <a:pt x="15904" y="19920"/>
                </a:cubicBezTo>
                <a:cubicBezTo>
                  <a:pt x="15904" y="20657"/>
                  <a:pt x="16237" y="21044"/>
                  <a:pt x="16906" y="21044"/>
                </a:cubicBezTo>
                <a:cubicBezTo>
                  <a:pt x="17557" y="21044"/>
                  <a:pt x="17881" y="20669"/>
                  <a:pt x="17881" y="19920"/>
                </a:cubicBezTo>
                <a:cubicBezTo>
                  <a:pt x="17881" y="19171"/>
                  <a:pt x="17557" y="18815"/>
                  <a:pt x="16906" y="18815"/>
                </a:cubicBezTo>
                <a:close/>
                <a:moveTo>
                  <a:pt x="11962" y="18317"/>
                </a:moveTo>
                <a:lnTo>
                  <a:pt x="13363" y="18317"/>
                </a:lnTo>
                <a:cubicBezTo>
                  <a:pt x="14374" y="18317"/>
                  <a:pt x="14878" y="18823"/>
                  <a:pt x="14878" y="19839"/>
                </a:cubicBezTo>
                <a:cubicBezTo>
                  <a:pt x="14878" y="20972"/>
                  <a:pt x="14374" y="21538"/>
                  <a:pt x="13363" y="21538"/>
                </a:cubicBezTo>
                <a:lnTo>
                  <a:pt x="11962" y="21538"/>
                </a:lnTo>
                <a:close/>
                <a:moveTo>
                  <a:pt x="9521" y="18317"/>
                </a:moveTo>
                <a:lnTo>
                  <a:pt x="10166" y="18317"/>
                </a:lnTo>
                <a:lnTo>
                  <a:pt x="11566" y="21538"/>
                </a:lnTo>
                <a:lnTo>
                  <a:pt x="10921" y="21538"/>
                </a:lnTo>
                <a:lnTo>
                  <a:pt x="10517" y="20660"/>
                </a:lnTo>
                <a:lnTo>
                  <a:pt x="9482" y="20660"/>
                </a:lnTo>
                <a:lnTo>
                  <a:pt x="9686" y="20142"/>
                </a:lnTo>
                <a:lnTo>
                  <a:pt x="10358" y="20142"/>
                </a:lnTo>
                <a:lnTo>
                  <a:pt x="9830" y="18931"/>
                </a:lnTo>
                <a:lnTo>
                  <a:pt x="8765" y="21538"/>
                </a:lnTo>
                <a:lnTo>
                  <a:pt x="8150" y="21538"/>
                </a:lnTo>
                <a:close/>
                <a:moveTo>
                  <a:pt x="6005" y="18317"/>
                </a:moveTo>
                <a:lnTo>
                  <a:pt x="8459" y="18317"/>
                </a:lnTo>
                <a:lnTo>
                  <a:pt x="8459" y="18835"/>
                </a:lnTo>
                <a:lnTo>
                  <a:pt x="7532" y="18835"/>
                </a:lnTo>
                <a:lnTo>
                  <a:pt x="7532" y="21538"/>
                </a:lnTo>
                <a:lnTo>
                  <a:pt x="6932" y="21538"/>
                </a:lnTo>
                <a:lnTo>
                  <a:pt x="6932" y="18835"/>
                </a:lnTo>
                <a:lnTo>
                  <a:pt x="6005" y="18835"/>
                </a:lnTo>
                <a:close/>
                <a:moveTo>
                  <a:pt x="4298" y="18317"/>
                </a:moveTo>
                <a:lnTo>
                  <a:pt x="4943" y="18317"/>
                </a:lnTo>
                <a:lnTo>
                  <a:pt x="6344" y="21538"/>
                </a:lnTo>
                <a:lnTo>
                  <a:pt x="5699" y="21538"/>
                </a:lnTo>
                <a:lnTo>
                  <a:pt x="5294" y="20660"/>
                </a:lnTo>
                <a:lnTo>
                  <a:pt x="4259" y="20660"/>
                </a:lnTo>
                <a:lnTo>
                  <a:pt x="4466" y="20142"/>
                </a:lnTo>
                <a:lnTo>
                  <a:pt x="5135" y="20142"/>
                </a:lnTo>
                <a:lnTo>
                  <a:pt x="4607" y="18931"/>
                </a:lnTo>
                <a:lnTo>
                  <a:pt x="3543" y="21538"/>
                </a:lnTo>
                <a:lnTo>
                  <a:pt x="2928" y="21538"/>
                </a:lnTo>
                <a:close/>
                <a:moveTo>
                  <a:pt x="0" y="18317"/>
                </a:moveTo>
                <a:lnTo>
                  <a:pt x="1401" y="18317"/>
                </a:lnTo>
                <a:cubicBezTo>
                  <a:pt x="2409" y="18317"/>
                  <a:pt x="2916" y="18823"/>
                  <a:pt x="2916" y="19839"/>
                </a:cubicBezTo>
                <a:cubicBezTo>
                  <a:pt x="2916" y="20972"/>
                  <a:pt x="2412" y="21538"/>
                  <a:pt x="1401" y="21538"/>
                </a:cubicBezTo>
                <a:lnTo>
                  <a:pt x="0" y="21538"/>
                </a:lnTo>
                <a:close/>
                <a:moveTo>
                  <a:pt x="16906" y="18296"/>
                </a:moveTo>
                <a:cubicBezTo>
                  <a:pt x="17989" y="18296"/>
                  <a:pt x="18501" y="18841"/>
                  <a:pt x="18501" y="19935"/>
                </a:cubicBezTo>
                <a:cubicBezTo>
                  <a:pt x="18501" y="21029"/>
                  <a:pt x="17971" y="21565"/>
                  <a:pt x="16906" y="21565"/>
                </a:cubicBezTo>
                <a:cubicBezTo>
                  <a:pt x="15841" y="21565"/>
                  <a:pt x="15331" y="21023"/>
                  <a:pt x="15283" y="19935"/>
                </a:cubicBezTo>
                <a:cubicBezTo>
                  <a:pt x="15283" y="18844"/>
                  <a:pt x="15823" y="18296"/>
                  <a:pt x="16906" y="18296"/>
                </a:cubicBezTo>
                <a:close/>
                <a:moveTo>
                  <a:pt x="20652" y="18293"/>
                </a:moveTo>
                <a:cubicBezTo>
                  <a:pt x="21006" y="18293"/>
                  <a:pt x="21321" y="18347"/>
                  <a:pt x="21600" y="18452"/>
                </a:cubicBezTo>
                <a:lnTo>
                  <a:pt x="21600" y="18994"/>
                </a:lnTo>
                <a:cubicBezTo>
                  <a:pt x="21321" y="18874"/>
                  <a:pt x="21021" y="18815"/>
                  <a:pt x="20697" y="18815"/>
                </a:cubicBezTo>
                <a:cubicBezTo>
                  <a:pt x="19920" y="18815"/>
                  <a:pt x="19533" y="19171"/>
                  <a:pt x="19533" y="19884"/>
                </a:cubicBezTo>
                <a:cubicBezTo>
                  <a:pt x="19533" y="20657"/>
                  <a:pt x="19899" y="21044"/>
                  <a:pt x="20631" y="21044"/>
                </a:cubicBezTo>
                <a:cubicBezTo>
                  <a:pt x="20739" y="21044"/>
                  <a:pt x="20862" y="21026"/>
                  <a:pt x="21000" y="20990"/>
                </a:cubicBezTo>
                <a:lnTo>
                  <a:pt x="21000" y="20235"/>
                </a:lnTo>
                <a:lnTo>
                  <a:pt x="20433" y="20235"/>
                </a:lnTo>
                <a:lnTo>
                  <a:pt x="20634" y="19704"/>
                </a:lnTo>
                <a:lnTo>
                  <a:pt x="21600" y="19704"/>
                </a:lnTo>
                <a:lnTo>
                  <a:pt x="21600" y="21388"/>
                </a:lnTo>
                <a:cubicBezTo>
                  <a:pt x="21339" y="21502"/>
                  <a:pt x="21015" y="21559"/>
                  <a:pt x="20622" y="21559"/>
                </a:cubicBezTo>
                <a:cubicBezTo>
                  <a:pt x="19482" y="21559"/>
                  <a:pt x="18912" y="20999"/>
                  <a:pt x="18912" y="19881"/>
                </a:cubicBezTo>
                <a:cubicBezTo>
                  <a:pt x="18912" y="18823"/>
                  <a:pt x="19494" y="18293"/>
                  <a:pt x="20652" y="18293"/>
                </a:cubicBezTo>
                <a:close/>
                <a:moveTo>
                  <a:pt x="17839" y="9482"/>
                </a:moveTo>
                <a:lnTo>
                  <a:pt x="16648" y="11974"/>
                </a:lnTo>
                <a:lnTo>
                  <a:pt x="15082" y="10944"/>
                </a:lnTo>
                <a:lnTo>
                  <a:pt x="13774" y="13122"/>
                </a:lnTo>
                <a:lnTo>
                  <a:pt x="12253" y="12678"/>
                </a:lnTo>
                <a:lnTo>
                  <a:pt x="10915" y="14716"/>
                </a:lnTo>
                <a:lnTo>
                  <a:pt x="10984" y="15357"/>
                </a:lnTo>
                <a:lnTo>
                  <a:pt x="10987" y="15360"/>
                </a:lnTo>
                <a:lnTo>
                  <a:pt x="18261" y="14021"/>
                </a:lnTo>
                <a:close/>
                <a:moveTo>
                  <a:pt x="18273" y="8550"/>
                </a:moveTo>
                <a:lnTo>
                  <a:pt x="18276" y="8553"/>
                </a:lnTo>
                <a:lnTo>
                  <a:pt x="18762" y="14449"/>
                </a:lnTo>
                <a:lnTo>
                  <a:pt x="10571" y="15923"/>
                </a:lnTo>
                <a:lnTo>
                  <a:pt x="9863" y="10018"/>
                </a:lnTo>
                <a:lnTo>
                  <a:pt x="11029" y="9859"/>
                </a:lnTo>
                <a:cubicBezTo>
                  <a:pt x="11215" y="9943"/>
                  <a:pt x="11347" y="9976"/>
                  <a:pt x="11575" y="10033"/>
                </a:cubicBezTo>
                <a:cubicBezTo>
                  <a:pt x="11929" y="10123"/>
                  <a:pt x="12337" y="10210"/>
                  <a:pt x="12940" y="9907"/>
                </a:cubicBezTo>
                <a:cubicBezTo>
                  <a:pt x="13081" y="9835"/>
                  <a:pt x="13375" y="9568"/>
                  <a:pt x="13492" y="9416"/>
                </a:cubicBezTo>
                <a:close/>
                <a:moveTo>
                  <a:pt x="14371" y="6623"/>
                </a:moveTo>
                <a:cubicBezTo>
                  <a:pt x="14249" y="6625"/>
                  <a:pt x="14106" y="6637"/>
                  <a:pt x="13987" y="6650"/>
                </a:cubicBezTo>
                <a:cubicBezTo>
                  <a:pt x="13537" y="6701"/>
                  <a:pt x="13054" y="6860"/>
                  <a:pt x="12946" y="6941"/>
                </a:cubicBezTo>
                <a:lnTo>
                  <a:pt x="12949" y="6941"/>
                </a:lnTo>
                <a:cubicBezTo>
                  <a:pt x="12754" y="7091"/>
                  <a:pt x="12841" y="7351"/>
                  <a:pt x="12985" y="7459"/>
                </a:cubicBezTo>
                <a:cubicBezTo>
                  <a:pt x="13384" y="7756"/>
                  <a:pt x="13735" y="7956"/>
                  <a:pt x="14107" y="7909"/>
                </a:cubicBezTo>
                <a:cubicBezTo>
                  <a:pt x="14335" y="7879"/>
                  <a:pt x="14536" y="7519"/>
                  <a:pt x="14677" y="7192"/>
                </a:cubicBezTo>
                <a:cubicBezTo>
                  <a:pt x="14773" y="6968"/>
                  <a:pt x="14773" y="6725"/>
                  <a:pt x="14632" y="6647"/>
                </a:cubicBezTo>
                <a:cubicBezTo>
                  <a:pt x="14596" y="6626"/>
                  <a:pt x="14494" y="6620"/>
                  <a:pt x="14371" y="6623"/>
                </a:cubicBezTo>
                <a:close/>
                <a:moveTo>
                  <a:pt x="10306" y="4203"/>
                </a:moveTo>
                <a:cubicBezTo>
                  <a:pt x="10058" y="4199"/>
                  <a:pt x="9722" y="4259"/>
                  <a:pt x="9428" y="4460"/>
                </a:cubicBezTo>
                <a:lnTo>
                  <a:pt x="9428" y="4463"/>
                </a:lnTo>
                <a:cubicBezTo>
                  <a:pt x="8993" y="4757"/>
                  <a:pt x="8978" y="5392"/>
                  <a:pt x="9395" y="5751"/>
                </a:cubicBezTo>
                <a:cubicBezTo>
                  <a:pt x="9437" y="5787"/>
                  <a:pt x="9470" y="5811"/>
                  <a:pt x="9503" y="5832"/>
                </a:cubicBezTo>
                <a:cubicBezTo>
                  <a:pt x="9626" y="5772"/>
                  <a:pt x="9764" y="5715"/>
                  <a:pt x="9923" y="5664"/>
                </a:cubicBezTo>
                <a:cubicBezTo>
                  <a:pt x="10190" y="5578"/>
                  <a:pt x="10415" y="5533"/>
                  <a:pt x="10598" y="5509"/>
                </a:cubicBezTo>
                <a:cubicBezTo>
                  <a:pt x="10685" y="5410"/>
                  <a:pt x="10787" y="5236"/>
                  <a:pt x="10763" y="4924"/>
                </a:cubicBezTo>
                <a:cubicBezTo>
                  <a:pt x="10730" y="4499"/>
                  <a:pt x="10406" y="4568"/>
                  <a:pt x="10649" y="4337"/>
                </a:cubicBezTo>
                <a:cubicBezTo>
                  <a:pt x="10712" y="4277"/>
                  <a:pt x="10553" y="4208"/>
                  <a:pt x="10306" y="4203"/>
                </a:cubicBezTo>
                <a:close/>
                <a:moveTo>
                  <a:pt x="13289" y="3708"/>
                </a:moveTo>
                <a:cubicBezTo>
                  <a:pt x="13178" y="3718"/>
                  <a:pt x="13081" y="3756"/>
                  <a:pt x="13033" y="3816"/>
                </a:cubicBezTo>
                <a:cubicBezTo>
                  <a:pt x="13048" y="3819"/>
                  <a:pt x="13066" y="3822"/>
                  <a:pt x="13078" y="3828"/>
                </a:cubicBezTo>
                <a:cubicBezTo>
                  <a:pt x="13225" y="3879"/>
                  <a:pt x="13126" y="3930"/>
                  <a:pt x="13099" y="3990"/>
                </a:cubicBezTo>
                <a:cubicBezTo>
                  <a:pt x="13075" y="4050"/>
                  <a:pt x="13036" y="4088"/>
                  <a:pt x="13099" y="4280"/>
                </a:cubicBezTo>
                <a:lnTo>
                  <a:pt x="13099" y="4292"/>
                </a:lnTo>
                <a:cubicBezTo>
                  <a:pt x="13102" y="4298"/>
                  <a:pt x="13105" y="4307"/>
                  <a:pt x="13108" y="4316"/>
                </a:cubicBezTo>
                <a:cubicBezTo>
                  <a:pt x="13114" y="4334"/>
                  <a:pt x="13123" y="4352"/>
                  <a:pt x="13132" y="4373"/>
                </a:cubicBezTo>
                <a:cubicBezTo>
                  <a:pt x="13243" y="4598"/>
                  <a:pt x="13366" y="4811"/>
                  <a:pt x="13567" y="4918"/>
                </a:cubicBezTo>
                <a:cubicBezTo>
                  <a:pt x="13618" y="4909"/>
                  <a:pt x="13672" y="4900"/>
                  <a:pt x="13729" y="4900"/>
                </a:cubicBezTo>
                <a:cubicBezTo>
                  <a:pt x="13921" y="4891"/>
                  <a:pt x="14041" y="4921"/>
                  <a:pt x="14116" y="4963"/>
                </a:cubicBezTo>
                <a:cubicBezTo>
                  <a:pt x="14122" y="4927"/>
                  <a:pt x="14125" y="4870"/>
                  <a:pt x="14119" y="4790"/>
                </a:cubicBezTo>
                <a:cubicBezTo>
                  <a:pt x="14104" y="4505"/>
                  <a:pt x="14176" y="4020"/>
                  <a:pt x="13627" y="3765"/>
                </a:cubicBezTo>
                <a:lnTo>
                  <a:pt x="13627" y="3762"/>
                </a:lnTo>
                <a:cubicBezTo>
                  <a:pt x="13524" y="3714"/>
                  <a:pt x="13399" y="3697"/>
                  <a:pt x="13289" y="3708"/>
                </a:cubicBezTo>
                <a:close/>
                <a:moveTo>
                  <a:pt x="13421" y="19"/>
                </a:moveTo>
                <a:cubicBezTo>
                  <a:pt x="13638" y="72"/>
                  <a:pt x="13899" y="249"/>
                  <a:pt x="14311" y="655"/>
                </a:cubicBezTo>
                <a:cubicBezTo>
                  <a:pt x="15019" y="1350"/>
                  <a:pt x="15574" y="2593"/>
                  <a:pt x="15298" y="2872"/>
                </a:cubicBezTo>
                <a:cubicBezTo>
                  <a:pt x="15070" y="3106"/>
                  <a:pt x="14614" y="2782"/>
                  <a:pt x="14110" y="2156"/>
                </a:cubicBezTo>
                <a:cubicBezTo>
                  <a:pt x="13846" y="1823"/>
                  <a:pt x="13645" y="1431"/>
                  <a:pt x="13549" y="930"/>
                </a:cubicBezTo>
                <a:cubicBezTo>
                  <a:pt x="13468" y="511"/>
                  <a:pt x="13159" y="265"/>
                  <a:pt x="13159" y="265"/>
                </a:cubicBezTo>
                <a:cubicBezTo>
                  <a:pt x="13159" y="265"/>
                  <a:pt x="13339" y="664"/>
                  <a:pt x="13339" y="1017"/>
                </a:cubicBezTo>
                <a:cubicBezTo>
                  <a:pt x="13339" y="1209"/>
                  <a:pt x="13363" y="1928"/>
                  <a:pt x="13672" y="2333"/>
                </a:cubicBezTo>
                <a:cubicBezTo>
                  <a:pt x="13642" y="2390"/>
                  <a:pt x="13627" y="2623"/>
                  <a:pt x="13594" y="2668"/>
                </a:cubicBezTo>
                <a:cubicBezTo>
                  <a:pt x="13234" y="2234"/>
                  <a:pt x="12463" y="1925"/>
                  <a:pt x="12337" y="1832"/>
                </a:cubicBezTo>
                <a:cubicBezTo>
                  <a:pt x="12763" y="2180"/>
                  <a:pt x="13744" y="2983"/>
                  <a:pt x="14119" y="3750"/>
                </a:cubicBezTo>
                <a:cubicBezTo>
                  <a:pt x="14476" y="4475"/>
                  <a:pt x="14266" y="5143"/>
                  <a:pt x="14446" y="5314"/>
                </a:cubicBezTo>
                <a:cubicBezTo>
                  <a:pt x="14497" y="5362"/>
                  <a:pt x="15211" y="6252"/>
                  <a:pt x="15349" y="6698"/>
                </a:cubicBezTo>
                <a:cubicBezTo>
                  <a:pt x="15589" y="7477"/>
                  <a:pt x="15364" y="8295"/>
                  <a:pt x="15049" y="8801"/>
                </a:cubicBezTo>
                <a:lnTo>
                  <a:pt x="14173" y="8936"/>
                </a:lnTo>
                <a:cubicBezTo>
                  <a:pt x="14044" y="8900"/>
                  <a:pt x="13957" y="8882"/>
                  <a:pt x="13843" y="8816"/>
                </a:cubicBezTo>
                <a:cubicBezTo>
                  <a:pt x="13909" y="8703"/>
                  <a:pt x="14035" y="8424"/>
                  <a:pt x="14035" y="8367"/>
                </a:cubicBezTo>
                <a:lnTo>
                  <a:pt x="13984" y="8280"/>
                </a:lnTo>
                <a:cubicBezTo>
                  <a:pt x="13711" y="8664"/>
                  <a:pt x="13255" y="9038"/>
                  <a:pt x="12874" y="9254"/>
                </a:cubicBezTo>
                <a:cubicBezTo>
                  <a:pt x="12376" y="9535"/>
                  <a:pt x="11803" y="9491"/>
                  <a:pt x="11431" y="9377"/>
                </a:cubicBezTo>
                <a:cubicBezTo>
                  <a:pt x="10376" y="9053"/>
                  <a:pt x="9374" y="8337"/>
                  <a:pt x="9134" y="8151"/>
                </a:cubicBezTo>
                <a:cubicBezTo>
                  <a:pt x="9134" y="8151"/>
                  <a:pt x="9125" y="8301"/>
                  <a:pt x="9170" y="8334"/>
                </a:cubicBezTo>
                <a:cubicBezTo>
                  <a:pt x="9437" y="8634"/>
                  <a:pt x="10049" y="9176"/>
                  <a:pt x="10640" y="9556"/>
                </a:cubicBezTo>
                <a:lnTo>
                  <a:pt x="10643" y="9574"/>
                </a:lnTo>
                <a:lnTo>
                  <a:pt x="9383" y="9712"/>
                </a:lnTo>
                <a:lnTo>
                  <a:pt x="9977" y="14338"/>
                </a:lnTo>
                <a:cubicBezTo>
                  <a:pt x="9713" y="14374"/>
                  <a:pt x="9671" y="14392"/>
                  <a:pt x="9383" y="14434"/>
                </a:cubicBezTo>
                <a:cubicBezTo>
                  <a:pt x="9128" y="13538"/>
                  <a:pt x="8639" y="12951"/>
                  <a:pt x="8108" y="12609"/>
                </a:cubicBezTo>
                <a:cubicBezTo>
                  <a:pt x="7640" y="12310"/>
                  <a:pt x="6992" y="12241"/>
                  <a:pt x="6371" y="12364"/>
                </a:cubicBezTo>
                <a:lnTo>
                  <a:pt x="6332" y="12409"/>
                </a:lnTo>
                <a:cubicBezTo>
                  <a:pt x="6764" y="12364"/>
                  <a:pt x="7274" y="12427"/>
                  <a:pt x="7796" y="12756"/>
                </a:cubicBezTo>
                <a:cubicBezTo>
                  <a:pt x="8306" y="13080"/>
                  <a:pt x="8720" y="13916"/>
                  <a:pt x="8873" y="14419"/>
                </a:cubicBezTo>
                <a:cubicBezTo>
                  <a:pt x="9068" y="15063"/>
                  <a:pt x="9203" y="15749"/>
                  <a:pt x="8678" y="16481"/>
                </a:cubicBezTo>
                <a:cubicBezTo>
                  <a:pt x="8303" y="17005"/>
                  <a:pt x="7196" y="17292"/>
                  <a:pt x="6311" y="16648"/>
                </a:cubicBezTo>
                <a:cubicBezTo>
                  <a:pt x="5669" y="16181"/>
                  <a:pt x="6161" y="15887"/>
                  <a:pt x="4874" y="14818"/>
                </a:cubicBezTo>
                <a:cubicBezTo>
                  <a:pt x="4340" y="14377"/>
                  <a:pt x="4529" y="13625"/>
                  <a:pt x="4844" y="13152"/>
                </a:cubicBezTo>
                <a:cubicBezTo>
                  <a:pt x="5258" y="12352"/>
                  <a:pt x="7400" y="11333"/>
                  <a:pt x="7280" y="10054"/>
                </a:cubicBezTo>
                <a:cubicBezTo>
                  <a:pt x="7238" y="9589"/>
                  <a:pt x="7163" y="8984"/>
                  <a:pt x="6731" y="8568"/>
                </a:cubicBezTo>
                <a:cubicBezTo>
                  <a:pt x="6713" y="8741"/>
                  <a:pt x="6743" y="8906"/>
                  <a:pt x="6743" y="8906"/>
                </a:cubicBezTo>
                <a:cubicBezTo>
                  <a:pt x="6743" y="8906"/>
                  <a:pt x="6563" y="8682"/>
                  <a:pt x="6476" y="8373"/>
                </a:cubicBezTo>
                <a:cubicBezTo>
                  <a:pt x="6389" y="8253"/>
                  <a:pt x="6320" y="8217"/>
                  <a:pt x="6227" y="8058"/>
                </a:cubicBezTo>
                <a:cubicBezTo>
                  <a:pt x="6161" y="8241"/>
                  <a:pt x="6170" y="8454"/>
                  <a:pt x="6170" y="8454"/>
                </a:cubicBezTo>
                <a:cubicBezTo>
                  <a:pt x="6170" y="8454"/>
                  <a:pt x="6026" y="8112"/>
                  <a:pt x="6002" y="7822"/>
                </a:cubicBezTo>
                <a:cubicBezTo>
                  <a:pt x="5915" y="7950"/>
                  <a:pt x="5894" y="8196"/>
                  <a:pt x="5894" y="8196"/>
                </a:cubicBezTo>
                <a:cubicBezTo>
                  <a:pt x="5894" y="8196"/>
                  <a:pt x="5705" y="7654"/>
                  <a:pt x="5747" y="7363"/>
                </a:cubicBezTo>
                <a:cubicBezTo>
                  <a:pt x="5660" y="7109"/>
                  <a:pt x="5405" y="6605"/>
                  <a:pt x="5477" y="5464"/>
                </a:cubicBezTo>
                <a:cubicBezTo>
                  <a:pt x="5948" y="5793"/>
                  <a:pt x="6986" y="5715"/>
                  <a:pt x="7391" y="5119"/>
                </a:cubicBezTo>
                <a:cubicBezTo>
                  <a:pt x="7523" y="4924"/>
                  <a:pt x="7616" y="4385"/>
                  <a:pt x="7322" y="3324"/>
                </a:cubicBezTo>
                <a:cubicBezTo>
                  <a:pt x="7133" y="2644"/>
                  <a:pt x="6668" y="1632"/>
                  <a:pt x="6485" y="1248"/>
                </a:cubicBezTo>
                <a:lnTo>
                  <a:pt x="6464" y="1263"/>
                </a:lnTo>
                <a:cubicBezTo>
                  <a:pt x="6560" y="1572"/>
                  <a:pt x="6758" y="2222"/>
                  <a:pt x="6833" y="2536"/>
                </a:cubicBezTo>
                <a:cubicBezTo>
                  <a:pt x="7061" y="3489"/>
                  <a:pt x="7124" y="3822"/>
                  <a:pt x="7016" y="4262"/>
                </a:cubicBezTo>
                <a:cubicBezTo>
                  <a:pt x="6923" y="4646"/>
                  <a:pt x="6704" y="4897"/>
                  <a:pt x="6146" y="5176"/>
                </a:cubicBezTo>
                <a:cubicBezTo>
                  <a:pt x="5588" y="5455"/>
                  <a:pt x="4847" y="4775"/>
                  <a:pt x="4802" y="4736"/>
                </a:cubicBezTo>
                <a:cubicBezTo>
                  <a:pt x="4259" y="4304"/>
                  <a:pt x="3839" y="3603"/>
                  <a:pt x="3794" y="3262"/>
                </a:cubicBezTo>
                <a:cubicBezTo>
                  <a:pt x="3747" y="2887"/>
                  <a:pt x="4010" y="2662"/>
                  <a:pt x="4142" y="2357"/>
                </a:cubicBezTo>
                <a:cubicBezTo>
                  <a:pt x="3953" y="2411"/>
                  <a:pt x="3740" y="2506"/>
                  <a:pt x="3740" y="2506"/>
                </a:cubicBezTo>
                <a:cubicBezTo>
                  <a:pt x="3740" y="2506"/>
                  <a:pt x="3995" y="2246"/>
                  <a:pt x="4307" y="2018"/>
                </a:cubicBezTo>
                <a:cubicBezTo>
                  <a:pt x="4436" y="1931"/>
                  <a:pt x="4514" y="1877"/>
                  <a:pt x="4649" y="1763"/>
                </a:cubicBezTo>
                <a:cubicBezTo>
                  <a:pt x="4451" y="1757"/>
                  <a:pt x="4292" y="1763"/>
                  <a:pt x="4292" y="1763"/>
                </a:cubicBezTo>
                <a:cubicBezTo>
                  <a:pt x="4292" y="1763"/>
                  <a:pt x="4622" y="1584"/>
                  <a:pt x="4964" y="1455"/>
                </a:cubicBezTo>
                <a:cubicBezTo>
                  <a:pt x="4715" y="1446"/>
                  <a:pt x="4475" y="1455"/>
                  <a:pt x="4475" y="1455"/>
                </a:cubicBezTo>
                <a:cubicBezTo>
                  <a:pt x="4475" y="1455"/>
                  <a:pt x="5210" y="1125"/>
                  <a:pt x="5792" y="886"/>
                </a:cubicBezTo>
                <a:cubicBezTo>
                  <a:pt x="6191" y="721"/>
                  <a:pt x="6581" y="769"/>
                  <a:pt x="6800" y="1086"/>
                </a:cubicBezTo>
                <a:cubicBezTo>
                  <a:pt x="7088" y="1500"/>
                  <a:pt x="7388" y="1727"/>
                  <a:pt x="8030" y="1865"/>
                </a:cubicBezTo>
                <a:cubicBezTo>
                  <a:pt x="8423" y="1692"/>
                  <a:pt x="8543" y="1602"/>
                  <a:pt x="9038" y="1467"/>
                </a:cubicBezTo>
                <a:cubicBezTo>
                  <a:pt x="9473" y="990"/>
                  <a:pt x="9815" y="928"/>
                  <a:pt x="9815" y="928"/>
                </a:cubicBezTo>
                <a:cubicBezTo>
                  <a:pt x="9815" y="928"/>
                  <a:pt x="9644" y="1080"/>
                  <a:pt x="9599" y="1326"/>
                </a:cubicBezTo>
                <a:cubicBezTo>
                  <a:pt x="9845" y="1131"/>
                  <a:pt x="10115" y="969"/>
                  <a:pt x="10115" y="969"/>
                </a:cubicBezTo>
                <a:cubicBezTo>
                  <a:pt x="10115" y="969"/>
                  <a:pt x="10010" y="1098"/>
                  <a:pt x="9914" y="1302"/>
                </a:cubicBezTo>
                <a:lnTo>
                  <a:pt x="9935" y="1335"/>
                </a:lnTo>
                <a:cubicBezTo>
                  <a:pt x="10223" y="1161"/>
                  <a:pt x="10562" y="1026"/>
                  <a:pt x="10562" y="1026"/>
                </a:cubicBezTo>
                <a:cubicBezTo>
                  <a:pt x="10562" y="1026"/>
                  <a:pt x="10466" y="1146"/>
                  <a:pt x="10352" y="1305"/>
                </a:cubicBezTo>
                <a:cubicBezTo>
                  <a:pt x="10568" y="1305"/>
                  <a:pt x="11008" y="1314"/>
                  <a:pt x="11179" y="1335"/>
                </a:cubicBezTo>
                <a:cubicBezTo>
                  <a:pt x="12187" y="1356"/>
                  <a:pt x="12397" y="259"/>
                  <a:pt x="12784" y="122"/>
                </a:cubicBezTo>
                <a:cubicBezTo>
                  <a:pt x="13027" y="35"/>
                  <a:pt x="13203" y="-35"/>
                  <a:pt x="13421" y="19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10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7" name="Google Shape;11;p1" descr="Google Shape;11;p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8" name="Google Shape;12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4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44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</p:grpSp>
      <p:grpSp>
        <p:nvGrpSpPr>
          <p:cNvPr id="57" name="Google Shape;17;p1"/>
          <p:cNvGrpSpPr/>
          <p:nvPr/>
        </p:nvGrpSpPr>
        <p:grpSpPr>
          <a:xfrm>
            <a:off x="0" y="-710591"/>
            <a:ext cx="4109466" cy="479101"/>
            <a:chOff x="0" y="0"/>
            <a:chExt cx="4109465" cy="479100"/>
          </a:xfrm>
        </p:grpSpPr>
        <p:sp>
          <p:nvSpPr>
            <p:cNvPr id="50" name="Google Shape;18;p1"/>
            <p:cNvSpPr/>
            <p:nvPr/>
          </p:nvSpPr>
          <p:spPr>
            <a:xfrm>
              <a:off x="0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90000">
                  <a:srgbClr val="9C43FE"/>
                </a:gs>
                <a:gs pos="100000">
                  <a:srgbClr val="9C43FE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1" name="Google Shape;19;p1"/>
            <p:cNvSpPr/>
            <p:nvPr/>
          </p:nvSpPr>
          <p:spPr>
            <a:xfrm>
              <a:off x="60506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100000">
                  <a:schemeClr val="accent2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52" name="Google Shape;20;p1"/>
            <p:cNvSpPr/>
            <p:nvPr/>
          </p:nvSpPr>
          <p:spPr>
            <a:xfrm>
              <a:off x="121012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30000">
                  <a:schemeClr val="accent2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53" name="Google Shape;21;p1"/>
            <p:cNvSpPr/>
            <p:nvPr/>
          </p:nvSpPr>
          <p:spPr>
            <a:xfrm>
              <a:off x="181518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00B765"/>
                </a:gs>
                <a:gs pos="30000">
                  <a:srgbClr val="00B765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4" name="Google Shape;22;p1"/>
            <p:cNvSpPr/>
            <p:nvPr/>
          </p:nvSpPr>
          <p:spPr>
            <a:xfrm>
              <a:off x="242024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8000FF"/>
                </a:gs>
                <a:gs pos="90000">
                  <a:schemeClr val="accent6"/>
                </a:gs>
                <a:gs pos="100000">
                  <a:schemeClr val="accent6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55" name="Google Shape;23;p1"/>
            <p:cNvSpPr/>
            <p:nvPr/>
          </p:nvSpPr>
          <p:spPr>
            <a:xfrm>
              <a:off x="3025304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6"/>
                </a:gs>
                <a:gs pos="30000">
                  <a:schemeClr val="accent6"/>
                </a:gs>
                <a:gs pos="90000">
                  <a:schemeClr val="accent3"/>
                </a:gs>
                <a:gs pos="100000">
                  <a:schemeClr val="accent3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6" name="Google Shape;24;p1"/>
            <p:cNvSpPr/>
            <p:nvPr/>
          </p:nvSpPr>
          <p:spPr>
            <a:xfrm>
              <a:off x="3630365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30000">
                  <a:schemeClr val="accent3"/>
                </a:gs>
                <a:gs pos="90000">
                  <a:schemeClr val="accent5"/>
                </a:gs>
                <a:gs pos="100000">
                  <a:schemeClr val="accent5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58" name="Google Shape;25;p1"/>
          <p:cNvSpPr/>
          <p:nvPr/>
        </p:nvSpPr>
        <p:spPr>
          <a:xfrm>
            <a:off x="10585766" y="6450774"/>
            <a:ext cx="1080115" cy="2747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33" fill="norm" stroke="1" extrusionOk="0">
                <a:moveTo>
                  <a:pt x="4627" y="12440"/>
                </a:moveTo>
                <a:lnTo>
                  <a:pt x="4750" y="17639"/>
                </a:lnTo>
                <a:lnTo>
                  <a:pt x="2635" y="19175"/>
                </a:lnTo>
                <a:lnTo>
                  <a:pt x="2616" y="18439"/>
                </a:lnTo>
                <a:lnTo>
                  <a:pt x="3005" y="16103"/>
                </a:lnTo>
                <a:lnTo>
                  <a:pt x="3447" y="16610"/>
                </a:lnTo>
                <a:lnTo>
                  <a:pt x="3827" y="14112"/>
                </a:lnTo>
                <a:lnTo>
                  <a:pt x="4281" y="15293"/>
                </a:lnTo>
                <a:lnTo>
                  <a:pt x="4281" y="15295"/>
                </a:lnTo>
                <a:lnTo>
                  <a:pt x="4282" y="15295"/>
                </a:lnTo>
                <a:lnTo>
                  <a:pt x="4281" y="15293"/>
                </a:lnTo>
                <a:close/>
                <a:moveTo>
                  <a:pt x="4755" y="11377"/>
                </a:moveTo>
                <a:lnTo>
                  <a:pt x="3365" y="12368"/>
                </a:lnTo>
                <a:cubicBezTo>
                  <a:pt x="3332" y="12542"/>
                  <a:pt x="3246" y="12849"/>
                  <a:pt x="3205" y="12929"/>
                </a:cubicBezTo>
                <a:cubicBezTo>
                  <a:pt x="3030" y="13274"/>
                  <a:pt x="2911" y="13176"/>
                  <a:pt x="2808" y="13070"/>
                </a:cubicBezTo>
                <a:cubicBezTo>
                  <a:pt x="2742" y="13006"/>
                  <a:pt x="2705" y="12968"/>
                  <a:pt x="2649" y="12870"/>
                </a:cubicBezTo>
                <a:lnTo>
                  <a:pt x="2310" y="13053"/>
                </a:lnTo>
                <a:lnTo>
                  <a:pt x="2310" y="13057"/>
                </a:lnTo>
                <a:lnTo>
                  <a:pt x="2515" y="19822"/>
                </a:lnTo>
                <a:lnTo>
                  <a:pt x="4897" y="18133"/>
                </a:lnTo>
                <a:close/>
                <a:moveTo>
                  <a:pt x="3698" y="9185"/>
                </a:moveTo>
                <a:cubicBezTo>
                  <a:pt x="3739" y="9275"/>
                  <a:pt x="3739" y="9551"/>
                  <a:pt x="3711" y="9811"/>
                </a:cubicBezTo>
                <a:cubicBezTo>
                  <a:pt x="3670" y="10185"/>
                  <a:pt x="3612" y="10598"/>
                  <a:pt x="3546" y="10632"/>
                </a:cubicBezTo>
                <a:cubicBezTo>
                  <a:pt x="3437" y="10692"/>
                  <a:pt x="3336" y="10462"/>
                  <a:pt x="3219" y="10117"/>
                </a:cubicBezTo>
                <a:cubicBezTo>
                  <a:pt x="3178" y="9994"/>
                  <a:pt x="3152" y="9696"/>
                  <a:pt x="3208" y="9526"/>
                </a:cubicBezTo>
                <a:cubicBezTo>
                  <a:pt x="3239" y="9428"/>
                  <a:pt x="3380" y="9249"/>
                  <a:pt x="3511" y="9190"/>
                </a:cubicBezTo>
                <a:cubicBezTo>
                  <a:pt x="3579" y="9160"/>
                  <a:pt x="3677" y="9139"/>
                  <a:pt x="3698" y="9185"/>
                </a:cubicBezTo>
                <a:close/>
                <a:moveTo>
                  <a:pt x="15082" y="7671"/>
                </a:moveTo>
                <a:lnTo>
                  <a:pt x="15082" y="13878"/>
                </a:lnTo>
                <a:lnTo>
                  <a:pt x="15595" y="13878"/>
                </a:lnTo>
                <a:cubicBezTo>
                  <a:pt x="16078" y="13878"/>
                  <a:pt x="16321" y="12759"/>
                  <a:pt x="16321" y="10526"/>
                </a:cubicBezTo>
                <a:cubicBezTo>
                  <a:pt x="16321" y="8624"/>
                  <a:pt x="16078" y="7671"/>
                  <a:pt x="15595" y="7671"/>
                </a:cubicBezTo>
                <a:close/>
                <a:moveTo>
                  <a:pt x="6458" y="7671"/>
                </a:moveTo>
                <a:lnTo>
                  <a:pt x="6458" y="13878"/>
                </a:lnTo>
                <a:lnTo>
                  <a:pt x="6971" y="13878"/>
                </a:lnTo>
                <a:cubicBezTo>
                  <a:pt x="7454" y="13878"/>
                  <a:pt x="7695" y="12759"/>
                  <a:pt x="7695" y="10526"/>
                </a:cubicBezTo>
                <a:cubicBezTo>
                  <a:pt x="7695" y="8624"/>
                  <a:pt x="7454" y="7671"/>
                  <a:pt x="6971" y="7671"/>
                </a:cubicBezTo>
                <a:close/>
                <a:moveTo>
                  <a:pt x="18214" y="7598"/>
                </a:moveTo>
                <a:cubicBezTo>
                  <a:pt x="17745" y="7598"/>
                  <a:pt x="17493" y="8645"/>
                  <a:pt x="17493" y="10743"/>
                </a:cubicBezTo>
                <a:cubicBezTo>
                  <a:pt x="17493" y="12840"/>
                  <a:pt x="17733" y="13933"/>
                  <a:pt x="18214" y="13933"/>
                </a:cubicBezTo>
                <a:cubicBezTo>
                  <a:pt x="18684" y="13933"/>
                  <a:pt x="18918" y="12870"/>
                  <a:pt x="18918" y="10743"/>
                </a:cubicBezTo>
                <a:cubicBezTo>
                  <a:pt x="18918" y="8615"/>
                  <a:pt x="18684" y="7598"/>
                  <a:pt x="18214" y="7598"/>
                </a:cubicBezTo>
                <a:close/>
                <a:moveTo>
                  <a:pt x="2441" y="6390"/>
                </a:moveTo>
                <a:cubicBezTo>
                  <a:pt x="2513" y="6396"/>
                  <a:pt x="2559" y="6475"/>
                  <a:pt x="2540" y="6543"/>
                </a:cubicBezTo>
                <a:cubicBezTo>
                  <a:pt x="2470" y="6807"/>
                  <a:pt x="2564" y="6731"/>
                  <a:pt x="2574" y="7216"/>
                </a:cubicBezTo>
                <a:cubicBezTo>
                  <a:pt x="2581" y="7573"/>
                  <a:pt x="2552" y="7773"/>
                  <a:pt x="2526" y="7884"/>
                </a:cubicBezTo>
                <a:cubicBezTo>
                  <a:pt x="2472" y="7909"/>
                  <a:pt x="2407" y="7964"/>
                  <a:pt x="2329" y="8062"/>
                </a:cubicBezTo>
                <a:cubicBezTo>
                  <a:pt x="2283" y="8122"/>
                  <a:pt x="2243" y="8190"/>
                  <a:pt x="2207" y="8254"/>
                </a:cubicBezTo>
                <a:cubicBezTo>
                  <a:pt x="2198" y="8228"/>
                  <a:pt x="2188" y="8203"/>
                  <a:pt x="2176" y="8160"/>
                </a:cubicBezTo>
                <a:cubicBezTo>
                  <a:pt x="2056" y="7747"/>
                  <a:pt x="2059" y="7024"/>
                  <a:pt x="2186" y="6684"/>
                </a:cubicBezTo>
                <a:cubicBezTo>
                  <a:pt x="2271" y="6454"/>
                  <a:pt x="2369" y="6385"/>
                  <a:pt x="2441" y="6390"/>
                </a:cubicBezTo>
                <a:close/>
                <a:moveTo>
                  <a:pt x="14650" y="6199"/>
                </a:moveTo>
                <a:lnTo>
                  <a:pt x="15660" y="6199"/>
                </a:lnTo>
                <a:cubicBezTo>
                  <a:pt x="16388" y="6199"/>
                  <a:pt x="16752" y="7641"/>
                  <a:pt x="16752" y="10526"/>
                </a:cubicBezTo>
                <a:cubicBezTo>
                  <a:pt x="16752" y="13742"/>
                  <a:pt x="16389" y="15350"/>
                  <a:pt x="15660" y="15350"/>
                </a:cubicBezTo>
                <a:lnTo>
                  <a:pt x="15660" y="15346"/>
                </a:lnTo>
                <a:lnTo>
                  <a:pt x="14650" y="15346"/>
                </a:lnTo>
                <a:close/>
                <a:moveTo>
                  <a:pt x="6026" y="6199"/>
                </a:moveTo>
                <a:lnTo>
                  <a:pt x="7036" y="6199"/>
                </a:lnTo>
                <a:cubicBezTo>
                  <a:pt x="7764" y="6199"/>
                  <a:pt x="8128" y="7641"/>
                  <a:pt x="8128" y="10526"/>
                </a:cubicBezTo>
                <a:cubicBezTo>
                  <a:pt x="8128" y="13742"/>
                  <a:pt x="7764" y="15350"/>
                  <a:pt x="7036" y="15350"/>
                </a:cubicBezTo>
                <a:lnTo>
                  <a:pt x="7036" y="15346"/>
                </a:lnTo>
                <a:lnTo>
                  <a:pt x="6026" y="15346"/>
                </a:lnTo>
                <a:close/>
                <a:moveTo>
                  <a:pt x="12890" y="6195"/>
                </a:moveTo>
                <a:lnTo>
                  <a:pt x="13354" y="6195"/>
                </a:lnTo>
                <a:lnTo>
                  <a:pt x="14364" y="15346"/>
                </a:lnTo>
                <a:lnTo>
                  <a:pt x="13899" y="15346"/>
                </a:lnTo>
                <a:lnTo>
                  <a:pt x="13606" y="12849"/>
                </a:lnTo>
                <a:lnTo>
                  <a:pt x="12860" y="12849"/>
                </a:lnTo>
                <a:lnTo>
                  <a:pt x="13008" y="11377"/>
                </a:lnTo>
                <a:lnTo>
                  <a:pt x="13493" y="11377"/>
                </a:lnTo>
                <a:lnTo>
                  <a:pt x="13111" y="7943"/>
                </a:lnTo>
                <a:lnTo>
                  <a:pt x="12345" y="15346"/>
                </a:lnTo>
                <a:lnTo>
                  <a:pt x="11902" y="15346"/>
                </a:lnTo>
                <a:close/>
                <a:moveTo>
                  <a:pt x="10356" y="6195"/>
                </a:moveTo>
                <a:lnTo>
                  <a:pt x="12123" y="6195"/>
                </a:lnTo>
                <a:lnTo>
                  <a:pt x="12123" y="7667"/>
                </a:lnTo>
                <a:lnTo>
                  <a:pt x="11455" y="7667"/>
                </a:lnTo>
                <a:lnTo>
                  <a:pt x="11455" y="15346"/>
                </a:lnTo>
                <a:lnTo>
                  <a:pt x="11024" y="15346"/>
                </a:lnTo>
                <a:lnTo>
                  <a:pt x="11024" y="7667"/>
                </a:lnTo>
                <a:lnTo>
                  <a:pt x="10356" y="7667"/>
                </a:lnTo>
                <a:close/>
                <a:moveTo>
                  <a:pt x="9124" y="6195"/>
                </a:moveTo>
                <a:lnTo>
                  <a:pt x="9589" y="6195"/>
                </a:lnTo>
                <a:lnTo>
                  <a:pt x="10599" y="15346"/>
                </a:lnTo>
                <a:lnTo>
                  <a:pt x="10135" y="15346"/>
                </a:lnTo>
                <a:lnTo>
                  <a:pt x="9842" y="12849"/>
                </a:lnTo>
                <a:lnTo>
                  <a:pt x="9096" y="12849"/>
                </a:lnTo>
                <a:lnTo>
                  <a:pt x="9244" y="11377"/>
                </a:lnTo>
                <a:lnTo>
                  <a:pt x="9728" y="11377"/>
                </a:lnTo>
                <a:lnTo>
                  <a:pt x="9347" y="7943"/>
                </a:lnTo>
                <a:lnTo>
                  <a:pt x="8580" y="15346"/>
                </a:lnTo>
                <a:lnTo>
                  <a:pt x="8136" y="15346"/>
                </a:lnTo>
                <a:close/>
                <a:moveTo>
                  <a:pt x="20915" y="6135"/>
                </a:moveTo>
                <a:cubicBezTo>
                  <a:pt x="21170" y="6135"/>
                  <a:pt x="21398" y="6284"/>
                  <a:pt x="21599" y="6582"/>
                </a:cubicBezTo>
                <a:lnTo>
                  <a:pt x="21599" y="8118"/>
                </a:lnTo>
                <a:cubicBezTo>
                  <a:pt x="21398" y="7773"/>
                  <a:pt x="21181" y="7603"/>
                  <a:pt x="20947" y="7603"/>
                </a:cubicBezTo>
                <a:cubicBezTo>
                  <a:pt x="20388" y="7603"/>
                  <a:pt x="20108" y="8615"/>
                  <a:pt x="20108" y="10645"/>
                </a:cubicBezTo>
                <a:cubicBezTo>
                  <a:pt x="20108" y="12840"/>
                  <a:pt x="20372" y="13938"/>
                  <a:pt x="20900" y="13938"/>
                </a:cubicBezTo>
                <a:cubicBezTo>
                  <a:pt x="20977" y="13938"/>
                  <a:pt x="21067" y="13887"/>
                  <a:pt x="21167" y="13785"/>
                </a:cubicBezTo>
                <a:lnTo>
                  <a:pt x="21167" y="11653"/>
                </a:lnTo>
                <a:lnTo>
                  <a:pt x="21169" y="11653"/>
                </a:lnTo>
                <a:lnTo>
                  <a:pt x="21167" y="11640"/>
                </a:lnTo>
                <a:lnTo>
                  <a:pt x="21167" y="11653"/>
                </a:lnTo>
                <a:lnTo>
                  <a:pt x="20757" y="11653"/>
                </a:lnTo>
                <a:lnTo>
                  <a:pt x="20903" y="10147"/>
                </a:lnTo>
                <a:lnTo>
                  <a:pt x="21600" y="10147"/>
                </a:lnTo>
                <a:lnTo>
                  <a:pt x="21600" y="14933"/>
                </a:lnTo>
                <a:cubicBezTo>
                  <a:pt x="21412" y="15257"/>
                  <a:pt x="21177" y="15418"/>
                  <a:pt x="20894" y="15418"/>
                </a:cubicBezTo>
                <a:cubicBezTo>
                  <a:pt x="20071" y="15418"/>
                  <a:pt x="19661" y="13827"/>
                  <a:pt x="19661" y="10649"/>
                </a:cubicBezTo>
                <a:cubicBezTo>
                  <a:pt x="19661" y="7637"/>
                  <a:pt x="20079" y="6135"/>
                  <a:pt x="20915" y="6135"/>
                </a:cubicBezTo>
                <a:close/>
                <a:moveTo>
                  <a:pt x="18214" y="6126"/>
                </a:moveTo>
                <a:cubicBezTo>
                  <a:pt x="18994" y="6126"/>
                  <a:pt x="19366" y="7675"/>
                  <a:pt x="19366" y="10781"/>
                </a:cubicBezTo>
                <a:cubicBezTo>
                  <a:pt x="19366" y="13887"/>
                  <a:pt x="18982" y="15410"/>
                  <a:pt x="18214" y="15410"/>
                </a:cubicBezTo>
                <a:cubicBezTo>
                  <a:pt x="17447" y="15410"/>
                  <a:pt x="17079" y="13865"/>
                  <a:pt x="17045" y="10781"/>
                </a:cubicBezTo>
                <a:cubicBezTo>
                  <a:pt x="17045" y="7679"/>
                  <a:pt x="17435" y="6126"/>
                  <a:pt x="18214" y="6126"/>
                </a:cubicBezTo>
                <a:close/>
                <a:moveTo>
                  <a:pt x="3405" y="5888"/>
                </a:moveTo>
                <a:cubicBezTo>
                  <a:pt x="3564" y="6182"/>
                  <a:pt x="3543" y="6735"/>
                  <a:pt x="3548" y="7062"/>
                </a:cubicBezTo>
                <a:cubicBezTo>
                  <a:pt x="3549" y="7156"/>
                  <a:pt x="3549" y="7220"/>
                  <a:pt x="3547" y="7262"/>
                </a:cubicBezTo>
                <a:cubicBezTo>
                  <a:pt x="3524" y="7216"/>
                  <a:pt x="3489" y="7182"/>
                  <a:pt x="3434" y="7190"/>
                </a:cubicBezTo>
                <a:cubicBezTo>
                  <a:pt x="3418" y="7194"/>
                  <a:pt x="3402" y="7203"/>
                  <a:pt x="3387" y="7211"/>
                </a:cubicBezTo>
                <a:cubicBezTo>
                  <a:pt x="3328" y="7088"/>
                  <a:pt x="3294" y="6845"/>
                  <a:pt x="3261" y="6586"/>
                </a:cubicBezTo>
                <a:lnTo>
                  <a:pt x="3254" y="6522"/>
                </a:lnTo>
                <a:lnTo>
                  <a:pt x="3249" y="6492"/>
                </a:lnTo>
                <a:lnTo>
                  <a:pt x="3249" y="6480"/>
                </a:lnTo>
                <a:cubicBezTo>
                  <a:pt x="3232" y="6258"/>
                  <a:pt x="3244" y="6216"/>
                  <a:pt x="3252" y="6148"/>
                </a:cubicBezTo>
                <a:lnTo>
                  <a:pt x="3252" y="6143"/>
                </a:lnTo>
                <a:cubicBezTo>
                  <a:pt x="3259" y="6075"/>
                  <a:pt x="3287" y="6020"/>
                  <a:pt x="3245" y="5961"/>
                </a:cubicBezTo>
                <a:cubicBezTo>
                  <a:pt x="3242" y="5956"/>
                  <a:pt x="3238" y="5948"/>
                  <a:pt x="3232" y="5948"/>
                </a:cubicBezTo>
                <a:cubicBezTo>
                  <a:pt x="3260" y="5812"/>
                  <a:pt x="3345" y="5778"/>
                  <a:pt x="3405" y="5888"/>
                </a:cubicBezTo>
                <a:close/>
                <a:moveTo>
                  <a:pt x="4491" y="0"/>
                </a:moveTo>
                <a:lnTo>
                  <a:pt x="4755" y="10721"/>
                </a:lnTo>
                <a:lnTo>
                  <a:pt x="4892" y="10619"/>
                </a:lnTo>
                <a:lnTo>
                  <a:pt x="4894" y="10615"/>
                </a:lnTo>
                <a:lnTo>
                  <a:pt x="5113" y="19060"/>
                </a:lnTo>
                <a:lnTo>
                  <a:pt x="2416" y="20336"/>
                </a:lnTo>
                <a:lnTo>
                  <a:pt x="2358" y="18690"/>
                </a:lnTo>
                <a:lnTo>
                  <a:pt x="2194" y="18784"/>
                </a:lnTo>
                <a:cubicBezTo>
                  <a:pt x="2208" y="19698"/>
                  <a:pt x="2153" y="20570"/>
                  <a:pt x="2051" y="20987"/>
                </a:cubicBezTo>
                <a:cubicBezTo>
                  <a:pt x="1931" y="21477"/>
                  <a:pt x="1756" y="21600"/>
                  <a:pt x="1571" y="21502"/>
                </a:cubicBezTo>
                <a:cubicBezTo>
                  <a:pt x="1446" y="21438"/>
                  <a:pt x="1353" y="21085"/>
                  <a:pt x="1285" y="20651"/>
                </a:cubicBezTo>
                <a:cubicBezTo>
                  <a:pt x="1541" y="21362"/>
                  <a:pt x="1858" y="21034"/>
                  <a:pt x="1966" y="20439"/>
                </a:cubicBezTo>
                <a:cubicBezTo>
                  <a:pt x="2119" y="19605"/>
                  <a:pt x="2079" y="18813"/>
                  <a:pt x="2023" y="18077"/>
                </a:cubicBezTo>
                <a:cubicBezTo>
                  <a:pt x="1978" y="17499"/>
                  <a:pt x="1858" y="16541"/>
                  <a:pt x="1709" y="16171"/>
                </a:cubicBezTo>
                <a:cubicBezTo>
                  <a:pt x="1558" y="15793"/>
                  <a:pt x="1410" y="15720"/>
                  <a:pt x="1284" y="15771"/>
                </a:cubicBezTo>
                <a:lnTo>
                  <a:pt x="1296" y="15720"/>
                </a:lnTo>
                <a:cubicBezTo>
                  <a:pt x="1477" y="15580"/>
                  <a:pt x="1665" y="15656"/>
                  <a:pt x="1801" y="16001"/>
                </a:cubicBezTo>
                <a:cubicBezTo>
                  <a:pt x="1955" y="16393"/>
                  <a:pt x="2097" y="17065"/>
                  <a:pt x="2171" y="18094"/>
                </a:cubicBezTo>
                <a:cubicBezTo>
                  <a:pt x="2255" y="18048"/>
                  <a:pt x="2267" y="18026"/>
                  <a:pt x="2344" y="17984"/>
                </a:cubicBezTo>
                <a:lnTo>
                  <a:pt x="2171" y="12683"/>
                </a:lnTo>
                <a:lnTo>
                  <a:pt x="2537" y="12525"/>
                </a:lnTo>
                <a:cubicBezTo>
                  <a:pt x="2365" y="12091"/>
                  <a:pt x="2188" y="11470"/>
                  <a:pt x="2110" y="11125"/>
                </a:cubicBezTo>
                <a:cubicBezTo>
                  <a:pt x="2097" y="11087"/>
                  <a:pt x="2099" y="10917"/>
                  <a:pt x="2099" y="10917"/>
                </a:cubicBezTo>
                <a:cubicBezTo>
                  <a:pt x="2170" y="11130"/>
                  <a:pt x="2460" y="11947"/>
                  <a:pt x="2767" y="12321"/>
                </a:cubicBezTo>
                <a:cubicBezTo>
                  <a:pt x="2875" y="12453"/>
                  <a:pt x="3042" y="12504"/>
                  <a:pt x="3187" y="12181"/>
                </a:cubicBezTo>
                <a:cubicBezTo>
                  <a:pt x="3297" y="11934"/>
                  <a:pt x="3430" y="11504"/>
                  <a:pt x="3509" y="11062"/>
                </a:cubicBezTo>
                <a:lnTo>
                  <a:pt x="3523" y="11160"/>
                </a:lnTo>
                <a:cubicBezTo>
                  <a:pt x="3523" y="11228"/>
                  <a:pt x="3486" y="11547"/>
                  <a:pt x="3468" y="11674"/>
                </a:cubicBezTo>
                <a:cubicBezTo>
                  <a:pt x="3501" y="11751"/>
                  <a:pt x="3526" y="11768"/>
                  <a:pt x="3564" y="11810"/>
                </a:cubicBezTo>
                <a:lnTo>
                  <a:pt x="3819" y="11653"/>
                </a:lnTo>
                <a:cubicBezTo>
                  <a:pt x="3910" y="11074"/>
                  <a:pt x="3976" y="10134"/>
                  <a:pt x="3906" y="9245"/>
                </a:cubicBezTo>
                <a:cubicBezTo>
                  <a:pt x="3866" y="8734"/>
                  <a:pt x="3658" y="7713"/>
                  <a:pt x="3643" y="7658"/>
                </a:cubicBezTo>
                <a:cubicBezTo>
                  <a:pt x="3590" y="7462"/>
                  <a:pt x="3652" y="6701"/>
                  <a:pt x="3548" y="5867"/>
                </a:cubicBezTo>
                <a:cubicBezTo>
                  <a:pt x="3439" y="4986"/>
                  <a:pt x="3154" y="4067"/>
                  <a:pt x="3030" y="3667"/>
                </a:cubicBezTo>
                <a:cubicBezTo>
                  <a:pt x="3067" y="3769"/>
                  <a:pt x="3290" y="4127"/>
                  <a:pt x="3395" y="4625"/>
                </a:cubicBezTo>
                <a:cubicBezTo>
                  <a:pt x="3405" y="4574"/>
                  <a:pt x="3409" y="4306"/>
                  <a:pt x="3418" y="4237"/>
                </a:cubicBezTo>
                <a:cubicBezTo>
                  <a:pt x="3328" y="3778"/>
                  <a:pt x="3321" y="2953"/>
                  <a:pt x="3321" y="2731"/>
                </a:cubicBezTo>
                <a:cubicBezTo>
                  <a:pt x="3321" y="2327"/>
                  <a:pt x="3269" y="1868"/>
                  <a:pt x="3269" y="1868"/>
                </a:cubicBezTo>
                <a:cubicBezTo>
                  <a:pt x="3269" y="1868"/>
                  <a:pt x="3360" y="2149"/>
                  <a:pt x="3382" y="2629"/>
                </a:cubicBezTo>
                <a:cubicBezTo>
                  <a:pt x="3409" y="3199"/>
                  <a:pt x="3468" y="3650"/>
                  <a:pt x="3546" y="4029"/>
                </a:cubicBezTo>
                <a:cubicBezTo>
                  <a:pt x="3693" y="4748"/>
                  <a:pt x="3824" y="5114"/>
                  <a:pt x="3892" y="4850"/>
                </a:cubicBezTo>
                <a:cubicBezTo>
                  <a:pt x="3971" y="4531"/>
                  <a:pt x="3812" y="3106"/>
                  <a:pt x="3605" y="2310"/>
                </a:cubicBezTo>
                <a:cubicBezTo>
                  <a:pt x="3365" y="1383"/>
                  <a:pt x="3301" y="1502"/>
                  <a:pt x="3161" y="1702"/>
                </a:cubicBezTo>
                <a:cubicBezTo>
                  <a:pt x="3048" y="1859"/>
                  <a:pt x="2988" y="3119"/>
                  <a:pt x="2695" y="3093"/>
                </a:cubicBezTo>
                <a:cubicBezTo>
                  <a:pt x="2645" y="3072"/>
                  <a:pt x="2517" y="3059"/>
                  <a:pt x="2454" y="3059"/>
                </a:cubicBezTo>
                <a:cubicBezTo>
                  <a:pt x="2487" y="2880"/>
                  <a:pt x="2515" y="2740"/>
                  <a:pt x="2515" y="2740"/>
                </a:cubicBezTo>
                <a:cubicBezTo>
                  <a:pt x="2515" y="2740"/>
                  <a:pt x="2417" y="2897"/>
                  <a:pt x="2334" y="3093"/>
                </a:cubicBezTo>
                <a:lnTo>
                  <a:pt x="2327" y="3055"/>
                </a:lnTo>
                <a:cubicBezTo>
                  <a:pt x="2355" y="2821"/>
                  <a:pt x="2386" y="2672"/>
                  <a:pt x="2386" y="2672"/>
                </a:cubicBezTo>
                <a:cubicBezTo>
                  <a:pt x="2386" y="2672"/>
                  <a:pt x="2307" y="2859"/>
                  <a:pt x="2235" y="3080"/>
                </a:cubicBezTo>
                <a:cubicBezTo>
                  <a:pt x="2248" y="2804"/>
                  <a:pt x="2298" y="2625"/>
                  <a:pt x="2298" y="2625"/>
                </a:cubicBezTo>
                <a:cubicBezTo>
                  <a:pt x="2298" y="2625"/>
                  <a:pt x="2199" y="2693"/>
                  <a:pt x="2072" y="3242"/>
                </a:cubicBezTo>
                <a:cubicBezTo>
                  <a:pt x="1928" y="3395"/>
                  <a:pt x="1894" y="3497"/>
                  <a:pt x="1779" y="3697"/>
                </a:cubicBezTo>
                <a:cubicBezTo>
                  <a:pt x="1593" y="3535"/>
                  <a:pt x="1505" y="3280"/>
                  <a:pt x="1421" y="2804"/>
                </a:cubicBezTo>
                <a:cubicBezTo>
                  <a:pt x="1358" y="2442"/>
                  <a:pt x="1244" y="2387"/>
                  <a:pt x="1129" y="2574"/>
                </a:cubicBezTo>
                <a:cubicBezTo>
                  <a:pt x="960" y="2846"/>
                  <a:pt x="746" y="3225"/>
                  <a:pt x="746" y="3225"/>
                </a:cubicBezTo>
                <a:cubicBezTo>
                  <a:pt x="746" y="3225"/>
                  <a:pt x="816" y="3212"/>
                  <a:pt x="889" y="3225"/>
                </a:cubicBezTo>
                <a:cubicBezTo>
                  <a:pt x="790" y="3374"/>
                  <a:pt x="694" y="3578"/>
                  <a:pt x="694" y="3578"/>
                </a:cubicBezTo>
                <a:cubicBezTo>
                  <a:pt x="694" y="3578"/>
                  <a:pt x="740" y="3578"/>
                  <a:pt x="798" y="3578"/>
                </a:cubicBezTo>
                <a:cubicBezTo>
                  <a:pt x="758" y="3706"/>
                  <a:pt x="736" y="3769"/>
                  <a:pt x="698" y="3867"/>
                </a:cubicBezTo>
                <a:cubicBezTo>
                  <a:pt x="608" y="4127"/>
                  <a:pt x="534" y="4429"/>
                  <a:pt x="534" y="4429"/>
                </a:cubicBezTo>
                <a:cubicBezTo>
                  <a:pt x="534" y="4429"/>
                  <a:pt x="596" y="4318"/>
                  <a:pt x="651" y="4254"/>
                </a:cubicBezTo>
                <a:cubicBezTo>
                  <a:pt x="612" y="4603"/>
                  <a:pt x="535" y="4859"/>
                  <a:pt x="549" y="5288"/>
                </a:cubicBezTo>
                <a:cubicBezTo>
                  <a:pt x="563" y="5680"/>
                  <a:pt x="684" y="6484"/>
                  <a:pt x="842" y="6977"/>
                </a:cubicBezTo>
                <a:cubicBezTo>
                  <a:pt x="855" y="7024"/>
                  <a:pt x="1070" y="7803"/>
                  <a:pt x="1232" y="7484"/>
                </a:cubicBezTo>
                <a:cubicBezTo>
                  <a:pt x="1394" y="7160"/>
                  <a:pt x="1458" y="6875"/>
                  <a:pt x="1485" y="6437"/>
                </a:cubicBezTo>
                <a:cubicBezTo>
                  <a:pt x="1517" y="5931"/>
                  <a:pt x="1499" y="5552"/>
                  <a:pt x="1432" y="4459"/>
                </a:cubicBezTo>
                <a:cubicBezTo>
                  <a:pt x="1411" y="4097"/>
                  <a:pt x="1353" y="3353"/>
                  <a:pt x="1325" y="2999"/>
                </a:cubicBezTo>
                <a:lnTo>
                  <a:pt x="1332" y="2982"/>
                </a:lnTo>
                <a:cubicBezTo>
                  <a:pt x="1385" y="3421"/>
                  <a:pt x="1520" y="4582"/>
                  <a:pt x="1575" y="5361"/>
                </a:cubicBezTo>
                <a:cubicBezTo>
                  <a:pt x="1660" y="6577"/>
                  <a:pt x="1633" y="7194"/>
                  <a:pt x="1594" y="7420"/>
                </a:cubicBezTo>
                <a:cubicBezTo>
                  <a:pt x="1477" y="8105"/>
                  <a:pt x="1175" y="8194"/>
                  <a:pt x="1038" y="7816"/>
                </a:cubicBezTo>
                <a:cubicBezTo>
                  <a:pt x="1016" y="9122"/>
                  <a:pt x="1091" y="9700"/>
                  <a:pt x="1116" y="9990"/>
                </a:cubicBezTo>
                <a:cubicBezTo>
                  <a:pt x="1103" y="10321"/>
                  <a:pt x="1158" y="10943"/>
                  <a:pt x="1158" y="10943"/>
                </a:cubicBezTo>
                <a:cubicBezTo>
                  <a:pt x="1158" y="10943"/>
                  <a:pt x="1164" y="10662"/>
                  <a:pt x="1189" y="10513"/>
                </a:cubicBezTo>
                <a:cubicBezTo>
                  <a:pt x="1196" y="10845"/>
                  <a:pt x="1238" y="11236"/>
                  <a:pt x="1238" y="11236"/>
                </a:cubicBezTo>
                <a:cubicBezTo>
                  <a:pt x="1238" y="11236"/>
                  <a:pt x="1234" y="10994"/>
                  <a:pt x="1254" y="10785"/>
                </a:cubicBezTo>
                <a:cubicBezTo>
                  <a:pt x="1281" y="10968"/>
                  <a:pt x="1300" y="11011"/>
                  <a:pt x="1326" y="11147"/>
                </a:cubicBezTo>
                <a:cubicBezTo>
                  <a:pt x="1351" y="11500"/>
                  <a:pt x="1403" y="11759"/>
                  <a:pt x="1403" y="11759"/>
                </a:cubicBezTo>
                <a:cubicBezTo>
                  <a:pt x="1403" y="11759"/>
                  <a:pt x="1394" y="11568"/>
                  <a:pt x="1399" y="11372"/>
                </a:cubicBezTo>
                <a:cubicBezTo>
                  <a:pt x="1524" y="11844"/>
                  <a:pt x="1546" y="12542"/>
                  <a:pt x="1559" y="13074"/>
                </a:cubicBezTo>
                <a:cubicBezTo>
                  <a:pt x="1594" y="14542"/>
                  <a:pt x="972" y="15708"/>
                  <a:pt x="851" y="16627"/>
                </a:cubicBezTo>
                <a:cubicBezTo>
                  <a:pt x="759" y="17171"/>
                  <a:pt x="705" y="18031"/>
                  <a:pt x="859" y="18537"/>
                </a:cubicBezTo>
                <a:cubicBezTo>
                  <a:pt x="972" y="18898"/>
                  <a:pt x="1037" y="19183"/>
                  <a:pt x="1079" y="19422"/>
                </a:cubicBezTo>
                <a:lnTo>
                  <a:pt x="553" y="19724"/>
                </a:lnTo>
                <a:lnTo>
                  <a:pt x="0" y="2051"/>
                </a:lnTo>
                <a:close/>
              </a:path>
            </a:pathLst>
          </a:custGeom>
          <a:solidFill>
            <a:srgbClr val="632CA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59" name="Title Text"/>
          <p:cNvSpPr txBox="1"/>
          <p:nvPr>
            <p:ph type="title"/>
          </p:nvPr>
        </p:nvSpPr>
        <p:spPr>
          <a:xfrm>
            <a:off x="695323" y="357808"/>
            <a:ext cx="3475040" cy="868339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ivid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10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67" name="Google Shape;11;p1" descr="Google Shape;11;p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8" name="Google Shape;12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4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44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</p:grpSp>
      <p:grpSp>
        <p:nvGrpSpPr>
          <p:cNvPr id="77" name="Google Shape;17;p1"/>
          <p:cNvGrpSpPr/>
          <p:nvPr/>
        </p:nvGrpSpPr>
        <p:grpSpPr>
          <a:xfrm>
            <a:off x="0" y="-710591"/>
            <a:ext cx="4109466" cy="479101"/>
            <a:chOff x="0" y="0"/>
            <a:chExt cx="4109465" cy="479100"/>
          </a:xfrm>
        </p:grpSpPr>
        <p:sp>
          <p:nvSpPr>
            <p:cNvPr id="70" name="Google Shape;18;p1"/>
            <p:cNvSpPr/>
            <p:nvPr/>
          </p:nvSpPr>
          <p:spPr>
            <a:xfrm>
              <a:off x="0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90000">
                  <a:srgbClr val="9C43FE"/>
                </a:gs>
                <a:gs pos="100000">
                  <a:srgbClr val="9C43FE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1" name="Google Shape;19;p1"/>
            <p:cNvSpPr/>
            <p:nvPr/>
          </p:nvSpPr>
          <p:spPr>
            <a:xfrm>
              <a:off x="60506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100000">
                  <a:schemeClr val="accent2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72" name="Google Shape;20;p1"/>
            <p:cNvSpPr/>
            <p:nvPr/>
          </p:nvSpPr>
          <p:spPr>
            <a:xfrm>
              <a:off x="121012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30000">
                  <a:schemeClr val="accent2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73" name="Google Shape;21;p1"/>
            <p:cNvSpPr/>
            <p:nvPr/>
          </p:nvSpPr>
          <p:spPr>
            <a:xfrm>
              <a:off x="181518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00B765"/>
                </a:gs>
                <a:gs pos="30000">
                  <a:srgbClr val="00B765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4" name="Google Shape;22;p1"/>
            <p:cNvSpPr/>
            <p:nvPr/>
          </p:nvSpPr>
          <p:spPr>
            <a:xfrm>
              <a:off x="242024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8000FF"/>
                </a:gs>
                <a:gs pos="90000">
                  <a:schemeClr val="accent6"/>
                </a:gs>
                <a:gs pos="100000">
                  <a:schemeClr val="accent6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75" name="Google Shape;23;p1"/>
            <p:cNvSpPr/>
            <p:nvPr/>
          </p:nvSpPr>
          <p:spPr>
            <a:xfrm>
              <a:off x="3025304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6"/>
                </a:gs>
                <a:gs pos="30000">
                  <a:schemeClr val="accent6"/>
                </a:gs>
                <a:gs pos="90000">
                  <a:schemeClr val="accent3"/>
                </a:gs>
                <a:gs pos="100000">
                  <a:schemeClr val="accent3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6" name="Google Shape;24;p1"/>
            <p:cNvSpPr/>
            <p:nvPr/>
          </p:nvSpPr>
          <p:spPr>
            <a:xfrm>
              <a:off x="3630365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30000">
                  <a:schemeClr val="accent3"/>
                </a:gs>
                <a:gs pos="90000">
                  <a:schemeClr val="accent5"/>
                </a:gs>
                <a:gs pos="100000">
                  <a:schemeClr val="accent5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78" name="Google Shape;25;p1"/>
          <p:cNvSpPr/>
          <p:nvPr/>
        </p:nvSpPr>
        <p:spPr>
          <a:xfrm>
            <a:off x="10585766" y="6450774"/>
            <a:ext cx="1080115" cy="2747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33" fill="norm" stroke="1" extrusionOk="0">
                <a:moveTo>
                  <a:pt x="4627" y="12440"/>
                </a:moveTo>
                <a:lnTo>
                  <a:pt x="4750" y="17639"/>
                </a:lnTo>
                <a:lnTo>
                  <a:pt x="2635" y="19175"/>
                </a:lnTo>
                <a:lnTo>
                  <a:pt x="2616" y="18439"/>
                </a:lnTo>
                <a:lnTo>
                  <a:pt x="3005" y="16103"/>
                </a:lnTo>
                <a:lnTo>
                  <a:pt x="3447" y="16610"/>
                </a:lnTo>
                <a:lnTo>
                  <a:pt x="3827" y="14112"/>
                </a:lnTo>
                <a:lnTo>
                  <a:pt x="4281" y="15293"/>
                </a:lnTo>
                <a:lnTo>
                  <a:pt x="4281" y="15295"/>
                </a:lnTo>
                <a:lnTo>
                  <a:pt x="4282" y="15295"/>
                </a:lnTo>
                <a:lnTo>
                  <a:pt x="4281" y="15293"/>
                </a:lnTo>
                <a:close/>
                <a:moveTo>
                  <a:pt x="4755" y="11377"/>
                </a:moveTo>
                <a:lnTo>
                  <a:pt x="3365" y="12368"/>
                </a:lnTo>
                <a:cubicBezTo>
                  <a:pt x="3332" y="12542"/>
                  <a:pt x="3246" y="12849"/>
                  <a:pt x="3205" y="12929"/>
                </a:cubicBezTo>
                <a:cubicBezTo>
                  <a:pt x="3030" y="13274"/>
                  <a:pt x="2911" y="13176"/>
                  <a:pt x="2808" y="13070"/>
                </a:cubicBezTo>
                <a:cubicBezTo>
                  <a:pt x="2742" y="13006"/>
                  <a:pt x="2705" y="12968"/>
                  <a:pt x="2649" y="12870"/>
                </a:cubicBezTo>
                <a:lnTo>
                  <a:pt x="2310" y="13053"/>
                </a:lnTo>
                <a:lnTo>
                  <a:pt x="2310" y="13057"/>
                </a:lnTo>
                <a:lnTo>
                  <a:pt x="2515" y="19822"/>
                </a:lnTo>
                <a:lnTo>
                  <a:pt x="4897" y="18133"/>
                </a:lnTo>
                <a:close/>
                <a:moveTo>
                  <a:pt x="3698" y="9185"/>
                </a:moveTo>
                <a:cubicBezTo>
                  <a:pt x="3739" y="9275"/>
                  <a:pt x="3739" y="9551"/>
                  <a:pt x="3711" y="9811"/>
                </a:cubicBezTo>
                <a:cubicBezTo>
                  <a:pt x="3670" y="10185"/>
                  <a:pt x="3612" y="10598"/>
                  <a:pt x="3546" y="10632"/>
                </a:cubicBezTo>
                <a:cubicBezTo>
                  <a:pt x="3437" y="10692"/>
                  <a:pt x="3336" y="10462"/>
                  <a:pt x="3219" y="10117"/>
                </a:cubicBezTo>
                <a:cubicBezTo>
                  <a:pt x="3178" y="9994"/>
                  <a:pt x="3152" y="9696"/>
                  <a:pt x="3208" y="9526"/>
                </a:cubicBezTo>
                <a:cubicBezTo>
                  <a:pt x="3239" y="9428"/>
                  <a:pt x="3380" y="9249"/>
                  <a:pt x="3511" y="9190"/>
                </a:cubicBezTo>
                <a:cubicBezTo>
                  <a:pt x="3579" y="9160"/>
                  <a:pt x="3677" y="9139"/>
                  <a:pt x="3698" y="9185"/>
                </a:cubicBezTo>
                <a:close/>
                <a:moveTo>
                  <a:pt x="15082" y="7671"/>
                </a:moveTo>
                <a:lnTo>
                  <a:pt x="15082" y="13878"/>
                </a:lnTo>
                <a:lnTo>
                  <a:pt x="15595" y="13878"/>
                </a:lnTo>
                <a:cubicBezTo>
                  <a:pt x="16078" y="13878"/>
                  <a:pt x="16321" y="12759"/>
                  <a:pt x="16321" y="10526"/>
                </a:cubicBezTo>
                <a:cubicBezTo>
                  <a:pt x="16321" y="8624"/>
                  <a:pt x="16078" y="7671"/>
                  <a:pt x="15595" y="7671"/>
                </a:cubicBezTo>
                <a:close/>
                <a:moveTo>
                  <a:pt x="6458" y="7671"/>
                </a:moveTo>
                <a:lnTo>
                  <a:pt x="6458" y="13878"/>
                </a:lnTo>
                <a:lnTo>
                  <a:pt x="6971" y="13878"/>
                </a:lnTo>
                <a:cubicBezTo>
                  <a:pt x="7454" y="13878"/>
                  <a:pt x="7695" y="12759"/>
                  <a:pt x="7695" y="10526"/>
                </a:cubicBezTo>
                <a:cubicBezTo>
                  <a:pt x="7695" y="8624"/>
                  <a:pt x="7454" y="7671"/>
                  <a:pt x="6971" y="7671"/>
                </a:cubicBezTo>
                <a:close/>
                <a:moveTo>
                  <a:pt x="18214" y="7598"/>
                </a:moveTo>
                <a:cubicBezTo>
                  <a:pt x="17745" y="7598"/>
                  <a:pt x="17493" y="8645"/>
                  <a:pt x="17493" y="10743"/>
                </a:cubicBezTo>
                <a:cubicBezTo>
                  <a:pt x="17493" y="12840"/>
                  <a:pt x="17733" y="13933"/>
                  <a:pt x="18214" y="13933"/>
                </a:cubicBezTo>
                <a:cubicBezTo>
                  <a:pt x="18684" y="13933"/>
                  <a:pt x="18918" y="12870"/>
                  <a:pt x="18918" y="10743"/>
                </a:cubicBezTo>
                <a:cubicBezTo>
                  <a:pt x="18918" y="8615"/>
                  <a:pt x="18684" y="7598"/>
                  <a:pt x="18214" y="7598"/>
                </a:cubicBezTo>
                <a:close/>
                <a:moveTo>
                  <a:pt x="2441" y="6390"/>
                </a:moveTo>
                <a:cubicBezTo>
                  <a:pt x="2513" y="6396"/>
                  <a:pt x="2559" y="6475"/>
                  <a:pt x="2540" y="6543"/>
                </a:cubicBezTo>
                <a:cubicBezTo>
                  <a:pt x="2470" y="6807"/>
                  <a:pt x="2564" y="6731"/>
                  <a:pt x="2574" y="7216"/>
                </a:cubicBezTo>
                <a:cubicBezTo>
                  <a:pt x="2581" y="7573"/>
                  <a:pt x="2552" y="7773"/>
                  <a:pt x="2526" y="7884"/>
                </a:cubicBezTo>
                <a:cubicBezTo>
                  <a:pt x="2472" y="7909"/>
                  <a:pt x="2407" y="7964"/>
                  <a:pt x="2329" y="8062"/>
                </a:cubicBezTo>
                <a:cubicBezTo>
                  <a:pt x="2283" y="8122"/>
                  <a:pt x="2243" y="8190"/>
                  <a:pt x="2207" y="8254"/>
                </a:cubicBezTo>
                <a:cubicBezTo>
                  <a:pt x="2198" y="8228"/>
                  <a:pt x="2188" y="8203"/>
                  <a:pt x="2176" y="8160"/>
                </a:cubicBezTo>
                <a:cubicBezTo>
                  <a:pt x="2056" y="7747"/>
                  <a:pt x="2059" y="7024"/>
                  <a:pt x="2186" y="6684"/>
                </a:cubicBezTo>
                <a:cubicBezTo>
                  <a:pt x="2271" y="6454"/>
                  <a:pt x="2369" y="6385"/>
                  <a:pt x="2441" y="6390"/>
                </a:cubicBezTo>
                <a:close/>
                <a:moveTo>
                  <a:pt x="14650" y="6199"/>
                </a:moveTo>
                <a:lnTo>
                  <a:pt x="15660" y="6199"/>
                </a:lnTo>
                <a:cubicBezTo>
                  <a:pt x="16388" y="6199"/>
                  <a:pt x="16752" y="7641"/>
                  <a:pt x="16752" y="10526"/>
                </a:cubicBezTo>
                <a:cubicBezTo>
                  <a:pt x="16752" y="13742"/>
                  <a:pt x="16389" y="15350"/>
                  <a:pt x="15660" y="15350"/>
                </a:cubicBezTo>
                <a:lnTo>
                  <a:pt x="15660" y="15346"/>
                </a:lnTo>
                <a:lnTo>
                  <a:pt x="14650" y="15346"/>
                </a:lnTo>
                <a:close/>
                <a:moveTo>
                  <a:pt x="6026" y="6199"/>
                </a:moveTo>
                <a:lnTo>
                  <a:pt x="7036" y="6199"/>
                </a:lnTo>
                <a:cubicBezTo>
                  <a:pt x="7764" y="6199"/>
                  <a:pt x="8128" y="7641"/>
                  <a:pt x="8128" y="10526"/>
                </a:cubicBezTo>
                <a:cubicBezTo>
                  <a:pt x="8128" y="13742"/>
                  <a:pt x="7764" y="15350"/>
                  <a:pt x="7036" y="15350"/>
                </a:cubicBezTo>
                <a:lnTo>
                  <a:pt x="7036" y="15346"/>
                </a:lnTo>
                <a:lnTo>
                  <a:pt x="6026" y="15346"/>
                </a:lnTo>
                <a:close/>
                <a:moveTo>
                  <a:pt x="12890" y="6195"/>
                </a:moveTo>
                <a:lnTo>
                  <a:pt x="13354" y="6195"/>
                </a:lnTo>
                <a:lnTo>
                  <a:pt x="14364" y="15346"/>
                </a:lnTo>
                <a:lnTo>
                  <a:pt x="13899" y="15346"/>
                </a:lnTo>
                <a:lnTo>
                  <a:pt x="13606" y="12849"/>
                </a:lnTo>
                <a:lnTo>
                  <a:pt x="12860" y="12849"/>
                </a:lnTo>
                <a:lnTo>
                  <a:pt x="13008" y="11377"/>
                </a:lnTo>
                <a:lnTo>
                  <a:pt x="13493" y="11377"/>
                </a:lnTo>
                <a:lnTo>
                  <a:pt x="13111" y="7943"/>
                </a:lnTo>
                <a:lnTo>
                  <a:pt x="12345" y="15346"/>
                </a:lnTo>
                <a:lnTo>
                  <a:pt x="11902" y="15346"/>
                </a:lnTo>
                <a:close/>
                <a:moveTo>
                  <a:pt x="10356" y="6195"/>
                </a:moveTo>
                <a:lnTo>
                  <a:pt x="12123" y="6195"/>
                </a:lnTo>
                <a:lnTo>
                  <a:pt x="12123" y="7667"/>
                </a:lnTo>
                <a:lnTo>
                  <a:pt x="11455" y="7667"/>
                </a:lnTo>
                <a:lnTo>
                  <a:pt x="11455" y="15346"/>
                </a:lnTo>
                <a:lnTo>
                  <a:pt x="11024" y="15346"/>
                </a:lnTo>
                <a:lnTo>
                  <a:pt x="11024" y="7667"/>
                </a:lnTo>
                <a:lnTo>
                  <a:pt x="10356" y="7667"/>
                </a:lnTo>
                <a:close/>
                <a:moveTo>
                  <a:pt x="9124" y="6195"/>
                </a:moveTo>
                <a:lnTo>
                  <a:pt x="9589" y="6195"/>
                </a:lnTo>
                <a:lnTo>
                  <a:pt x="10599" y="15346"/>
                </a:lnTo>
                <a:lnTo>
                  <a:pt x="10135" y="15346"/>
                </a:lnTo>
                <a:lnTo>
                  <a:pt x="9842" y="12849"/>
                </a:lnTo>
                <a:lnTo>
                  <a:pt x="9096" y="12849"/>
                </a:lnTo>
                <a:lnTo>
                  <a:pt x="9244" y="11377"/>
                </a:lnTo>
                <a:lnTo>
                  <a:pt x="9728" y="11377"/>
                </a:lnTo>
                <a:lnTo>
                  <a:pt x="9347" y="7943"/>
                </a:lnTo>
                <a:lnTo>
                  <a:pt x="8580" y="15346"/>
                </a:lnTo>
                <a:lnTo>
                  <a:pt x="8136" y="15346"/>
                </a:lnTo>
                <a:close/>
                <a:moveTo>
                  <a:pt x="20915" y="6135"/>
                </a:moveTo>
                <a:cubicBezTo>
                  <a:pt x="21170" y="6135"/>
                  <a:pt x="21398" y="6284"/>
                  <a:pt x="21599" y="6582"/>
                </a:cubicBezTo>
                <a:lnTo>
                  <a:pt x="21599" y="8118"/>
                </a:lnTo>
                <a:cubicBezTo>
                  <a:pt x="21398" y="7773"/>
                  <a:pt x="21181" y="7603"/>
                  <a:pt x="20947" y="7603"/>
                </a:cubicBezTo>
                <a:cubicBezTo>
                  <a:pt x="20388" y="7603"/>
                  <a:pt x="20108" y="8615"/>
                  <a:pt x="20108" y="10645"/>
                </a:cubicBezTo>
                <a:cubicBezTo>
                  <a:pt x="20108" y="12840"/>
                  <a:pt x="20372" y="13938"/>
                  <a:pt x="20900" y="13938"/>
                </a:cubicBezTo>
                <a:cubicBezTo>
                  <a:pt x="20977" y="13938"/>
                  <a:pt x="21067" y="13887"/>
                  <a:pt x="21167" y="13785"/>
                </a:cubicBezTo>
                <a:lnTo>
                  <a:pt x="21167" y="11653"/>
                </a:lnTo>
                <a:lnTo>
                  <a:pt x="21169" y="11653"/>
                </a:lnTo>
                <a:lnTo>
                  <a:pt x="21167" y="11640"/>
                </a:lnTo>
                <a:lnTo>
                  <a:pt x="21167" y="11653"/>
                </a:lnTo>
                <a:lnTo>
                  <a:pt x="20757" y="11653"/>
                </a:lnTo>
                <a:lnTo>
                  <a:pt x="20903" y="10147"/>
                </a:lnTo>
                <a:lnTo>
                  <a:pt x="21600" y="10147"/>
                </a:lnTo>
                <a:lnTo>
                  <a:pt x="21600" y="14933"/>
                </a:lnTo>
                <a:cubicBezTo>
                  <a:pt x="21412" y="15257"/>
                  <a:pt x="21177" y="15418"/>
                  <a:pt x="20894" y="15418"/>
                </a:cubicBezTo>
                <a:cubicBezTo>
                  <a:pt x="20071" y="15418"/>
                  <a:pt x="19661" y="13827"/>
                  <a:pt x="19661" y="10649"/>
                </a:cubicBezTo>
                <a:cubicBezTo>
                  <a:pt x="19661" y="7637"/>
                  <a:pt x="20079" y="6135"/>
                  <a:pt x="20915" y="6135"/>
                </a:cubicBezTo>
                <a:close/>
                <a:moveTo>
                  <a:pt x="18214" y="6126"/>
                </a:moveTo>
                <a:cubicBezTo>
                  <a:pt x="18994" y="6126"/>
                  <a:pt x="19366" y="7675"/>
                  <a:pt x="19366" y="10781"/>
                </a:cubicBezTo>
                <a:cubicBezTo>
                  <a:pt x="19366" y="13887"/>
                  <a:pt x="18982" y="15410"/>
                  <a:pt x="18214" y="15410"/>
                </a:cubicBezTo>
                <a:cubicBezTo>
                  <a:pt x="17447" y="15410"/>
                  <a:pt x="17079" y="13865"/>
                  <a:pt x="17045" y="10781"/>
                </a:cubicBezTo>
                <a:cubicBezTo>
                  <a:pt x="17045" y="7679"/>
                  <a:pt x="17435" y="6126"/>
                  <a:pt x="18214" y="6126"/>
                </a:cubicBezTo>
                <a:close/>
                <a:moveTo>
                  <a:pt x="3405" y="5888"/>
                </a:moveTo>
                <a:cubicBezTo>
                  <a:pt x="3564" y="6182"/>
                  <a:pt x="3543" y="6735"/>
                  <a:pt x="3548" y="7062"/>
                </a:cubicBezTo>
                <a:cubicBezTo>
                  <a:pt x="3549" y="7156"/>
                  <a:pt x="3549" y="7220"/>
                  <a:pt x="3547" y="7262"/>
                </a:cubicBezTo>
                <a:cubicBezTo>
                  <a:pt x="3524" y="7216"/>
                  <a:pt x="3489" y="7182"/>
                  <a:pt x="3434" y="7190"/>
                </a:cubicBezTo>
                <a:cubicBezTo>
                  <a:pt x="3418" y="7194"/>
                  <a:pt x="3402" y="7203"/>
                  <a:pt x="3387" y="7211"/>
                </a:cubicBezTo>
                <a:cubicBezTo>
                  <a:pt x="3328" y="7088"/>
                  <a:pt x="3294" y="6845"/>
                  <a:pt x="3261" y="6586"/>
                </a:cubicBezTo>
                <a:lnTo>
                  <a:pt x="3254" y="6522"/>
                </a:lnTo>
                <a:lnTo>
                  <a:pt x="3249" y="6492"/>
                </a:lnTo>
                <a:lnTo>
                  <a:pt x="3249" y="6480"/>
                </a:lnTo>
                <a:cubicBezTo>
                  <a:pt x="3232" y="6258"/>
                  <a:pt x="3244" y="6216"/>
                  <a:pt x="3252" y="6148"/>
                </a:cubicBezTo>
                <a:lnTo>
                  <a:pt x="3252" y="6143"/>
                </a:lnTo>
                <a:cubicBezTo>
                  <a:pt x="3259" y="6075"/>
                  <a:pt x="3287" y="6020"/>
                  <a:pt x="3245" y="5961"/>
                </a:cubicBezTo>
                <a:cubicBezTo>
                  <a:pt x="3242" y="5956"/>
                  <a:pt x="3238" y="5948"/>
                  <a:pt x="3232" y="5948"/>
                </a:cubicBezTo>
                <a:cubicBezTo>
                  <a:pt x="3260" y="5812"/>
                  <a:pt x="3345" y="5778"/>
                  <a:pt x="3405" y="5888"/>
                </a:cubicBezTo>
                <a:close/>
                <a:moveTo>
                  <a:pt x="4491" y="0"/>
                </a:moveTo>
                <a:lnTo>
                  <a:pt x="4755" y="10721"/>
                </a:lnTo>
                <a:lnTo>
                  <a:pt x="4892" y="10619"/>
                </a:lnTo>
                <a:lnTo>
                  <a:pt x="4894" y="10615"/>
                </a:lnTo>
                <a:lnTo>
                  <a:pt x="5113" y="19060"/>
                </a:lnTo>
                <a:lnTo>
                  <a:pt x="2416" y="20336"/>
                </a:lnTo>
                <a:lnTo>
                  <a:pt x="2358" y="18690"/>
                </a:lnTo>
                <a:lnTo>
                  <a:pt x="2194" y="18784"/>
                </a:lnTo>
                <a:cubicBezTo>
                  <a:pt x="2208" y="19698"/>
                  <a:pt x="2153" y="20570"/>
                  <a:pt x="2051" y="20987"/>
                </a:cubicBezTo>
                <a:cubicBezTo>
                  <a:pt x="1931" y="21477"/>
                  <a:pt x="1756" y="21600"/>
                  <a:pt x="1571" y="21502"/>
                </a:cubicBezTo>
                <a:cubicBezTo>
                  <a:pt x="1446" y="21438"/>
                  <a:pt x="1353" y="21085"/>
                  <a:pt x="1285" y="20651"/>
                </a:cubicBezTo>
                <a:cubicBezTo>
                  <a:pt x="1541" y="21362"/>
                  <a:pt x="1858" y="21034"/>
                  <a:pt x="1966" y="20439"/>
                </a:cubicBezTo>
                <a:cubicBezTo>
                  <a:pt x="2119" y="19605"/>
                  <a:pt x="2079" y="18813"/>
                  <a:pt x="2023" y="18077"/>
                </a:cubicBezTo>
                <a:cubicBezTo>
                  <a:pt x="1978" y="17499"/>
                  <a:pt x="1858" y="16541"/>
                  <a:pt x="1709" y="16171"/>
                </a:cubicBezTo>
                <a:cubicBezTo>
                  <a:pt x="1558" y="15793"/>
                  <a:pt x="1410" y="15720"/>
                  <a:pt x="1284" y="15771"/>
                </a:cubicBezTo>
                <a:lnTo>
                  <a:pt x="1296" y="15720"/>
                </a:lnTo>
                <a:cubicBezTo>
                  <a:pt x="1477" y="15580"/>
                  <a:pt x="1665" y="15656"/>
                  <a:pt x="1801" y="16001"/>
                </a:cubicBezTo>
                <a:cubicBezTo>
                  <a:pt x="1955" y="16393"/>
                  <a:pt x="2097" y="17065"/>
                  <a:pt x="2171" y="18094"/>
                </a:cubicBezTo>
                <a:cubicBezTo>
                  <a:pt x="2255" y="18048"/>
                  <a:pt x="2267" y="18026"/>
                  <a:pt x="2344" y="17984"/>
                </a:cubicBezTo>
                <a:lnTo>
                  <a:pt x="2171" y="12683"/>
                </a:lnTo>
                <a:lnTo>
                  <a:pt x="2537" y="12525"/>
                </a:lnTo>
                <a:cubicBezTo>
                  <a:pt x="2365" y="12091"/>
                  <a:pt x="2188" y="11470"/>
                  <a:pt x="2110" y="11125"/>
                </a:cubicBezTo>
                <a:cubicBezTo>
                  <a:pt x="2097" y="11087"/>
                  <a:pt x="2099" y="10917"/>
                  <a:pt x="2099" y="10917"/>
                </a:cubicBezTo>
                <a:cubicBezTo>
                  <a:pt x="2170" y="11130"/>
                  <a:pt x="2460" y="11947"/>
                  <a:pt x="2767" y="12321"/>
                </a:cubicBezTo>
                <a:cubicBezTo>
                  <a:pt x="2875" y="12453"/>
                  <a:pt x="3042" y="12504"/>
                  <a:pt x="3187" y="12181"/>
                </a:cubicBezTo>
                <a:cubicBezTo>
                  <a:pt x="3297" y="11934"/>
                  <a:pt x="3430" y="11504"/>
                  <a:pt x="3509" y="11062"/>
                </a:cubicBezTo>
                <a:lnTo>
                  <a:pt x="3523" y="11160"/>
                </a:lnTo>
                <a:cubicBezTo>
                  <a:pt x="3523" y="11228"/>
                  <a:pt x="3486" y="11547"/>
                  <a:pt x="3468" y="11674"/>
                </a:cubicBezTo>
                <a:cubicBezTo>
                  <a:pt x="3501" y="11751"/>
                  <a:pt x="3526" y="11768"/>
                  <a:pt x="3564" y="11810"/>
                </a:cubicBezTo>
                <a:lnTo>
                  <a:pt x="3819" y="11653"/>
                </a:lnTo>
                <a:cubicBezTo>
                  <a:pt x="3910" y="11074"/>
                  <a:pt x="3976" y="10134"/>
                  <a:pt x="3906" y="9245"/>
                </a:cubicBezTo>
                <a:cubicBezTo>
                  <a:pt x="3866" y="8734"/>
                  <a:pt x="3658" y="7713"/>
                  <a:pt x="3643" y="7658"/>
                </a:cubicBezTo>
                <a:cubicBezTo>
                  <a:pt x="3590" y="7462"/>
                  <a:pt x="3652" y="6701"/>
                  <a:pt x="3548" y="5867"/>
                </a:cubicBezTo>
                <a:cubicBezTo>
                  <a:pt x="3439" y="4986"/>
                  <a:pt x="3154" y="4067"/>
                  <a:pt x="3030" y="3667"/>
                </a:cubicBezTo>
                <a:cubicBezTo>
                  <a:pt x="3067" y="3769"/>
                  <a:pt x="3290" y="4127"/>
                  <a:pt x="3395" y="4625"/>
                </a:cubicBezTo>
                <a:cubicBezTo>
                  <a:pt x="3405" y="4574"/>
                  <a:pt x="3409" y="4306"/>
                  <a:pt x="3418" y="4237"/>
                </a:cubicBezTo>
                <a:cubicBezTo>
                  <a:pt x="3328" y="3778"/>
                  <a:pt x="3321" y="2953"/>
                  <a:pt x="3321" y="2731"/>
                </a:cubicBezTo>
                <a:cubicBezTo>
                  <a:pt x="3321" y="2327"/>
                  <a:pt x="3269" y="1868"/>
                  <a:pt x="3269" y="1868"/>
                </a:cubicBezTo>
                <a:cubicBezTo>
                  <a:pt x="3269" y="1868"/>
                  <a:pt x="3360" y="2149"/>
                  <a:pt x="3382" y="2629"/>
                </a:cubicBezTo>
                <a:cubicBezTo>
                  <a:pt x="3409" y="3199"/>
                  <a:pt x="3468" y="3650"/>
                  <a:pt x="3546" y="4029"/>
                </a:cubicBezTo>
                <a:cubicBezTo>
                  <a:pt x="3693" y="4748"/>
                  <a:pt x="3824" y="5114"/>
                  <a:pt x="3892" y="4850"/>
                </a:cubicBezTo>
                <a:cubicBezTo>
                  <a:pt x="3971" y="4531"/>
                  <a:pt x="3812" y="3106"/>
                  <a:pt x="3605" y="2310"/>
                </a:cubicBezTo>
                <a:cubicBezTo>
                  <a:pt x="3365" y="1383"/>
                  <a:pt x="3301" y="1502"/>
                  <a:pt x="3161" y="1702"/>
                </a:cubicBezTo>
                <a:cubicBezTo>
                  <a:pt x="3048" y="1859"/>
                  <a:pt x="2988" y="3119"/>
                  <a:pt x="2695" y="3093"/>
                </a:cubicBezTo>
                <a:cubicBezTo>
                  <a:pt x="2645" y="3072"/>
                  <a:pt x="2517" y="3059"/>
                  <a:pt x="2454" y="3059"/>
                </a:cubicBezTo>
                <a:cubicBezTo>
                  <a:pt x="2487" y="2880"/>
                  <a:pt x="2515" y="2740"/>
                  <a:pt x="2515" y="2740"/>
                </a:cubicBezTo>
                <a:cubicBezTo>
                  <a:pt x="2515" y="2740"/>
                  <a:pt x="2417" y="2897"/>
                  <a:pt x="2334" y="3093"/>
                </a:cubicBezTo>
                <a:lnTo>
                  <a:pt x="2327" y="3055"/>
                </a:lnTo>
                <a:cubicBezTo>
                  <a:pt x="2355" y="2821"/>
                  <a:pt x="2386" y="2672"/>
                  <a:pt x="2386" y="2672"/>
                </a:cubicBezTo>
                <a:cubicBezTo>
                  <a:pt x="2386" y="2672"/>
                  <a:pt x="2307" y="2859"/>
                  <a:pt x="2235" y="3080"/>
                </a:cubicBezTo>
                <a:cubicBezTo>
                  <a:pt x="2248" y="2804"/>
                  <a:pt x="2298" y="2625"/>
                  <a:pt x="2298" y="2625"/>
                </a:cubicBezTo>
                <a:cubicBezTo>
                  <a:pt x="2298" y="2625"/>
                  <a:pt x="2199" y="2693"/>
                  <a:pt x="2072" y="3242"/>
                </a:cubicBezTo>
                <a:cubicBezTo>
                  <a:pt x="1928" y="3395"/>
                  <a:pt x="1894" y="3497"/>
                  <a:pt x="1779" y="3697"/>
                </a:cubicBezTo>
                <a:cubicBezTo>
                  <a:pt x="1593" y="3535"/>
                  <a:pt x="1505" y="3280"/>
                  <a:pt x="1421" y="2804"/>
                </a:cubicBezTo>
                <a:cubicBezTo>
                  <a:pt x="1358" y="2442"/>
                  <a:pt x="1244" y="2387"/>
                  <a:pt x="1129" y="2574"/>
                </a:cubicBezTo>
                <a:cubicBezTo>
                  <a:pt x="960" y="2846"/>
                  <a:pt x="746" y="3225"/>
                  <a:pt x="746" y="3225"/>
                </a:cubicBezTo>
                <a:cubicBezTo>
                  <a:pt x="746" y="3225"/>
                  <a:pt x="816" y="3212"/>
                  <a:pt x="889" y="3225"/>
                </a:cubicBezTo>
                <a:cubicBezTo>
                  <a:pt x="790" y="3374"/>
                  <a:pt x="694" y="3578"/>
                  <a:pt x="694" y="3578"/>
                </a:cubicBezTo>
                <a:cubicBezTo>
                  <a:pt x="694" y="3578"/>
                  <a:pt x="740" y="3578"/>
                  <a:pt x="798" y="3578"/>
                </a:cubicBezTo>
                <a:cubicBezTo>
                  <a:pt x="758" y="3706"/>
                  <a:pt x="736" y="3769"/>
                  <a:pt x="698" y="3867"/>
                </a:cubicBezTo>
                <a:cubicBezTo>
                  <a:pt x="608" y="4127"/>
                  <a:pt x="534" y="4429"/>
                  <a:pt x="534" y="4429"/>
                </a:cubicBezTo>
                <a:cubicBezTo>
                  <a:pt x="534" y="4429"/>
                  <a:pt x="596" y="4318"/>
                  <a:pt x="651" y="4254"/>
                </a:cubicBezTo>
                <a:cubicBezTo>
                  <a:pt x="612" y="4603"/>
                  <a:pt x="535" y="4859"/>
                  <a:pt x="549" y="5288"/>
                </a:cubicBezTo>
                <a:cubicBezTo>
                  <a:pt x="563" y="5680"/>
                  <a:pt x="684" y="6484"/>
                  <a:pt x="842" y="6977"/>
                </a:cubicBezTo>
                <a:cubicBezTo>
                  <a:pt x="855" y="7024"/>
                  <a:pt x="1070" y="7803"/>
                  <a:pt x="1232" y="7484"/>
                </a:cubicBezTo>
                <a:cubicBezTo>
                  <a:pt x="1394" y="7160"/>
                  <a:pt x="1458" y="6875"/>
                  <a:pt x="1485" y="6437"/>
                </a:cubicBezTo>
                <a:cubicBezTo>
                  <a:pt x="1517" y="5931"/>
                  <a:pt x="1499" y="5552"/>
                  <a:pt x="1432" y="4459"/>
                </a:cubicBezTo>
                <a:cubicBezTo>
                  <a:pt x="1411" y="4097"/>
                  <a:pt x="1353" y="3353"/>
                  <a:pt x="1325" y="2999"/>
                </a:cubicBezTo>
                <a:lnTo>
                  <a:pt x="1332" y="2982"/>
                </a:lnTo>
                <a:cubicBezTo>
                  <a:pt x="1385" y="3421"/>
                  <a:pt x="1520" y="4582"/>
                  <a:pt x="1575" y="5361"/>
                </a:cubicBezTo>
                <a:cubicBezTo>
                  <a:pt x="1660" y="6577"/>
                  <a:pt x="1633" y="7194"/>
                  <a:pt x="1594" y="7420"/>
                </a:cubicBezTo>
                <a:cubicBezTo>
                  <a:pt x="1477" y="8105"/>
                  <a:pt x="1175" y="8194"/>
                  <a:pt x="1038" y="7816"/>
                </a:cubicBezTo>
                <a:cubicBezTo>
                  <a:pt x="1016" y="9122"/>
                  <a:pt x="1091" y="9700"/>
                  <a:pt x="1116" y="9990"/>
                </a:cubicBezTo>
                <a:cubicBezTo>
                  <a:pt x="1103" y="10321"/>
                  <a:pt x="1158" y="10943"/>
                  <a:pt x="1158" y="10943"/>
                </a:cubicBezTo>
                <a:cubicBezTo>
                  <a:pt x="1158" y="10943"/>
                  <a:pt x="1164" y="10662"/>
                  <a:pt x="1189" y="10513"/>
                </a:cubicBezTo>
                <a:cubicBezTo>
                  <a:pt x="1196" y="10845"/>
                  <a:pt x="1238" y="11236"/>
                  <a:pt x="1238" y="11236"/>
                </a:cubicBezTo>
                <a:cubicBezTo>
                  <a:pt x="1238" y="11236"/>
                  <a:pt x="1234" y="10994"/>
                  <a:pt x="1254" y="10785"/>
                </a:cubicBezTo>
                <a:cubicBezTo>
                  <a:pt x="1281" y="10968"/>
                  <a:pt x="1300" y="11011"/>
                  <a:pt x="1326" y="11147"/>
                </a:cubicBezTo>
                <a:cubicBezTo>
                  <a:pt x="1351" y="11500"/>
                  <a:pt x="1403" y="11759"/>
                  <a:pt x="1403" y="11759"/>
                </a:cubicBezTo>
                <a:cubicBezTo>
                  <a:pt x="1403" y="11759"/>
                  <a:pt x="1394" y="11568"/>
                  <a:pt x="1399" y="11372"/>
                </a:cubicBezTo>
                <a:cubicBezTo>
                  <a:pt x="1524" y="11844"/>
                  <a:pt x="1546" y="12542"/>
                  <a:pt x="1559" y="13074"/>
                </a:cubicBezTo>
                <a:cubicBezTo>
                  <a:pt x="1594" y="14542"/>
                  <a:pt x="972" y="15708"/>
                  <a:pt x="851" y="16627"/>
                </a:cubicBezTo>
                <a:cubicBezTo>
                  <a:pt x="759" y="17171"/>
                  <a:pt x="705" y="18031"/>
                  <a:pt x="859" y="18537"/>
                </a:cubicBezTo>
                <a:cubicBezTo>
                  <a:pt x="972" y="18898"/>
                  <a:pt x="1037" y="19183"/>
                  <a:pt x="1079" y="19422"/>
                </a:cubicBezTo>
                <a:lnTo>
                  <a:pt x="553" y="19724"/>
                </a:lnTo>
                <a:lnTo>
                  <a:pt x="0" y="2051"/>
                </a:lnTo>
                <a:close/>
              </a:path>
            </a:pathLst>
          </a:custGeom>
          <a:solidFill>
            <a:srgbClr val="632CA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79" name="Google Shape;36;p4" descr="Google Shape;36;p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3047" y="-1142"/>
            <a:ext cx="12198095" cy="6860284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Title Text"/>
          <p:cNvSpPr txBox="1"/>
          <p:nvPr>
            <p:ph type="title"/>
          </p:nvPr>
        </p:nvSpPr>
        <p:spPr>
          <a:xfrm>
            <a:off x="695084" y="695325"/>
            <a:ext cx="10773018" cy="12446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1" name="Body Level One…"/>
          <p:cNvSpPr txBox="1"/>
          <p:nvPr>
            <p:ph type="body" sz="quarter" idx="1"/>
          </p:nvPr>
        </p:nvSpPr>
        <p:spPr>
          <a:xfrm>
            <a:off x="695084" y="2077085"/>
            <a:ext cx="10773018" cy="110744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 marL="228600" indent="457200">
              <a:buSzTx/>
              <a:buNone/>
              <a:defRPr sz="2400">
                <a:solidFill>
                  <a:srgbClr val="FFFFFF"/>
                </a:solidFill>
              </a:defRPr>
            </a:lvl2pPr>
            <a:lvl3pPr marL="228600" indent="914400">
              <a:buSzTx/>
              <a:buNone/>
              <a:defRPr sz="2400">
                <a:solidFill>
                  <a:srgbClr val="FFFFFF"/>
                </a:solidFill>
              </a:defRPr>
            </a:lvl3pPr>
            <a:lvl4pPr marL="228600" indent="1371600">
              <a:buSzTx/>
              <a:buNone/>
              <a:defRPr sz="2400">
                <a:solidFill>
                  <a:srgbClr val="FFFFFF"/>
                </a:solidFill>
              </a:defRPr>
            </a:lvl4pPr>
            <a:lvl5pPr marL="228600" indent="1828800">
              <a:buSz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83" name="Google Shape;40;p4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+ Content_gradien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allout_purple">
    <p:bg>
      <p:bgPr>
        <a:gradFill flip="none" rotWithShape="1">
          <a:gsLst>
            <a:gs pos="0">
              <a:srgbClr val="5C00EF"/>
            </a:gs>
            <a:gs pos="30000">
              <a:srgbClr val="5C00EF"/>
            </a:gs>
            <a:gs pos="90000">
              <a:srgbClr val="9C43FE"/>
            </a:gs>
            <a:gs pos="100000">
              <a:srgbClr val="9C43FE"/>
            </a:gs>
          </a:gsLst>
          <a:lin ang="27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00" name="Title Text"/>
          <p:cNvSpPr txBox="1"/>
          <p:nvPr>
            <p:ph type="title"/>
          </p:nvPr>
        </p:nvSpPr>
        <p:spPr>
          <a:xfrm>
            <a:off x="695323" y="4395789"/>
            <a:ext cx="10795003" cy="1881186"/>
          </a:xfrm>
          <a:prstGeom prst="rect">
            <a:avLst/>
          </a:prstGeom>
        </p:spPr>
        <p:txBody>
          <a:bodyPr anchor="b"/>
          <a:lstStyle>
            <a:lvl1pPr>
              <a:defRPr sz="54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1" name="Google Shape;48;p6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ivid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0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08" name="Google Shape;11;p1" descr="Google Shape;11;p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9" name="Google Shape;12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4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44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</p:grpSp>
      <p:grpSp>
        <p:nvGrpSpPr>
          <p:cNvPr id="118" name="Google Shape;17;p1"/>
          <p:cNvGrpSpPr/>
          <p:nvPr/>
        </p:nvGrpSpPr>
        <p:grpSpPr>
          <a:xfrm>
            <a:off x="0" y="-710591"/>
            <a:ext cx="4109466" cy="479101"/>
            <a:chOff x="0" y="0"/>
            <a:chExt cx="4109465" cy="479100"/>
          </a:xfrm>
        </p:grpSpPr>
        <p:sp>
          <p:nvSpPr>
            <p:cNvPr id="111" name="Google Shape;18;p1"/>
            <p:cNvSpPr/>
            <p:nvPr/>
          </p:nvSpPr>
          <p:spPr>
            <a:xfrm>
              <a:off x="0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90000">
                  <a:srgbClr val="9C43FE"/>
                </a:gs>
                <a:gs pos="100000">
                  <a:srgbClr val="9C43FE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2" name="Google Shape;19;p1"/>
            <p:cNvSpPr/>
            <p:nvPr/>
          </p:nvSpPr>
          <p:spPr>
            <a:xfrm>
              <a:off x="60506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100000">
                  <a:schemeClr val="accent2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13" name="Google Shape;20;p1"/>
            <p:cNvSpPr/>
            <p:nvPr/>
          </p:nvSpPr>
          <p:spPr>
            <a:xfrm>
              <a:off x="121012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30000">
                  <a:schemeClr val="accent2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14" name="Google Shape;21;p1"/>
            <p:cNvSpPr/>
            <p:nvPr/>
          </p:nvSpPr>
          <p:spPr>
            <a:xfrm>
              <a:off x="181518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00B765"/>
                </a:gs>
                <a:gs pos="30000">
                  <a:srgbClr val="00B765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5" name="Google Shape;22;p1"/>
            <p:cNvSpPr/>
            <p:nvPr/>
          </p:nvSpPr>
          <p:spPr>
            <a:xfrm>
              <a:off x="242024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8000FF"/>
                </a:gs>
                <a:gs pos="90000">
                  <a:schemeClr val="accent6"/>
                </a:gs>
                <a:gs pos="100000">
                  <a:schemeClr val="accent6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16" name="Google Shape;23;p1"/>
            <p:cNvSpPr/>
            <p:nvPr/>
          </p:nvSpPr>
          <p:spPr>
            <a:xfrm>
              <a:off x="3025304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6"/>
                </a:gs>
                <a:gs pos="30000">
                  <a:schemeClr val="accent6"/>
                </a:gs>
                <a:gs pos="90000">
                  <a:schemeClr val="accent3"/>
                </a:gs>
                <a:gs pos="100000">
                  <a:schemeClr val="accent3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7" name="Google Shape;24;p1"/>
            <p:cNvSpPr/>
            <p:nvPr/>
          </p:nvSpPr>
          <p:spPr>
            <a:xfrm>
              <a:off x="3630365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30000">
                  <a:schemeClr val="accent3"/>
                </a:gs>
                <a:gs pos="90000">
                  <a:schemeClr val="accent5"/>
                </a:gs>
                <a:gs pos="100000">
                  <a:schemeClr val="accent5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19" name="Google Shape;25;p1"/>
          <p:cNvSpPr/>
          <p:nvPr/>
        </p:nvSpPr>
        <p:spPr>
          <a:xfrm>
            <a:off x="10585766" y="6450774"/>
            <a:ext cx="1080115" cy="2747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33" fill="norm" stroke="1" extrusionOk="0">
                <a:moveTo>
                  <a:pt x="4627" y="12440"/>
                </a:moveTo>
                <a:lnTo>
                  <a:pt x="4750" y="17639"/>
                </a:lnTo>
                <a:lnTo>
                  <a:pt x="2635" y="19175"/>
                </a:lnTo>
                <a:lnTo>
                  <a:pt x="2616" y="18439"/>
                </a:lnTo>
                <a:lnTo>
                  <a:pt x="3005" y="16103"/>
                </a:lnTo>
                <a:lnTo>
                  <a:pt x="3447" y="16610"/>
                </a:lnTo>
                <a:lnTo>
                  <a:pt x="3827" y="14112"/>
                </a:lnTo>
                <a:lnTo>
                  <a:pt x="4281" y="15293"/>
                </a:lnTo>
                <a:lnTo>
                  <a:pt x="4281" y="15295"/>
                </a:lnTo>
                <a:lnTo>
                  <a:pt x="4282" y="15295"/>
                </a:lnTo>
                <a:lnTo>
                  <a:pt x="4281" y="15293"/>
                </a:lnTo>
                <a:close/>
                <a:moveTo>
                  <a:pt x="4755" y="11377"/>
                </a:moveTo>
                <a:lnTo>
                  <a:pt x="3365" y="12368"/>
                </a:lnTo>
                <a:cubicBezTo>
                  <a:pt x="3332" y="12542"/>
                  <a:pt x="3246" y="12849"/>
                  <a:pt x="3205" y="12929"/>
                </a:cubicBezTo>
                <a:cubicBezTo>
                  <a:pt x="3030" y="13274"/>
                  <a:pt x="2911" y="13176"/>
                  <a:pt x="2808" y="13070"/>
                </a:cubicBezTo>
                <a:cubicBezTo>
                  <a:pt x="2742" y="13006"/>
                  <a:pt x="2705" y="12968"/>
                  <a:pt x="2649" y="12870"/>
                </a:cubicBezTo>
                <a:lnTo>
                  <a:pt x="2310" y="13053"/>
                </a:lnTo>
                <a:lnTo>
                  <a:pt x="2310" y="13057"/>
                </a:lnTo>
                <a:lnTo>
                  <a:pt x="2515" y="19822"/>
                </a:lnTo>
                <a:lnTo>
                  <a:pt x="4897" y="18133"/>
                </a:lnTo>
                <a:close/>
                <a:moveTo>
                  <a:pt x="3698" y="9185"/>
                </a:moveTo>
                <a:cubicBezTo>
                  <a:pt x="3739" y="9275"/>
                  <a:pt x="3739" y="9551"/>
                  <a:pt x="3711" y="9811"/>
                </a:cubicBezTo>
                <a:cubicBezTo>
                  <a:pt x="3670" y="10185"/>
                  <a:pt x="3612" y="10598"/>
                  <a:pt x="3546" y="10632"/>
                </a:cubicBezTo>
                <a:cubicBezTo>
                  <a:pt x="3437" y="10692"/>
                  <a:pt x="3336" y="10462"/>
                  <a:pt x="3219" y="10117"/>
                </a:cubicBezTo>
                <a:cubicBezTo>
                  <a:pt x="3178" y="9994"/>
                  <a:pt x="3152" y="9696"/>
                  <a:pt x="3208" y="9526"/>
                </a:cubicBezTo>
                <a:cubicBezTo>
                  <a:pt x="3239" y="9428"/>
                  <a:pt x="3380" y="9249"/>
                  <a:pt x="3511" y="9190"/>
                </a:cubicBezTo>
                <a:cubicBezTo>
                  <a:pt x="3579" y="9160"/>
                  <a:pt x="3677" y="9139"/>
                  <a:pt x="3698" y="9185"/>
                </a:cubicBezTo>
                <a:close/>
                <a:moveTo>
                  <a:pt x="15082" y="7671"/>
                </a:moveTo>
                <a:lnTo>
                  <a:pt x="15082" y="13878"/>
                </a:lnTo>
                <a:lnTo>
                  <a:pt x="15595" y="13878"/>
                </a:lnTo>
                <a:cubicBezTo>
                  <a:pt x="16078" y="13878"/>
                  <a:pt x="16321" y="12759"/>
                  <a:pt x="16321" y="10526"/>
                </a:cubicBezTo>
                <a:cubicBezTo>
                  <a:pt x="16321" y="8624"/>
                  <a:pt x="16078" y="7671"/>
                  <a:pt x="15595" y="7671"/>
                </a:cubicBezTo>
                <a:close/>
                <a:moveTo>
                  <a:pt x="6458" y="7671"/>
                </a:moveTo>
                <a:lnTo>
                  <a:pt x="6458" y="13878"/>
                </a:lnTo>
                <a:lnTo>
                  <a:pt x="6971" y="13878"/>
                </a:lnTo>
                <a:cubicBezTo>
                  <a:pt x="7454" y="13878"/>
                  <a:pt x="7695" y="12759"/>
                  <a:pt x="7695" y="10526"/>
                </a:cubicBezTo>
                <a:cubicBezTo>
                  <a:pt x="7695" y="8624"/>
                  <a:pt x="7454" y="7671"/>
                  <a:pt x="6971" y="7671"/>
                </a:cubicBezTo>
                <a:close/>
                <a:moveTo>
                  <a:pt x="18214" y="7598"/>
                </a:moveTo>
                <a:cubicBezTo>
                  <a:pt x="17745" y="7598"/>
                  <a:pt x="17493" y="8645"/>
                  <a:pt x="17493" y="10743"/>
                </a:cubicBezTo>
                <a:cubicBezTo>
                  <a:pt x="17493" y="12840"/>
                  <a:pt x="17733" y="13933"/>
                  <a:pt x="18214" y="13933"/>
                </a:cubicBezTo>
                <a:cubicBezTo>
                  <a:pt x="18684" y="13933"/>
                  <a:pt x="18918" y="12870"/>
                  <a:pt x="18918" y="10743"/>
                </a:cubicBezTo>
                <a:cubicBezTo>
                  <a:pt x="18918" y="8615"/>
                  <a:pt x="18684" y="7598"/>
                  <a:pt x="18214" y="7598"/>
                </a:cubicBezTo>
                <a:close/>
                <a:moveTo>
                  <a:pt x="2441" y="6390"/>
                </a:moveTo>
                <a:cubicBezTo>
                  <a:pt x="2513" y="6396"/>
                  <a:pt x="2559" y="6475"/>
                  <a:pt x="2540" y="6543"/>
                </a:cubicBezTo>
                <a:cubicBezTo>
                  <a:pt x="2470" y="6807"/>
                  <a:pt x="2564" y="6731"/>
                  <a:pt x="2574" y="7216"/>
                </a:cubicBezTo>
                <a:cubicBezTo>
                  <a:pt x="2581" y="7573"/>
                  <a:pt x="2552" y="7773"/>
                  <a:pt x="2526" y="7884"/>
                </a:cubicBezTo>
                <a:cubicBezTo>
                  <a:pt x="2472" y="7909"/>
                  <a:pt x="2407" y="7964"/>
                  <a:pt x="2329" y="8062"/>
                </a:cubicBezTo>
                <a:cubicBezTo>
                  <a:pt x="2283" y="8122"/>
                  <a:pt x="2243" y="8190"/>
                  <a:pt x="2207" y="8254"/>
                </a:cubicBezTo>
                <a:cubicBezTo>
                  <a:pt x="2198" y="8228"/>
                  <a:pt x="2188" y="8203"/>
                  <a:pt x="2176" y="8160"/>
                </a:cubicBezTo>
                <a:cubicBezTo>
                  <a:pt x="2056" y="7747"/>
                  <a:pt x="2059" y="7024"/>
                  <a:pt x="2186" y="6684"/>
                </a:cubicBezTo>
                <a:cubicBezTo>
                  <a:pt x="2271" y="6454"/>
                  <a:pt x="2369" y="6385"/>
                  <a:pt x="2441" y="6390"/>
                </a:cubicBezTo>
                <a:close/>
                <a:moveTo>
                  <a:pt x="14650" y="6199"/>
                </a:moveTo>
                <a:lnTo>
                  <a:pt x="15660" y="6199"/>
                </a:lnTo>
                <a:cubicBezTo>
                  <a:pt x="16388" y="6199"/>
                  <a:pt x="16752" y="7641"/>
                  <a:pt x="16752" y="10526"/>
                </a:cubicBezTo>
                <a:cubicBezTo>
                  <a:pt x="16752" y="13742"/>
                  <a:pt x="16389" y="15350"/>
                  <a:pt x="15660" y="15350"/>
                </a:cubicBezTo>
                <a:lnTo>
                  <a:pt x="15660" y="15346"/>
                </a:lnTo>
                <a:lnTo>
                  <a:pt x="14650" y="15346"/>
                </a:lnTo>
                <a:close/>
                <a:moveTo>
                  <a:pt x="6026" y="6199"/>
                </a:moveTo>
                <a:lnTo>
                  <a:pt x="7036" y="6199"/>
                </a:lnTo>
                <a:cubicBezTo>
                  <a:pt x="7764" y="6199"/>
                  <a:pt x="8128" y="7641"/>
                  <a:pt x="8128" y="10526"/>
                </a:cubicBezTo>
                <a:cubicBezTo>
                  <a:pt x="8128" y="13742"/>
                  <a:pt x="7764" y="15350"/>
                  <a:pt x="7036" y="15350"/>
                </a:cubicBezTo>
                <a:lnTo>
                  <a:pt x="7036" y="15346"/>
                </a:lnTo>
                <a:lnTo>
                  <a:pt x="6026" y="15346"/>
                </a:lnTo>
                <a:close/>
                <a:moveTo>
                  <a:pt x="12890" y="6195"/>
                </a:moveTo>
                <a:lnTo>
                  <a:pt x="13354" y="6195"/>
                </a:lnTo>
                <a:lnTo>
                  <a:pt x="14364" y="15346"/>
                </a:lnTo>
                <a:lnTo>
                  <a:pt x="13899" y="15346"/>
                </a:lnTo>
                <a:lnTo>
                  <a:pt x="13606" y="12849"/>
                </a:lnTo>
                <a:lnTo>
                  <a:pt x="12860" y="12849"/>
                </a:lnTo>
                <a:lnTo>
                  <a:pt x="13008" y="11377"/>
                </a:lnTo>
                <a:lnTo>
                  <a:pt x="13493" y="11377"/>
                </a:lnTo>
                <a:lnTo>
                  <a:pt x="13111" y="7943"/>
                </a:lnTo>
                <a:lnTo>
                  <a:pt x="12345" y="15346"/>
                </a:lnTo>
                <a:lnTo>
                  <a:pt x="11902" y="15346"/>
                </a:lnTo>
                <a:close/>
                <a:moveTo>
                  <a:pt x="10356" y="6195"/>
                </a:moveTo>
                <a:lnTo>
                  <a:pt x="12123" y="6195"/>
                </a:lnTo>
                <a:lnTo>
                  <a:pt x="12123" y="7667"/>
                </a:lnTo>
                <a:lnTo>
                  <a:pt x="11455" y="7667"/>
                </a:lnTo>
                <a:lnTo>
                  <a:pt x="11455" y="15346"/>
                </a:lnTo>
                <a:lnTo>
                  <a:pt x="11024" y="15346"/>
                </a:lnTo>
                <a:lnTo>
                  <a:pt x="11024" y="7667"/>
                </a:lnTo>
                <a:lnTo>
                  <a:pt x="10356" y="7667"/>
                </a:lnTo>
                <a:close/>
                <a:moveTo>
                  <a:pt x="9124" y="6195"/>
                </a:moveTo>
                <a:lnTo>
                  <a:pt x="9589" y="6195"/>
                </a:lnTo>
                <a:lnTo>
                  <a:pt x="10599" y="15346"/>
                </a:lnTo>
                <a:lnTo>
                  <a:pt x="10135" y="15346"/>
                </a:lnTo>
                <a:lnTo>
                  <a:pt x="9842" y="12849"/>
                </a:lnTo>
                <a:lnTo>
                  <a:pt x="9096" y="12849"/>
                </a:lnTo>
                <a:lnTo>
                  <a:pt x="9244" y="11377"/>
                </a:lnTo>
                <a:lnTo>
                  <a:pt x="9728" y="11377"/>
                </a:lnTo>
                <a:lnTo>
                  <a:pt x="9347" y="7943"/>
                </a:lnTo>
                <a:lnTo>
                  <a:pt x="8580" y="15346"/>
                </a:lnTo>
                <a:lnTo>
                  <a:pt x="8136" y="15346"/>
                </a:lnTo>
                <a:close/>
                <a:moveTo>
                  <a:pt x="20915" y="6135"/>
                </a:moveTo>
                <a:cubicBezTo>
                  <a:pt x="21170" y="6135"/>
                  <a:pt x="21398" y="6284"/>
                  <a:pt x="21599" y="6582"/>
                </a:cubicBezTo>
                <a:lnTo>
                  <a:pt x="21599" y="8118"/>
                </a:lnTo>
                <a:cubicBezTo>
                  <a:pt x="21398" y="7773"/>
                  <a:pt x="21181" y="7603"/>
                  <a:pt x="20947" y="7603"/>
                </a:cubicBezTo>
                <a:cubicBezTo>
                  <a:pt x="20388" y="7603"/>
                  <a:pt x="20108" y="8615"/>
                  <a:pt x="20108" y="10645"/>
                </a:cubicBezTo>
                <a:cubicBezTo>
                  <a:pt x="20108" y="12840"/>
                  <a:pt x="20372" y="13938"/>
                  <a:pt x="20900" y="13938"/>
                </a:cubicBezTo>
                <a:cubicBezTo>
                  <a:pt x="20977" y="13938"/>
                  <a:pt x="21067" y="13887"/>
                  <a:pt x="21167" y="13785"/>
                </a:cubicBezTo>
                <a:lnTo>
                  <a:pt x="21167" y="11653"/>
                </a:lnTo>
                <a:lnTo>
                  <a:pt x="21169" y="11653"/>
                </a:lnTo>
                <a:lnTo>
                  <a:pt x="21167" y="11640"/>
                </a:lnTo>
                <a:lnTo>
                  <a:pt x="21167" y="11653"/>
                </a:lnTo>
                <a:lnTo>
                  <a:pt x="20757" y="11653"/>
                </a:lnTo>
                <a:lnTo>
                  <a:pt x="20903" y="10147"/>
                </a:lnTo>
                <a:lnTo>
                  <a:pt x="21600" y="10147"/>
                </a:lnTo>
                <a:lnTo>
                  <a:pt x="21600" y="14933"/>
                </a:lnTo>
                <a:cubicBezTo>
                  <a:pt x="21412" y="15257"/>
                  <a:pt x="21177" y="15418"/>
                  <a:pt x="20894" y="15418"/>
                </a:cubicBezTo>
                <a:cubicBezTo>
                  <a:pt x="20071" y="15418"/>
                  <a:pt x="19661" y="13827"/>
                  <a:pt x="19661" y="10649"/>
                </a:cubicBezTo>
                <a:cubicBezTo>
                  <a:pt x="19661" y="7637"/>
                  <a:pt x="20079" y="6135"/>
                  <a:pt x="20915" y="6135"/>
                </a:cubicBezTo>
                <a:close/>
                <a:moveTo>
                  <a:pt x="18214" y="6126"/>
                </a:moveTo>
                <a:cubicBezTo>
                  <a:pt x="18994" y="6126"/>
                  <a:pt x="19366" y="7675"/>
                  <a:pt x="19366" y="10781"/>
                </a:cubicBezTo>
                <a:cubicBezTo>
                  <a:pt x="19366" y="13887"/>
                  <a:pt x="18982" y="15410"/>
                  <a:pt x="18214" y="15410"/>
                </a:cubicBezTo>
                <a:cubicBezTo>
                  <a:pt x="17447" y="15410"/>
                  <a:pt x="17079" y="13865"/>
                  <a:pt x="17045" y="10781"/>
                </a:cubicBezTo>
                <a:cubicBezTo>
                  <a:pt x="17045" y="7679"/>
                  <a:pt x="17435" y="6126"/>
                  <a:pt x="18214" y="6126"/>
                </a:cubicBezTo>
                <a:close/>
                <a:moveTo>
                  <a:pt x="3405" y="5888"/>
                </a:moveTo>
                <a:cubicBezTo>
                  <a:pt x="3564" y="6182"/>
                  <a:pt x="3543" y="6735"/>
                  <a:pt x="3548" y="7062"/>
                </a:cubicBezTo>
                <a:cubicBezTo>
                  <a:pt x="3549" y="7156"/>
                  <a:pt x="3549" y="7220"/>
                  <a:pt x="3547" y="7262"/>
                </a:cubicBezTo>
                <a:cubicBezTo>
                  <a:pt x="3524" y="7216"/>
                  <a:pt x="3489" y="7182"/>
                  <a:pt x="3434" y="7190"/>
                </a:cubicBezTo>
                <a:cubicBezTo>
                  <a:pt x="3418" y="7194"/>
                  <a:pt x="3402" y="7203"/>
                  <a:pt x="3387" y="7211"/>
                </a:cubicBezTo>
                <a:cubicBezTo>
                  <a:pt x="3328" y="7088"/>
                  <a:pt x="3294" y="6845"/>
                  <a:pt x="3261" y="6586"/>
                </a:cubicBezTo>
                <a:lnTo>
                  <a:pt x="3254" y="6522"/>
                </a:lnTo>
                <a:lnTo>
                  <a:pt x="3249" y="6492"/>
                </a:lnTo>
                <a:lnTo>
                  <a:pt x="3249" y="6480"/>
                </a:lnTo>
                <a:cubicBezTo>
                  <a:pt x="3232" y="6258"/>
                  <a:pt x="3244" y="6216"/>
                  <a:pt x="3252" y="6148"/>
                </a:cubicBezTo>
                <a:lnTo>
                  <a:pt x="3252" y="6143"/>
                </a:lnTo>
                <a:cubicBezTo>
                  <a:pt x="3259" y="6075"/>
                  <a:pt x="3287" y="6020"/>
                  <a:pt x="3245" y="5961"/>
                </a:cubicBezTo>
                <a:cubicBezTo>
                  <a:pt x="3242" y="5956"/>
                  <a:pt x="3238" y="5948"/>
                  <a:pt x="3232" y="5948"/>
                </a:cubicBezTo>
                <a:cubicBezTo>
                  <a:pt x="3260" y="5812"/>
                  <a:pt x="3345" y="5778"/>
                  <a:pt x="3405" y="5888"/>
                </a:cubicBezTo>
                <a:close/>
                <a:moveTo>
                  <a:pt x="4491" y="0"/>
                </a:moveTo>
                <a:lnTo>
                  <a:pt x="4755" y="10721"/>
                </a:lnTo>
                <a:lnTo>
                  <a:pt x="4892" y="10619"/>
                </a:lnTo>
                <a:lnTo>
                  <a:pt x="4894" y="10615"/>
                </a:lnTo>
                <a:lnTo>
                  <a:pt x="5113" y="19060"/>
                </a:lnTo>
                <a:lnTo>
                  <a:pt x="2416" y="20336"/>
                </a:lnTo>
                <a:lnTo>
                  <a:pt x="2358" y="18690"/>
                </a:lnTo>
                <a:lnTo>
                  <a:pt x="2194" y="18784"/>
                </a:lnTo>
                <a:cubicBezTo>
                  <a:pt x="2208" y="19698"/>
                  <a:pt x="2153" y="20570"/>
                  <a:pt x="2051" y="20987"/>
                </a:cubicBezTo>
                <a:cubicBezTo>
                  <a:pt x="1931" y="21477"/>
                  <a:pt x="1756" y="21600"/>
                  <a:pt x="1571" y="21502"/>
                </a:cubicBezTo>
                <a:cubicBezTo>
                  <a:pt x="1446" y="21438"/>
                  <a:pt x="1353" y="21085"/>
                  <a:pt x="1285" y="20651"/>
                </a:cubicBezTo>
                <a:cubicBezTo>
                  <a:pt x="1541" y="21362"/>
                  <a:pt x="1858" y="21034"/>
                  <a:pt x="1966" y="20439"/>
                </a:cubicBezTo>
                <a:cubicBezTo>
                  <a:pt x="2119" y="19605"/>
                  <a:pt x="2079" y="18813"/>
                  <a:pt x="2023" y="18077"/>
                </a:cubicBezTo>
                <a:cubicBezTo>
                  <a:pt x="1978" y="17499"/>
                  <a:pt x="1858" y="16541"/>
                  <a:pt x="1709" y="16171"/>
                </a:cubicBezTo>
                <a:cubicBezTo>
                  <a:pt x="1558" y="15793"/>
                  <a:pt x="1410" y="15720"/>
                  <a:pt x="1284" y="15771"/>
                </a:cubicBezTo>
                <a:lnTo>
                  <a:pt x="1296" y="15720"/>
                </a:lnTo>
                <a:cubicBezTo>
                  <a:pt x="1477" y="15580"/>
                  <a:pt x="1665" y="15656"/>
                  <a:pt x="1801" y="16001"/>
                </a:cubicBezTo>
                <a:cubicBezTo>
                  <a:pt x="1955" y="16393"/>
                  <a:pt x="2097" y="17065"/>
                  <a:pt x="2171" y="18094"/>
                </a:cubicBezTo>
                <a:cubicBezTo>
                  <a:pt x="2255" y="18048"/>
                  <a:pt x="2267" y="18026"/>
                  <a:pt x="2344" y="17984"/>
                </a:cubicBezTo>
                <a:lnTo>
                  <a:pt x="2171" y="12683"/>
                </a:lnTo>
                <a:lnTo>
                  <a:pt x="2537" y="12525"/>
                </a:lnTo>
                <a:cubicBezTo>
                  <a:pt x="2365" y="12091"/>
                  <a:pt x="2188" y="11470"/>
                  <a:pt x="2110" y="11125"/>
                </a:cubicBezTo>
                <a:cubicBezTo>
                  <a:pt x="2097" y="11087"/>
                  <a:pt x="2099" y="10917"/>
                  <a:pt x="2099" y="10917"/>
                </a:cubicBezTo>
                <a:cubicBezTo>
                  <a:pt x="2170" y="11130"/>
                  <a:pt x="2460" y="11947"/>
                  <a:pt x="2767" y="12321"/>
                </a:cubicBezTo>
                <a:cubicBezTo>
                  <a:pt x="2875" y="12453"/>
                  <a:pt x="3042" y="12504"/>
                  <a:pt x="3187" y="12181"/>
                </a:cubicBezTo>
                <a:cubicBezTo>
                  <a:pt x="3297" y="11934"/>
                  <a:pt x="3430" y="11504"/>
                  <a:pt x="3509" y="11062"/>
                </a:cubicBezTo>
                <a:lnTo>
                  <a:pt x="3523" y="11160"/>
                </a:lnTo>
                <a:cubicBezTo>
                  <a:pt x="3523" y="11228"/>
                  <a:pt x="3486" y="11547"/>
                  <a:pt x="3468" y="11674"/>
                </a:cubicBezTo>
                <a:cubicBezTo>
                  <a:pt x="3501" y="11751"/>
                  <a:pt x="3526" y="11768"/>
                  <a:pt x="3564" y="11810"/>
                </a:cubicBezTo>
                <a:lnTo>
                  <a:pt x="3819" y="11653"/>
                </a:lnTo>
                <a:cubicBezTo>
                  <a:pt x="3910" y="11074"/>
                  <a:pt x="3976" y="10134"/>
                  <a:pt x="3906" y="9245"/>
                </a:cubicBezTo>
                <a:cubicBezTo>
                  <a:pt x="3866" y="8734"/>
                  <a:pt x="3658" y="7713"/>
                  <a:pt x="3643" y="7658"/>
                </a:cubicBezTo>
                <a:cubicBezTo>
                  <a:pt x="3590" y="7462"/>
                  <a:pt x="3652" y="6701"/>
                  <a:pt x="3548" y="5867"/>
                </a:cubicBezTo>
                <a:cubicBezTo>
                  <a:pt x="3439" y="4986"/>
                  <a:pt x="3154" y="4067"/>
                  <a:pt x="3030" y="3667"/>
                </a:cubicBezTo>
                <a:cubicBezTo>
                  <a:pt x="3067" y="3769"/>
                  <a:pt x="3290" y="4127"/>
                  <a:pt x="3395" y="4625"/>
                </a:cubicBezTo>
                <a:cubicBezTo>
                  <a:pt x="3405" y="4574"/>
                  <a:pt x="3409" y="4306"/>
                  <a:pt x="3418" y="4237"/>
                </a:cubicBezTo>
                <a:cubicBezTo>
                  <a:pt x="3328" y="3778"/>
                  <a:pt x="3321" y="2953"/>
                  <a:pt x="3321" y="2731"/>
                </a:cubicBezTo>
                <a:cubicBezTo>
                  <a:pt x="3321" y="2327"/>
                  <a:pt x="3269" y="1868"/>
                  <a:pt x="3269" y="1868"/>
                </a:cubicBezTo>
                <a:cubicBezTo>
                  <a:pt x="3269" y="1868"/>
                  <a:pt x="3360" y="2149"/>
                  <a:pt x="3382" y="2629"/>
                </a:cubicBezTo>
                <a:cubicBezTo>
                  <a:pt x="3409" y="3199"/>
                  <a:pt x="3468" y="3650"/>
                  <a:pt x="3546" y="4029"/>
                </a:cubicBezTo>
                <a:cubicBezTo>
                  <a:pt x="3693" y="4748"/>
                  <a:pt x="3824" y="5114"/>
                  <a:pt x="3892" y="4850"/>
                </a:cubicBezTo>
                <a:cubicBezTo>
                  <a:pt x="3971" y="4531"/>
                  <a:pt x="3812" y="3106"/>
                  <a:pt x="3605" y="2310"/>
                </a:cubicBezTo>
                <a:cubicBezTo>
                  <a:pt x="3365" y="1383"/>
                  <a:pt x="3301" y="1502"/>
                  <a:pt x="3161" y="1702"/>
                </a:cubicBezTo>
                <a:cubicBezTo>
                  <a:pt x="3048" y="1859"/>
                  <a:pt x="2988" y="3119"/>
                  <a:pt x="2695" y="3093"/>
                </a:cubicBezTo>
                <a:cubicBezTo>
                  <a:pt x="2645" y="3072"/>
                  <a:pt x="2517" y="3059"/>
                  <a:pt x="2454" y="3059"/>
                </a:cubicBezTo>
                <a:cubicBezTo>
                  <a:pt x="2487" y="2880"/>
                  <a:pt x="2515" y="2740"/>
                  <a:pt x="2515" y="2740"/>
                </a:cubicBezTo>
                <a:cubicBezTo>
                  <a:pt x="2515" y="2740"/>
                  <a:pt x="2417" y="2897"/>
                  <a:pt x="2334" y="3093"/>
                </a:cubicBezTo>
                <a:lnTo>
                  <a:pt x="2327" y="3055"/>
                </a:lnTo>
                <a:cubicBezTo>
                  <a:pt x="2355" y="2821"/>
                  <a:pt x="2386" y="2672"/>
                  <a:pt x="2386" y="2672"/>
                </a:cubicBezTo>
                <a:cubicBezTo>
                  <a:pt x="2386" y="2672"/>
                  <a:pt x="2307" y="2859"/>
                  <a:pt x="2235" y="3080"/>
                </a:cubicBezTo>
                <a:cubicBezTo>
                  <a:pt x="2248" y="2804"/>
                  <a:pt x="2298" y="2625"/>
                  <a:pt x="2298" y="2625"/>
                </a:cubicBezTo>
                <a:cubicBezTo>
                  <a:pt x="2298" y="2625"/>
                  <a:pt x="2199" y="2693"/>
                  <a:pt x="2072" y="3242"/>
                </a:cubicBezTo>
                <a:cubicBezTo>
                  <a:pt x="1928" y="3395"/>
                  <a:pt x="1894" y="3497"/>
                  <a:pt x="1779" y="3697"/>
                </a:cubicBezTo>
                <a:cubicBezTo>
                  <a:pt x="1593" y="3535"/>
                  <a:pt x="1505" y="3280"/>
                  <a:pt x="1421" y="2804"/>
                </a:cubicBezTo>
                <a:cubicBezTo>
                  <a:pt x="1358" y="2442"/>
                  <a:pt x="1244" y="2387"/>
                  <a:pt x="1129" y="2574"/>
                </a:cubicBezTo>
                <a:cubicBezTo>
                  <a:pt x="960" y="2846"/>
                  <a:pt x="746" y="3225"/>
                  <a:pt x="746" y="3225"/>
                </a:cubicBezTo>
                <a:cubicBezTo>
                  <a:pt x="746" y="3225"/>
                  <a:pt x="816" y="3212"/>
                  <a:pt x="889" y="3225"/>
                </a:cubicBezTo>
                <a:cubicBezTo>
                  <a:pt x="790" y="3374"/>
                  <a:pt x="694" y="3578"/>
                  <a:pt x="694" y="3578"/>
                </a:cubicBezTo>
                <a:cubicBezTo>
                  <a:pt x="694" y="3578"/>
                  <a:pt x="740" y="3578"/>
                  <a:pt x="798" y="3578"/>
                </a:cubicBezTo>
                <a:cubicBezTo>
                  <a:pt x="758" y="3706"/>
                  <a:pt x="736" y="3769"/>
                  <a:pt x="698" y="3867"/>
                </a:cubicBezTo>
                <a:cubicBezTo>
                  <a:pt x="608" y="4127"/>
                  <a:pt x="534" y="4429"/>
                  <a:pt x="534" y="4429"/>
                </a:cubicBezTo>
                <a:cubicBezTo>
                  <a:pt x="534" y="4429"/>
                  <a:pt x="596" y="4318"/>
                  <a:pt x="651" y="4254"/>
                </a:cubicBezTo>
                <a:cubicBezTo>
                  <a:pt x="612" y="4603"/>
                  <a:pt x="535" y="4859"/>
                  <a:pt x="549" y="5288"/>
                </a:cubicBezTo>
                <a:cubicBezTo>
                  <a:pt x="563" y="5680"/>
                  <a:pt x="684" y="6484"/>
                  <a:pt x="842" y="6977"/>
                </a:cubicBezTo>
                <a:cubicBezTo>
                  <a:pt x="855" y="7024"/>
                  <a:pt x="1070" y="7803"/>
                  <a:pt x="1232" y="7484"/>
                </a:cubicBezTo>
                <a:cubicBezTo>
                  <a:pt x="1394" y="7160"/>
                  <a:pt x="1458" y="6875"/>
                  <a:pt x="1485" y="6437"/>
                </a:cubicBezTo>
                <a:cubicBezTo>
                  <a:pt x="1517" y="5931"/>
                  <a:pt x="1499" y="5552"/>
                  <a:pt x="1432" y="4459"/>
                </a:cubicBezTo>
                <a:cubicBezTo>
                  <a:pt x="1411" y="4097"/>
                  <a:pt x="1353" y="3353"/>
                  <a:pt x="1325" y="2999"/>
                </a:cubicBezTo>
                <a:lnTo>
                  <a:pt x="1332" y="2982"/>
                </a:lnTo>
                <a:cubicBezTo>
                  <a:pt x="1385" y="3421"/>
                  <a:pt x="1520" y="4582"/>
                  <a:pt x="1575" y="5361"/>
                </a:cubicBezTo>
                <a:cubicBezTo>
                  <a:pt x="1660" y="6577"/>
                  <a:pt x="1633" y="7194"/>
                  <a:pt x="1594" y="7420"/>
                </a:cubicBezTo>
                <a:cubicBezTo>
                  <a:pt x="1477" y="8105"/>
                  <a:pt x="1175" y="8194"/>
                  <a:pt x="1038" y="7816"/>
                </a:cubicBezTo>
                <a:cubicBezTo>
                  <a:pt x="1016" y="9122"/>
                  <a:pt x="1091" y="9700"/>
                  <a:pt x="1116" y="9990"/>
                </a:cubicBezTo>
                <a:cubicBezTo>
                  <a:pt x="1103" y="10321"/>
                  <a:pt x="1158" y="10943"/>
                  <a:pt x="1158" y="10943"/>
                </a:cubicBezTo>
                <a:cubicBezTo>
                  <a:pt x="1158" y="10943"/>
                  <a:pt x="1164" y="10662"/>
                  <a:pt x="1189" y="10513"/>
                </a:cubicBezTo>
                <a:cubicBezTo>
                  <a:pt x="1196" y="10845"/>
                  <a:pt x="1238" y="11236"/>
                  <a:pt x="1238" y="11236"/>
                </a:cubicBezTo>
                <a:cubicBezTo>
                  <a:pt x="1238" y="11236"/>
                  <a:pt x="1234" y="10994"/>
                  <a:pt x="1254" y="10785"/>
                </a:cubicBezTo>
                <a:cubicBezTo>
                  <a:pt x="1281" y="10968"/>
                  <a:pt x="1300" y="11011"/>
                  <a:pt x="1326" y="11147"/>
                </a:cubicBezTo>
                <a:cubicBezTo>
                  <a:pt x="1351" y="11500"/>
                  <a:pt x="1403" y="11759"/>
                  <a:pt x="1403" y="11759"/>
                </a:cubicBezTo>
                <a:cubicBezTo>
                  <a:pt x="1403" y="11759"/>
                  <a:pt x="1394" y="11568"/>
                  <a:pt x="1399" y="11372"/>
                </a:cubicBezTo>
                <a:cubicBezTo>
                  <a:pt x="1524" y="11844"/>
                  <a:pt x="1546" y="12542"/>
                  <a:pt x="1559" y="13074"/>
                </a:cubicBezTo>
                <a:cubicBezTo>
                  <a:pt x="1594" y="14542"/>
                  <a:pt x="972" y="15708"/>
                  <a:pt x="851" y="16627"/>
                </a:cubicBezTo>
                <a:cubicBezTo>
                  <a:pt x="759" y="17171"/>
                  <a:pt x="705" y="18031"/>
                  <a:pt x="859" y="18537"/>
                </a:cubicBezTo>
                <a:cubicBezTo>
                  <a:pt x="972" y="18898"/>
                  <a:pt x="1037" y="19183"/>
                  <a:pt x="1079" y="19422"/>
                </a:cubicBezTo>
                <a:lnTo>
                  <a:pt x="553" y="19724"/>
                </a:lnTo>
                <a:lnTo>
                  <a:pt x="0" y="2051"/>
                </a:lnTo>
                <a:close/>
              </a:path>
            </a:pathLst>
          </a:custGeom>
          <a:solidFill>
            <a:srgbClr val="632CA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120" name="Google Shape;50;p7" descr="Google Shape;50;p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3050" y="-1142"/>
            <a:ext cx="12198100" cy="6860285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Title Text"/>
          <p:cNvSpPr txBox="1"/>
          <p:nvPr>
            <p:ph type="title"/>
          </p:nvPr>
        </p:nvSpPr>
        <p:spPr>
          <a:xfrm>
            <a:off x="695084" y="695325"/>
            <a:ext cx="10773018" cy="12446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2" name="Body Level One…"/>
          <p:cNvSpPr txBox="1"/>
          <p:nvPr>
            <p:ph type="body" sz="quarter" idx="1"/>
          </p:nvPr>
        </p:nvSpPr>
        <p:spPr>
          <a:xfrm>
            <a:off x="695084" y="2077085"/>
            <a:ext cx="10773018" cy="110744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 marL="228600" indent="457200">
              <a:buSzTx/>
              <a:buNone/>
              <a:defRPr sz="2400">
                <a:solidFill>
                  <a:srgbClr val="FFFFFF"/>
                </a:solidFill>
              </a:defRPr>
            </a:lvl2pPr>
            <a:lvl3pPr marL="228600" indent="914400">
              <a:buSzTx/>
              <a:buNone/>
              <a:defRPr sz="2400">
                <a:solidFill>
                  <a:srgbClr val="FFFFFF"/>
                </a:solidFill>
              </a:defRPr>
            </a:lvl3pPr>
            <a:lvl4pPr marL="228600" indent="1371600">
              <a:buSzTx/>
              <a:buNone/>
              <a:defRPr sz="2400">
                <a:solidFill>
                  <a:srgbClr val="FFFFFF"/>
                </a:solidFill>
              </a:defRPr>
            </a:lvl4pPr>
            <a:lvl5pPr marL="228600" indent="1828800">
              <a:buSz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24" name="Google Shape;54;p7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1/3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0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31" name="Google Shape;11;p1" descr="Google Shape;11;p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2" name="Google Shape;12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4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44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</p:grpSp>
      <p:grpSp>
        <p:nvGrpSpPr>
          <p:cNvPr id="141" name="Google Shape;17;p1"/>
          <p:cNvGrpSpPr/>
          <p:nvPr/>
        </p:nvGrpSpPr>
        <p:grpSpPr>
          <a:xfrm>
            <a:off x="0" y="-710591"/>
            <a:ext cx="4109466" cy="479101"/>
            <a:chOff x="0" y="0"/>
            <a:chExt cx="4109465" cy="479100"/>
          </a:xfrm>
        </p:grpSpPr>
        <p:sp>
          <p:nvSpPr>
            <p:cNvPr id="134" name="Google Shape;18;p1"/>
            <p:cNvSpPr/>
            <p:nvPr/>
          </p:nvSpPr>
          <p:spPr>
            <a:xfrm>
              <a:off x="0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90000">
                  <a:srgbClr val="9C43FE"/>
                </a:gs>
                <a:gs pos="100000">
                  <a:srgbClr val="9C43FE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5" name="Google Shape;19;p1"/>
            <p:cNvSpPr/>
            <p:nvPr/>
          </p:nvSpPr>
          <p:spPr>
            <a:xfrm>
              <a:off x="60506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100000">
                  <a:schemeClr val="accent2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36" name="Google Shape;20;p1"/>
            <p:cNvSpPr/>
            <p:nvPr/>
          </p:nvSpPr>
          <p:spPr>
            <a:xfrm>
              <a:off x="121012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30000">
                  <a:schemeClr val="accent2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37" name="Google Shape;21;p1"/>
            <p:cNvSpPr/>
            <p:nvPr/>
          </p:nvSpPr>
          <p:spPr>
            <a:xfrm>
              <a:off x="181518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00B765"/>
                </a:gs>
                <a:gs pos="30000">
                  <a:srgbClr val="00B765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8" name="Google Shape;22;p1"/>
            <p:cNvSpPr/>
            <p:nvPr/>
          </p:nvSpPr>
          <p:spPr>
            <a:xfrm>
              <a:off x="242024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8000FF"/>
                </a:gs>
                <a:gs pos="90000">
                  <a:schemeClr val="accent6"/>
                </a:gs>
                <a:gs pos="100000">
                  <a:schemeClr val="accent6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39" name="Google Shape;23;p1"/>
            <p:cNvSpPr/>
            <p:nvPr/>
          </p:nvSpPr>
          <p:spPr>
            <a:xfrm>
              <a:off x="3025304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6"/>
                </a:gs>
                <a:gs pos="30000">
                  <a:schemeClr val="accent6"/>
                </a:gs>
                <a:gs pos="90000">
                  <a:schemeClr val="accent3"/>
                </a:gs>
                <a:gs pos="100000">
                  <a:schemeClr val="accent3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0" name="Google Shape;24;p1"/>
            <p:cNvSpPr/>
            <p:nvPr/>
          </p:nvSpPr>
          <p:spPr>
            <a:xfrm>
              <a:off x="3630365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30000">
                  <a:schemeClr val="accent3"/>
                </a:gs>
                <a:gs pos="90000">
                  <a:schemeClr val="accent5"/>
                </a:gs>
                <a:gs pos="100000">
                  <a:schemeClr val="accent5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42" name="Google Shape;25;p1"/>
          <p:cNvSpPr/>
          <p:nvPr/>
        </p:nvSpPr>
        <p:spPr>
          <a:xfrm>
            <a:off x="10585766" y="6450774"/>
            <a:ext cx="1080115" cy="2747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33" fill="norm" stroke="1" extrusionOk="0">
                <a:moveTo>
                  <a:pt x="4627" y="12440"/>
                </a:moveTo>
                <a:lnTo>
                  <a:pt x="4750" y="17639"/>
                </a:lnTo>
                <a:lnTo>
                  <a:pt x="2635" y="19175"/>
                </a:lnTo>
                <a:lnTo>
                  <a:pt x="2616" y="18439"/>
                </a:lnTo>
                <a:lnTo>
                  <a:pt x="3005" y="16103"/>
                </a:lnTo>
                <a:lnTo>
                  <a:pt x="3447" y="16610"/>
                </a:lnTo>
                <a:lnTo>
                  <a:pt x="3827" y="14112"/>
                </a:lnTo>
                <a:lnTo>
                  <a:pt x="4281" y="15293"/>
                </a:lnTo>
                <a:lnTo>
                  <a:pt x="4281" y="15295"/>
                </a:lnTo>
                <a:lnTo>
                  <a:pt x="4282" y="15295"/>
                </a:lnTo>
                <a:lnTo>
                  <a:pt x="4281" y="15293"/>
                </a:lnTo>
                <a:close/>
                <a:moveTo>
                  <a:pt x="4755" y="11377"/>
                </a:moveTo>
                <a:lnTo>
                  <a:pt x="3365" y="12368"/>
                </a:lnTo>
                <a:cubicBezTo>
                  <a:pt x="3332" y="12542"/>
                  <a:pt x="3246" y="12849"/>
                  <a:pt x="3205" y="12929"/>
                </a:cubicBezTo>
                <a:cubicBezTo>
                  <a:pt x="3030" y="13274"/>
                  <a:pt x="2911" y="13176"/>
                  <a:pt x="2808" y="13070"/>
                </a:cubicBezTo>
                <a:cubicBezTo>
                  <a:pt x="2742" y="13006"/>
                  <a:pt x="2705" y="12968"/>
                  <a:pt x="2649" y="12870"/>
                </a:cubicBezTo>
                <a:lnTo>
                  <a:pt x="2310" y="13053"/>
                </a:lnTo>
                <a:lnTo>
                  <a:pt x="2310" y="13057"/>
                </a:lnTo>
                <a:lnTo>
                  <a:pt x="2515" y="19822"/>
                </a:lnTo>
                <a:lnTo>
                  <a:pt x="4897" y="18133"/>
                </a:lnTo>
                <a:close/>
                <a:moveTo>
                  <a:pt x="3698" y="9185"/>
                </a:moveTo>
                <a:cubicBezTo>
                  <a:pt x="3739" y="9275"/>
                  <a:pt x="3739" y="9551"/>
                  <a:pt x="3711" y="9811"/>
                </a:cubicBezTo>
                <a:cubicBezTo>
                  <a:pt x="3670" y="10185"/>
                  <a:pt x="3612" y="10598"/>
                  <a:pt x="3546" y="10632"/>
                </a:cubicBezTo>
                <a:cubicBezTo>
                  <a:pt x="3437" y="10692"/>
                  <a:pt x="3336" y="10462"/>
                  <a:pt x="3219" y="10117"/>
                </a:cubicBezTo>
                <a:cubicBezTo>
                  <a:pt x="3178" y="9994"/>
                  <a:pt x="3152" y="9696"/>
                  <a:pt x="3208" y="9526"/>
                </a:cubicBezTo>
                <a:cubicBezTo>
                  <a:pt x="3239" y="9428"/>
                  <a:pt x="3380" y="9249"/>
                  <a:pt x="3511" y="9190"/>
                </a:cubicBezTo>
                <a:cubicBezTo>
                  <a:pt x="3579" y="9160"/>
                  <a:pt x="3677" y="9139"/>
                  <a:pt x="3698" y="9185"/>
                </a:cubicBezTo>
                <a:close/>
                <a:moveTo>
                  <a:pt x="15082" y="7671"/>
                </a:moveTo>
                <a:lnTo>
                  <a:pt x="15082" y="13878"/>
                </a:lnTo>
                <a:lnTo>
                  <a:pt x="15595" y="13878"/>
                </a:lnTo>
                <a:cubicBezTo>
                  <a:pt x="16078" y="13878"/>
                  <a:pt x="16321" y="12759"/>
                  <a:pt x="16321" y="10526"/>
                </a:cubicBezTo>
                <a:cubicBezTo>
                  <a:pt x="16321" y="8624"/>
                  <a:pt x="16078" y="7671"/>
                  <a:pt x="15595" y="7671"/>
                </a:cubicBezTo>
                <a:close/>
                <a:moveTo>
                  <a:pt x="6458" y="7671"/>
                </a:moveTo>
                <a:lnTo>
                  <a:pt x="6458" y="13878"/>
                </a:lnTo>
                <a:lnTo>
                  <a:pt x="6971" y="13878"/>
                </a:lnTo>
                <a:cubicBezTo>
                  <a:pt x="7454" y="13878"/>
                  <a:pt x="7695" y="12759"/>
                  <a:pt x="7695" y="10526"/>
                </a:cubicBezTo>
                <a:cubicBezTo>
                  <a:pt x="7695" y="8624"/>
                  <a:pt x="7454" y="7671"/>
                  <a:pt x="6971" y="7671"/>
                </a:cubicBezTo>
                <a:close/>
                <a:moveTo>
                  <a:pt x="18214" y="7598"/>
                </a:moveTo>
                <a:cubicBezTo>
                  <a:pt x="17745" y="7598"/>
                  <a:pt x="17493" y="8645"/>
                  <a:pt x="17493" y="10743"/>
                </a:cubicBezTo>
                <a:cubicBezTo>
                  <a:pt x="17493" y="12840"/>
                  <a:pt x="17733" y="13933"/>
                  <a:pt x="18214" y="13933"/>
                </a:cubicBezTo>
                <a:cubicBezTo>
                  <a:pt x="18684" y="13933"/>
                  <a:pt x="18918" y="12870"/>
                  <a:pt x="18918" y="10743"/>
                </a:cubicBezTo>
                <a:cubicBezTo>
                  <a:pt x="18918" y="8615"/>
                  <a:pt x="18684" y="7598"/>
                  <a:pt x="18214" y="7598"/>
                </a:cubicBezTo>
                <a:close/>
                <a:moveTo>
                  <a:pt x="2441" y="6390"/>
                </a:moveTo>
                <a:cubicBezTo>
                  <a:pt x="2513" y="6396"/>
                  <a:pt x="2559" y="6475"/>
                  <a:pt x="2540" y="6543"/>
                </a:cubicBezTo>
                <a:cubicBezTo>
                  <a:pt x="2470" y="6807"/>
                  <a:pt x="2564" y="6731"/>
                  <a:pt x="2574" y="7216"/>
                </a:cubicBezTo>
                <a:cubicBezTo>
                  <a:pt x="2581" y="7573"/>
                  <a:pt x="2552" y="7773"/>
                  <a:pt x="2526" y="7884"/>
                </a:cubicBezTo>
                <a:cubicBezTo>
                  <a:pt x="2472" y="7909"/>
                  <a:pt x="2407" y="7964"/>
                  <a:pt x="2329" y="8062"/>
                </a:cubicBezTo>
                <a:cubicBezTo>
                  <a:pt x="2283" y="8122"/>
                  <a:pt x="2243" y="8190"/>
                  <a:pt x="2207" y="8254"/>
                </a:cubicBezTo>
                <a:cubicBezTo>
                  <a:pt x="2198" y="8228"/>
                  <a:pt x="2188" y="8203"/>
                  <a:pt x="2176" y="8160"/>
                </a:cubicBezTo>
                <a:cubicBezTo>
                  <a:pt x="2056" y="7747"/>
                  <a:pt x="2059" y="7024"/>
                  <a:pt x="2186" y="6684"/>
                </a:cubicBezTo>
                <a:cubicBezTo>
                  <a:pt x="2271" y="6454"/>
                  <a:pt x="2369" y="6385"/>
                  <a:pt x="2441" y="6390"/>
                </a:cubicBezTo>
                <a:close/>
                <a:moveTo>
                  <a:pt x="14650" y="6199"/>
                </a:moveTo>
                <a:lnTo>
                  <a:pt x="15660" y="6199"/>
                </a:lnTo>
                <a:cubicBezTo>
                  <a:pt x="16388" y="6199"/>
                  <a:pt x="16752" y="7641"/>
                  <a:pt x="16752" y="10526"/>
                </a:cubicBezTo>
                <a:cubicBezTo>
                  <a:pt x="16752" y="13742"/>
                  <a:pt x="16389" y="15350"/>
                  <a:pt x="15660" y="15350"/>
                </a:cubicBezTo>
                <a:lnTo>
                  <a:pt x="15660" y="15346"/>
                </a:lnTo>
                <a:lnTo>
                  <a:pt x="14650" y="15346"/>
                </a:lnTo>
                <a:close/>
                <a:moveTo>
                  <a:pt x="6026" y="6199"/>
                </a:moveTo>
                <a:lnTo>
                  <a:pt x="7036" y="6199"/>
                </a:lnTo>
                <a:cubicBezTo>
                  <a:pt x="7764" y="6199"/>
                  <a:pt x="8128" y="7641"/>
                  <a:pt x="8128" y="10526"/>
                </a:cubicBezTo>
                <a:cubicBezTo>
                  <a:pt x="8128" y="13742"/>
                  <a:pt x="7764" y="15350"/>
                  <a:pt x="7036" y="15350"/>
                </a:cubicBezTo>
                <a:lnTo>
                  <a:pt x="7036" y="15346"/>
                </a:lnTo>
                <a:lnTo>
                  <a:pt x="6026" y="15346"/>
                </a:lnTo>
                <a:close/>
                <a:moveTo>
                  <a:pt x="12890" y="6195"/>
                </a:moveTo>
                <a:lnTo>
                  <a:pt x="13354" y="6195"/>
                </a:lnTo>
                <a:lnTo>
                  <a:pt x="14364" y="15346"/>
                </a:lnTo>
                <a:lnTo>
                  <a:pt x="13899" y="15346"/>
                </a:lnTo>
                <a:lnTo>
                  <a:pt x="13606" y="12849"/>
                </a:lnTo>
                <a:lnTo>
                  <a:pt x="12860" y="12849"/>
                </a:lnTo>
                <a:lnTo>
                  <a:pt x="13008" y="11377"/>
                </a:lnTo>
                <a:lnTo>
                  <a:pt x="13493" y="11377"/>
                </a:lnTo>
                <a:lnTo>
                  <a:pt x="13111" y="7943"/>
                </a:lnTo>
                <a:lnTo>
                  <a:pt x="12345" y="15346"/>
                </a:lnTo>
                <a:lnTo>
                  <a:pt x="11902" y="15346"/>
                </a:lnTo>
                <a:close/>
                <a:moveTo>
                  <a:pt x="10356" y="6195"/>
                </a:moveTo>
                <a:lnTo>
                  <a:pt x="12123" y="6195"/>
                </a:lnTo>
                <a:lnTo>
                  <a:pt x="12123" y="7667"/>
                </a:lnTo>
                <a:lnTo>
                  <a:pt x="11455" y="7667"/>
                </a:lnTo>
                <a:lnTo>
                  <a:pt x="11455" y="15346"/>
                </a:lnTo>
                <a:lnTo>
                  <a:pt x="11024" y="15346"/>
                </a:lnTo>
                <a:lnTo>
                  <a:pt x="11024" y="7667"/>
                </a:lnTo>
                <a:lnTo>
                  <a:pt x="10356" y="7667"/>
                </a:lnTo>
                <a:close/>
                <a:moveTo>
                  <a:pt x="9124" y="6195"/>
                </a:moveTo>
                <a:lnTo>
                  <a:pt x="9589" y="6195"/>
                </a:lnTo>
                <a:lnTo>
                  <a:pt x="10599" y="15346"/>
                </a:lnTo>
                <a:lnTo>
                  <a:pt x="10135" y="15346"/>
                </a:lnTo>
                <a:lnTo>
                  <a:pt x="9842" y="12849"/>
                </a:lnTo>
                <a:lnTo>
                  <a:pt x="9096" y="12849"/>
                </a:lnTo>
                <a:lnTo>
                  <a:pt x="9244" y="11377"/>
                </a:lnTo>
                <a:lnTo>
                  <a:pt x="9728" y="11377"/>
                </a:lnTo>
                <a:lnTo>
                  <a:pt x="9347" y="7943"/>
                </a:lnTo>
                <a:lnTo>
                  <a:pt x="8580" y="15346"/>
                </a:lnTo>
                <a:lnTo>
                  <a:pt x="8136" y="15346"/>
                </a:lnTo>
                <a:close/>
                <a:moveTo>
                  <a:pt x="20915" y="6135"/>
                </a:moveTo>
                <a:cubicBezTo>
                  <a:pt x="21170" y="6135"/>
                  <a:pt x="21398" y="6284"/>
                  <a:pt x="21599" y="6582"/>
                </a:cubicBezTo>
                <a:lnTo>
                  <a:pt x="21599" y="8118"/>
                </a:lnTo>
                <a:cubicBezTo>
                  <a:pt x="21398" y="7773"/>
                  <a:pt x="21181" y="7603"/>
                  <a:pt x="20947" y="7603"/>
                </a:cubicBezTo>
                <a:cubicBezTo>
                  <a:pt x="20388" y="7603"/>
                  <a:pt x="20108" y="8615"/>
                  <a:pt x="20108" y="10645"/>
                </a:cubicBezTo>
                <a:cubicBezTo>
                  <a:pt x="20108" y="12840"/>
                  <a:pt x="20372" y="13938"/>
                  <a:pt x="20900" y="13938"/>
                </a:cubicBezTo>
                <a:cubicBezTo>
                  <a:pt x="20977" y="13938"/>
                  <a:pt x="21067" y="13887"/>
                  <a:pt x="21167" y="13785"/>
                </a:cubicBezTo>
                <a:lnTo>
                  <a:pt x="21167" y="11653"/>
                </a:lnTo>
                <a:lnTo>
                  <a:pt x="21169" y="11653"/>
                </a:lnTo>
                <a:lnTo>
                  <a:pt x="21167" y="11640"/>
                </a:lnTo>
                <a:lnTo>
                  <a:pt x="21167" y="11653"/>
                </a:lnTo>
                <a:lnTo>
                  <a:pt x="20757" y="11653"/>
                </a:lnTo>
                <a:lnTo>
                  <a:pt x="20903" y="10147"/>
                </a:lnTo>
                <a:lnTo>
                  <a:pt x="21600" y="10147"/>
                </a:lnTo>
                <a:lnTo>
                  <a:pt x="21600" y="14933"/>
                </a:lnTo>
                <a:cubicBezTo>
                  <a:pt x="21412" y="15257"/>
                  <a:pt x="21177" y="15418"/>
                  <a:pt x="20894" y="15418"/>
                </a:cubicBezTo>
                <a:cubicBezTo>
                  <a:pt x="20071" y="15418"/>
                  <a:pt x="19661" y="13827"/>
                  <a:pt x="19661" y="10649"/>
                </a:cubicBezTo>
                <a:cubicBezTo>
                  <a:pt x="19661" y="7637"/>
                  <a:pt x="20079" y="6135"/>
                  <a:pt x="20915" y="6135"/>
                </a:cubicBezTo>
                <a:close/>
                <a:moveTo>
                  <a:pt x="18214" y="6126"/>
                </a:moveTo>
                <a:cubicBezTo>
                  <a:pt x="18994" y="6126"/>
                  <a:pt x="19366" y="7675"/>
                  <a:pt x="19366" y="10781"/>
                </a:cubicBezTo>
                <a:cubicBezTo>
                  <a:pt x="19366" y="13887"/>
                  <a:pt x="18982" y="15410"/>
                  <a:pt x="18214" y="15410"/>
                </a:cubicBezTo>
                <a:cubicBezTo>
                  <a:pt x="17447" y="15410"/>
                  <a:pt x="17079" y="13865"/>
                  <a:pt x="17045" y="10781"/>
                </a:cubicBezTo>
                <a:cubicBezTo>
                  <a:pt x="17045" y="7679"/>
                  <a:pt x="17435" y="6126"/>
                  <a:pt x="18214" y="6126"/>
                </a:cubicBezTo>
                <a:close/>
                <a:moveTo>
                  <a:pt x="3405" y="5888"/>
                </a:moveTo>
                <a:cubicBezTo>
                  <a:pt x="3564" y="6182"/>
                  <a:pt x="3543" y="6735"/>
                  <a:pt x="3548" y="7062"/>
                </a:cubicBezTo>
                <a:cubicBezTo>
                  <a:pt x="3549" y="7156"/>
                  <a:pt x="3549" y="7220"/>
                  <a:pt x="3547" y="7262"/>
                </a:cubicBezTo>
                <a:cubicBezTo>
                  <a:pt x="3524" y="7216"/>
                  <a:pt x="3489" y="7182"/>
                  <a:pt x="3434" y="7190"/>
                </a:cubicBezTo>
                <a:cubicBezTo>
                  <a:pt x="3418" y="7194"/>
                  <a:pt x="3402" y="7203"/>
                  <a:pt x="3387" y="7211"/>
                </a:cubicBezTo>
                <a:cubicBezTo>
                  <a:pt x="3328" y="7088"/>
                  <a:pt x="3294" y="6845"/>
                  <a:pt x="3261" y="6586"/>
                </a:cubicBezTo>
                <a:lnTo>
                  <a:pt x="3254" y="6522"/>
                </a:lnTo>
                <a:lnTo>
                  <a:pt x="3249" y="6492"/>
                </a:lnTo>
                <a:lnTo>
                  <a:pt x="3249" y="6480"/>
                </a:lnTo>
                <a:cubicBezTo>
                  <a:pt x="3232" y="6258"/>
                  <a:pt x="3244" y="6216"/>
                  <a:pt x="3252" y="6148"/>
                </a:cubicBezTo>
                <a:lnTo>
                  <a:pt x="3252" y="6143"/>
                </a:lnTo>
                <a:cubicBezTo>
                  <a:pt x="3259" y="6075"/>
                  <a:pt x="3287" y="6020"/>
                  <a:pt x="3245" y="5961"/>
                </a:cubicBezTo>
                <a:cubicBezTo>
                  <a:pt x="3242" y="5956"/>
                  <a:pt x="3238" y="5948"/>
                  <a:pt x="3232" y="5948"/>
                </a:cubicBezTo>
                <a:cubicBezTo>
                  <a:pt x="3260" y="5812"/>
                  <a:pt x="3345" y="5778"/>
                  <a:pt x="3405" y="5888"/>
                </a:cubicBezTo>
                <a:close/>
                <a:moveTo>
                  <a:pt x="4491" y="0"/>
                </a:moveTo>
                <a:lnTo>
                  <a:pt x="4755" y="10721"/>
                </a:lnTo>
                <a:lnTo>
                  <a:pt x="4892" y="10619"/>
                </a:lnTo>
                <a:lnTo>
                  <a:pt x="4894" y="10615"/>
                </a:lnTo>
                <a:lnTo>
                  <a:pt x="5113" y="19060"/>
                </a:lnTo>
                <a:lnTo>
                  <a:pt x="2416" y="20336"/>
                </a:lnTo>
                <a:lnTo>
                  <a:pt x="2358" y="18690"/>
                </a:lnTo>
                <a:lnTo>
                  <a:pt x="2194" y="18784"/>
                </a:lnTo>
                <a:cubicBezTo>
                  <a:pt x="2208" y="19698"/>
                  <a:pt x="2153" y="20570"/>
                  <a:pt x="2051" y="20987"/>
                </a:cubicBezTo>
                <a:cubicBezTo>
                  <a:pt x="1931" y="21477"/>
                  <a:pt x="1756" y="21600"/>
                  <a:pt x="1571" y="21502"/>
                </a:cubicBezTo>
                <a:cubicBezTo>
                  <a:pt x="1446" y="21438"/>
                  <a:pt x="1353" y="21085"/>
                  <a:pt x="1285" y="20651"/>
                </a:cubicBezTo>
                <a:cubicBezTo>
                  <a:pt x="1541" y="21362"/>
                  <a:pt x="1858" y="21034"/>
                  <a:pt x="1966" y="20439"/>
                </a:cubicBezTo>
                <a:cubicBezTo>
                  <a:pt x="2119" y="19605"/>
                  <a:pt x="2079" y="18813"/>
                  <a:pt x="2023" y="18077"/>
                </a:cubicBezTo>
                <a:cubicBezTo>
                  <a:pt x="1978" y="17499"/>
                  <a:pt x="1858" y="16541"/>
                  <a:pt x="1709" y="16171"/>
                </a:cubicBezTo>
                <a:cubicBezTo>
                  <a:pt x="1558" y="15793"/>
                  <a:pt x="1410" y="15720"/>
                  <a:pt x="1284" y="15771"/>
                </a:cubicBezTo>
                <a:lnTo>
                  <a:pt x="1296" y="15720"/>
                </a:lnTo>
                <a:cubicBezTo>
                  <a:pt x="1477" y="15580"/>
                  <a:pt x="1665" y="15656"/>
                  <a:pt x="1801" y="16001"/>
                </a:cubicBezTo>
                <a:cubicBezTo>
                  <a:pt x="1955" y="16393"/>
                  <a:pt x="2097" y="17065"/>
                  <a:pt x="2171" y="18094"/>
                </a:cubicBezTo>
                <a:cubicBezTo>
                  <a:pt x="2255" y="18048"/>
                  <a:pt x="2267" y="18026"/>
                  <a:pt x="2344" y="17984"/>
                </a:cubicBezTo>
                <a:lnTo>
                  <a:pt x="2171" y="12683"/>
                </a:lnTo>
                <a:lnTo>
                  <a:pt x="2537" y="12525"/>
                </a:lnTo>
                <a:cubicBezTo>
                  <a:pt x="2365" y="12091"/>
                  <a:pt x="2188" y="11470"/>
                  <a:pt x="2110" y="11125"/>
                </a:cubicBezTo>
                <a:cubicBezTo>
                  <a:pt x="2097" y="11087"/>
                  <a:pt x="2099" y="10917"/>
                  <a:pt x="2099" y="10917"/>
                </a:cubicBezTo>
                <a:cubicBezTo>
                  <a:pt x="2170" y="11130"/>
                  <a:pt x="2460" y="11947"/>
                  <a:pt x="2767" y="12321"/>
                </a:cubicBezTo>
                <a:cubicBezTo>
                  <a:pt x="2875" y="12453"/>
                  <a:pt x="3042" y="12504"/>
                  <a:pt x="3187" y="12181"/>
                </a:cubicBezTo>
                <a:cubicBezTo>
                  <a:pt x="3297" y="11934"/>
                  <a:pt x="3430" y="11504"/>
                  <a:pt x="3509" y="11062"/>
                </a:cubicBezTo>
                <a:lnTo>
                  <a:pt x="3523" y="11160"/>
                </a:lnTo>
                <a:cubicBezTo>
                  <a:pt x="3523" y="11228"/>
                  <a:pt x="3486" y="11547"/>
                  <a:pt x="3468" y="11674"/>
                </a:cubicBezTo>
                <a:cubicBezTo>
                  <a:pt x="3501" y="11751"/>
                  <a:pt x="3526" y="11768"/>
                  <a:pt x="3564" y="11810"/>
                </a:cubicBezTo>
                <a:lnTo>
                  <a:pt x="3819" y="11653"/>
                </a:lnTo>
                <a:cubicBezTo>
                  <a:pt x="3910" y="11074"/>
                  <a:pt x="3976" y="10134"/>
                  <a:pt x="3906" y="9245"/>
                </a:cubicBezTo>
                <a:cubicBezTo>
                  <a:pt x="3866" y="8734"/>
                  <a:pt x="3658" y="7713"/>
                  <a:pt x="3643" y="7658"/>
                </a:cubicBezTo>
                <a:cubicBezTo>
                  <a:pt x="3590" y="7462"/>
                  <a:pt x="3652" y="6701"/>
                  <a:pt x="3548" y="5867"/>
                </a:cubicBezTo>
                <a:cubicBezTo>
                  <a:pt x="3439" y="4986"/>
                  <a:pt x="3154" y="4067"/>
                  <a:pt x="3030" y="3667"/>
                </a:cubicBezTo>
                <a:cubicBezTo>
                  <a:pt x="3067" y="3769"/>
                  <a:pt x="3290" y="4127"/>
                  <a:pt x="3395" y="4625"/>
                </a:cubicBezTo>
                <a:cubicBezTo>
                  <a:pt x="3405" y="4574"/>
                  <a:pt x="3409" y="4306"/>
                  <a:pt x="3418" y="4237"/>
                </a:cubicBezTo>
                <a:cubicBezTo>
                  <a:pt x="3328" y="3778"/>
                  <a:pt x="3321" y="2953"/>
                  <a:pt x="3321" y="2731"/>
                </a:cubicBezTo>
                <a:cubicBezTo>
                  <a:pt x="3321" y="2327"/>
                  <a:pt x="3269" y="1868"/>
                  <a:pt x="3269" y="1868"/>
                </a:cubicBezTo>
                <a:cubicBezTo>
                  <a:pt x="3269" y="1868"/>
                  <a:pt x="3360" y="2149"/>
                  <a:pt x="3382" y="2629"/>
                </a:cubicBezTo>
                <a:cubicBezTo>
                  <a:pt x="3409" y="3199"/>
                  <a:pt x="3468" y="3650"/>
                  <a:pt x="3546" y="4029"/>
                </a:cubicBezTo>
                <a:cubicBezTo>
                  <a:pt x="3693" y="4748"/>
                  <a:pt x="3824" y="5114"/>
                  <a:pt x="3892" y="4850"/>
                </a:cubicBezTo>
                <a:cubicBezTo>
                  <a:pt x="3971" y="4531"/>
                  <a:pt x="3812" y="3106"/>
                  <a:pt x="3605" y="2310"/>
                </a:cubicBezTo>
                <a:cubicBezTo>
                  <a:pt x="3365" y="1383"/>
                  <a:pt x="3301" y="1502"/>
                  <a:pt x="3161" y="1702"/>
                </a:cubicBezTo>
                <a:cubicBezTo>
                  <a:pt x="3048" y="1859"/>
                  <a:pt x="2988" y="3119"/>
                  <a:pt x="2695" y="3093"/>
                </a:cubicBezTo>
                <a:cubicBezTo>
                  <a:pt x="2645" y="3072"/>
                  <a:pt x="2517" y="3059"/>
                  <a:pt x="2454" y="3059"/>
                </a:cubicBezTo>
                <a:cubicBezTo>
                  <a:pt x="2487" y="2880"/>
                  <a:pt x="2515" y="2740"/>
                  <a:pt x="2515" y="2740"/>
                </a:cubicBezTo>
                <a:cubicBezTo>
                  <a:pt x="2515" y="2740"/>
                  <a:pt x="2417" y="2897"/>
                  <a:pt x="2334" y="3093"/>
                </a:cubicBezTo>
                <a:lnTo>
                  <a:pt x="2327" y="3055"/>
                </a:lnTo>
                <a:cubicBezTo>
                  <a:pt x="2355" y="2821"/>
                  <a:pt x="2386" y="2672"/>
                  <a:pt x="2386" y="2672"/>
                </a:cubicBezTo>
                <a:cubicBezTo>
                  <a:pt x="2386" y="2672"/>
                  <a:pt x="2307" y="2859"/>
                  <a:pt x="2235" y="3080"/>
                </a:cubicBezTo>
                <a:cubicBezTo>
                  <a:pt x="2248" y="2804"/>
                  <a:pt x="2298" y="2625"/>
                  <a:pt x="2298" y="2625"/>
                </a:cubicBezTo>
                <a:cubicBezTo>
                  <a:pt x="2298" y="2625"/>
                  <a:pt x="2199" y="2693"/>
                  <a:pt x="2072" y="3242"/>
                </a:cubicBezTo>
                <a:cubicBezTo>
                  <a:pt x="1928" y="3395"/>
                  <a:pt x="1894" y="3497"/>
                  <a:pt x="1779" y="3697"/>
                </a:cubicBezTo>
                <a:cubicBezTo>
                  <a:pt x="1593" y="3535"/>
                  <a:pt x="1505" y="3280"/>
                  <a:pt x="1421" y="2804"/>
                </a:cubicBezTo>
                <a:cubicBezTo>
                  <a:pt x="1358" y="2442"/>
                  <a:pt x="1244" y="2387"/>
                  <a:pt x="1129" y="2574"/>
                </a:cubicBezTo>
                <a:cubicBezTo>
                  <a:pt x="960" y="2846"/>
                  <a:pt x="746" y="3225"/>
                  <a:pt x="746" y="3225"/>
                </a:cubicBezTo>
                <a:cubicBezTo>
                  <a:pt x="746" y="3225"/>
                  <a:pt x="816" y="3212"/>
                  <a:pt x="889" y="3225"/>
                </a:cubicBezTo>
                <a:cubicBezTo>
                  <a:pt x="790" y="3374"/>
                  <a:pt x="694" y="3578"/>
                  <a:pt x="694" y="3578"/>
                </a:cubicBezTo>
                <a:cubicBezTo>
                  <a:pt x="694" y="3578"/>
                  <a:pt x="740" y="3578"/>
                  <a:pt x="798" y="3578"/>
                </a:cubicBezTo>
                <a:cubicBezTo>
                  <a:pt x="758" y="3706"/>
                  <a:pt x="736" y="3769"/>
                  <a:pt x="698" y="3867"/>
                </a:cubicBezTo>
                <a:cubicBezTo>
                  <a:pt x="608" y="4127"/>
                  <a:pt x="534" y="4429"/>
                  <a:pt x="534" y="4429"/>
                </a:cubicBezTo>
                <a:cubicBezTo>
                  <a:pt x="534" y="4429"/>
                  <a:pt x="596" y="4318"/>
                  <a:pt x="651" y="4254"/>
                </a:cubicBezTo>
                <a:cubicBezTo>
                  <a:pt x="612" y="4603"/>
                  <a:pt x="535" y="4859"/>
                  <a:pt x="549" y="5288"/>
                </a:cubicBezTo>
                <a:cubicBezTo>
                  <a:pt x="563" y="5680"/>
                  <a:pt x="684" y="6484"/>
                  <a:pt x="842" y="6977"/>
                </a:cubicBezTo>
                <a:cubicBezTo>
                  <a:pt x="855" y="7024"/>
                  <a:pt x="1070" y="7803"/>
                  <a:pt x="1232" y="7484"/>
                </a:cubicBezTo>
                <a:cubicBezTo>
                  <a:pt x="1394" y="7160"/>
                  <a:pt x="1458" y="6875"/>
                  <a:pt x="1485" y="6437"/>
                </a:cubicBezTo>
                <a:cubicBezTo>
                  <a:pt x="1517" y="5931"/>
                  <a:pt x="1499" y="5552"/>
                  <a:pt x="1432" y="4459"/>
                </a:cubicBezTo>
                <a:cubicBezTo>
                  <a:pt x="1411" y="4097"/>
                  <a:pt x="1353" y="3353"/>
                  <a:pt x="1325" y="2999"/>
                </a:cubicBezTo>
                <a:lnTo>
                  <a:pt x="1332" y="2982"/>
                </a:lnTo>
                <a:cubicBezTo>
                  <a:pt x="1385" y="3421"/>
                  <a:pt x="1520" y="4582"/>
                  <a:pt x="1575" y="5361"/>
                </a:cubicBezTo>
                <a:cubicBezTo>
                  <a:pt x="1660" y="6577"/>
                  <a:pt x="1633" y="7194"/>
                  <a:pt x="1594" y="7420"/>
                </a:cubicBezTo>
                <a:cubicBezTo>
                  <a:pt x="1477" y="8105"/>
                  <a:pt x="1175" y="8194"/>
                  <a:pt x="1038" y="7816"/>
                </a:cubicBezTo>
                <a:cubicBezTo>
                  <a:pt x="1016" y="9122"/>
                  <a:pt x="1091" y="9700"/>
                  <a:pt x="1116" y="9990"/>
                </a:cubicBezTo>
                <a:cubicBezTo>
                  <a:pt x="1103" y="10321"/>
                  <a:pt x="1158" y="10943"/>
                  <a:pt x="1158" y="10943"/>
                </a:cubicBezTo>
                <a:cubicBezTo>
                  <a:pt x="1158" y="10943"/>
                  <a:pt x="1164" y="10662"/>
                  <a:pt x="1189" y="10513"/>
                </a:cubicBezTo>
                <a:cubicBezTo>
                  <a:pt x="1196" y="10845"/>
                  <a:pt x="1238" y="11236"/>
                  <a:pt x="1238" y="11236"/>
                </a:cubicBezTo>
                <a:cubicBezTo>
                  <a:pt x="1238" y="11236"/>
                  <a:pt x="1234" y="10994"/>
                  <a:pt x="1254" y="10785"/>
                </a:cubicBezTo>
                <a:cubicBezTo>
                  <a:pt x="1281" y="10968"/>
                  <a:pt x="1300" y="11011"/>
                  <a:pt x="1326" y="11147"/>
                </a:cubicBezTo>
                <a:cubicBezTo>
                  <a:pt x="1351" y="11500"/>
                  <a:pt x="1403" y="11759"/>
                  <a:pt x="1403" y="11759"/>
                </a:cubicBezTo>
                <a:cubicBezTo>
                  <a:pt x="1403" y="11759"/>
                  <a:pt x="1394" y="11568"/>
                  <a:pt x="1399" y="11372"/>
                </a:cubicBezTo>
                <a:cubicBezTo>
                  <a:pt x="1524" y="11844"/>
                  <a:pt x="1546" y="12542"/>
                  <a:pt x="1559" y="13074"/>
                </a:cubicBezTo>
                <a:cubicBezTo>
                  <a:pt x="1594" y="14542"/>
                  <a:pt x="972" y="15708"/>
                  <a:pt x="851" y="16627"/>
                </a:cubicBezTo>
                <a:cubicBezTo>
                  <a:pt x="759" y="17171"/>
                  <a:pt x="705" y="18031"/>
                  <a:pt x="859" y="18537"/>
                </a:cubicBezTo>
                <a:cubicBezTo>
                  <a:pt x="972" y="18898"/>
                  <a:pt x="1037" y="19183"/>
                  <a:pt x="1079" y="19422"/>
                </a:cubicBezTo>
                <a:lnTo>
                  <a:pt x="553" y="19724"/>
                </a:lnTo>
                <a:lnTo>
                  <a:pt x="0" y="2051"/>
                </a:lnTo>
                <a:close/>
              </a:path>
            </a:pathLst>
          </a:custGeom>
          <a:solidFill>
            <a:srgbClr val="632CA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143" name="Google Shape;56;p8"/>
          <p:cNvSpPr/>
          <p:nvPr/>
        </p:nvSpPr>
        <p:spPr>
          <a:xfrm>
            <a:off x="0" y="0"/>
            <a:ext cx="4161003" cy="68580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90000">
                <a:srgbClr val="9C43FE"/>
              </a:gs>
              <a:gs pos="100000">
                <a:srgbClr val="9C43FE"/>
              </a:gs>
            </a:gsLst>
            <a:lin ang="2700005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</a:p>
        </p:txBody>
      </p:sp>
      <p:sp>
        <p:nvSpPr>
          <p:cNvPr id="144" name="Title Text"/>
          <p:cNvSpPr txBox="1"/>
          <p:nvPr>
            <p:ph type="title"/>
          </p:nvPr>
        </p:nvSpPr>
        <p:spPr>
          <a:xfrm>
            <a:off x="685800" y="311150"/>
            <a:ext cx="2755900" cy="10656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46" name="Body Level One…"/>
          <p:cNvSpPr txBox="1"/>
          <p:nvPr>
            <p:ph type="body" sz="quarter" idx="1"/>
          </p:nvPr>
        </p:nvSpPr>
        <p:spPr>
          <a:xfrm>
            <a:off x="685800" y="1687922"/>
            <a:ext cx="2755801" cy="4560601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  <a:lvl2pPr marL="228600" indent="457200">
              <a:buSzTx/>
              <a:buNone/>
              <a:defRPr sz="1400">
                <a:solidFill>
                  <a:srgbClr val="FFFFFF"/>
                </a:solidFill>
              </a:defRPr>
            </a:lvl2pPr>
            <a:lvl3pPr marL="228600" indent="914400">
              <a:buSzTx/>
              <a:buNone/>
              <a:defRPr sz="1400">
                <a:solidFill>
                  <a:srgbClr val="FFFFFF"/>
                </a:solidFill>
              </a:defRPr>
            </a:lvl3pPr>
            <a:lvl4pPr marL="228600" indent="1371600">
              <a:buSzTx/>
              <a:buNone/>
              <a:defRPr sz="1400">
                <a:solidFill>
                  <a:srgbClr val="FFFFFF"/>
                </a:solidFill>
              </a:defRPr>
            </a:lvl4pPr>
            <a:lvl5pPr marL="228600" indent="1828800">
              <a:buSzTx/>
              <a:buNone/>
              <a:defRPr sz="1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7" name="Google Shape;61;p8"/>
          <p:cNvSpPr txBox="1"/>
          <p:nvPr>
            <p:ph type="body" idx="21"/>
          </p:nvPr>
        </p:nvSpPr>
        <p:spPr>
          <a:xfrm>
            <a:off x="4718951" y="801850"/>
            <a:ext cx="6771300" cy="5254200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+ Content_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56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7" name="Google Shape;66;p9"/>
          <p:cNvSpPr/>
          <p:nvPr/>
        </p:nvSpPr>
        <p:spPr>
          <a:xfrm>
            <a:off x="10585766" y="6450774"/>
            <a:ext cx="1080115" cy="2747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33" fill="norm" stroke="1" extrusionOk="0">
                <a:moveTo>
                  <a:pt x="4627" y="12440"/>
                </a:moveTo>
                <a:lnTo>
                  <a:pt x="4750" y="17639"/>
                </a:lnTo>
                <a:lnTo>
                  <a:pt x="2635" y="19175"/>
                </a:lnTo>
                <a:lnTo>
                  <a:pt x="2616" y="18439"/>
                </a:lnTo>
                <a:lnTo>
                  <a:pt x="3005" y="16103"/>
                </a:lnTo>
                <a:lnTo>
                  <a:pt x="3447" y="16610"/>
                </a:lnTo>
                <a:lnTo>
                  <a:pt x="3827" y="14112"/>
                </a:lnTo>
                <a:lnTo>
                  <a:pt x="4281" y="15293"/>
                </a:lnTo>
                <a:lnTo>
                  <a:pt x="4281" y="15295"/>
                </a:lnTo>
                <a:lnTo>
                  <a:pt x="4282" y="15295"/>
                </a:lnTo>
                <a:lnTo>
                  <a:pt x="4281" y="15293"/>
                </a:lnTo>
                <a:close/>
                <a:moveTo>
                  <a:pt x="4755" y="11377"/>
                </a:moveTo>
                <a:lnTo>
                  <a:pt x="3365" y="12368"/>
                </a:lnTo>
                <a:cubicBezTo>
                  <a:pt x="3332" y="12542"/>
                  <a:pt x="3246" y="12849"/>
                  <a:pt x="3205" y="12929"/>
                </a:cubicBezTo>
                <a:cubicBezTo>
                  <a:pt x="3030" y="13274"/>
                  <a:pt x="2911" y="13176"/>
                  <a:pt x="2808" y="13070"/>
                </a:cubicBezTo>
                <a:cubicBezTo>
                  <a:pt x="2742" y="13006"/>
                  <a:pt x="2705" y="12968"/>
                  <a:pt x="2649" y="12870"/>
                </a:cubicBezTo>
                <a:lnTo>
                  <a:pt x="2310" y="13053"/>
                </a:lnTo>
                <a:lnTo>
                  <a:pt x="2310" y="13057"/>
                </a:lnTo>
                <a:lnTo>
                  <a:pt x="2515" y="19822"/>
                </a:lnTo>
                <a:lnTo>
                  <a:pt x="4897" y="18133"/>
                </a:lnTo>
                <a:close/>
                <a:moveTo>
                  <a:pt x="3698" y="9185"/>
                </a:moveTo>
                <a:cubicBezTo>
                  <a:pt x="3739" y="9275"/>
                  <a:pt x="3739" y="9551"/>
                  <a:pt x="3711" y="9811"/>
                </a:cubicBezTo>
                <a:cubicBezTo>
                  <a:pt x="3670" y="10185"/>
                  <a:pt x="3612" y="10598"/>
                  <a:pt x="3546" y="10632"/>
                </a:cubicBezTo>
                <a:cubicBezTo>
                  <a:pt x="3437" y="10692"/>
                  <a:pt x="3336" y="10462"/>
                  <a:pt x="3219" y="10117"/>
                </a:cubicBezTo>
                <a:cubicBezTo>
                  <a:pt x="3178" y="9994"/>
                  <a:pt x="3152" y="9696"/>
                  <a:pt x="3208" y="9526"/>
                </a:cubicBezTo>
                <a:cubicBezTo>
                  <a:pt x="3239" y="9428"/>
                  <a:pt x="3380" y="9249"/>
                  <a:pt x="3511" y="9190"/>
                </a:cubicBezTo>
                <a:cubicBezTo>
                  <a:pt x="3579" y="9160"/>
                  <a:pt x="3677" y="9139"/>
                  <a:pt x="3698" y="9185"/>
                </a:cubicBezTo>
                <a:close/>
                <a:moveTo>
                  <a:pt x="15082" y="7671"/>
                </a:moveTo>
                <a:lnTo>
                  <a:pt x="15082" y="13878"/>
                </a:lnTo>
                <a:lnTo>
                  <a:pt x="15595" y="13878"/>
                </a:lnTo>
                <a:cubicBezTo>
                  <a:pt x="16078" y="13878"/>
                  <a:pt x="16321" y="12759"/>
                  <a:pt x="16321" y="10526"/>
                </a:cubicBezTo>
                <a:cubicBezTo>
                  <a:pt x="16321" y="8624"/>
                  <a:pt x="16078" y="7671"/>
                  <a:pt x="15595" y="7671"/>
                </a:cubicBezTo>
                <a:close/>
                <a:moveTo>
                  <a:pt x="6458" y="7671"/>
                </a:moveTo>
                <a:lnTo>
                  <a:pt x="6458" y="13878"/>
                </a:lnTo>
                <a:lnTo>
                  <a:pt x="6971" y="13878"/>
                </a:lnTo>
                <a:cubicBezTo>
                  <a:pt x="7454" y="13878"/>
                  <a:pt x="7695" y="12759"/>
                  <a:pt x="7695" y="10526"/>
                </a:cubicBezTo>
                <a:cubicBezTo>
                  <a:pt x="7695" y="8624"/>
                  <a:pt x="7454" y="7671"/>
                  <a:pt x="6971" y="7671"/>
                </a:cubicBezTo>
                <a:close/>
                <a:moveTo>
                  <a:pt x="18214" y="7598"/>
                </a:moveTo>
                <a:cubicBezTo>
                  <a:pt x="17745" y="7598"/>
                  <a:pt x="17493" y="8645"/>
                  <a:pt x="17493" y="10743"/>
                </a:cubicBezTo>
                <a:cubicBezTo>
                  <a:pt x="17493" y="12840"/>
                  <a:pt x="17733" y="13933"/>
                  <a:pt x="18214" y="13933"/>
                </a:cubicBezTo>
                <a:cubicBezTo>
                  <a:pt x="18684" y="13933"/>
                  <a:pt x="18918" y="12870"/>
                  <a:pt x="18918" y="10743"/>
                </a:cubicBezTo>
                <a:cubicBezTo>
                  <a:pt x="18918" y="8615"/>
                  <a:pt x="18684" y="7598"/>
                  <a:pt x="18214" y="7598"/>
                </a:cubicBezTo>
                <a:close/>
                <a:moveTo>
                  <a:pt x="2441" y="6390"/>
                </a:moveTo>
                <a:cubicBezTo>
                  <a:pt x="2513" y="6396"/>
                  <a:pt x="2559" y="6475"/>
                  <a:pt x="2540" y="6543"/>
                </a:cubicBezTo>
                <a:cubicBezTo>
                  <a:pt x="2470" y="6807"/>
                  <a:pt x="2564" y="6731"/>
                  <a:pt x="2574" y="7216"/>
                </a:cubicBezTo>
                <a:cubicBezTo>
                  <a:pt x="2581" y="7573"/>
                  <a:pt x="2552" y="7773"/>
                  <a:pt x="2526" y="7884"/>
                </a:cubicBezTo>
                <a:cubicBezTo>
                  <a:pt x="2472" y="7909"/>
                  <a:pt x="2407" y="7964"/>
                  <a:pt x="2329" y="8062"/>
                </a:cubicBezTo>
                <a:cubicBezTo>
                  <a:pt x="2283" y="8122"/>
                  <a:pt x="2243" y="8190"/>
                  <a:pt x="2207" y="8254"/>
                </a:cubicBezTo>
                <a:cubicBezTo>
                  <a:pt x="2198" y="8228"/>
                  <a:pt x="2188" y="8203"/>
                  <a:pt x="2176" y="8160"/>
                </a:cubicBezTo>
                <a:cubicBezTo>
                  <a:pt x="2056" y="7747"/>
                  <a:pt x="2059" y="7024"/>
                  <a:pt x="2186" y="6684"/>
                </a:cubicBezTo>
                <a:cubicBezTo>
                  <a:pt x="2271" y="6454"/>
                  <a:pt x="2369" y="6385"/>
                  <a:pt x="2441" y="6390"/>
                </a:cubicBezTo>
                <a:close/>
                <a:moveTo>
                  <a:pt x="14650" y="6199"/>
                </a:moveTo>
                <a:lnTo>
                  <a:pt x="15660" y="6199"/>
                </a:lnTo>
                <a:cubicBezTo>
                  <a:pt x="16388" y="6199"/>
                  <a:pt x="16752" y="7641"/>
                  <a:pt x="16752" y="10526"/>
                </a:cubicBezTo>
                <a:cubicBezTo>
                  <a:pt x="16752" y="13742"/>
                  <a:pt x="16389" y="15350"/>
                  <a:pt x="15660" y="15350"/>
                </a:cubicBezTo>
                <a:lnTo>
                  <a:pt x="15660" y="15346"/>
                </a:lnTo>
                <a:lnTo>
                  <a:pt x="14650" y="15346"/>
                </a:lnTo>
                <a:close/>
                <a:moveTo>
                  <a:pt x="6026" y="6199"/>
                </a:moveTo>
                <a:lnTo>
                  <a:pt x="7036" y="6199"/>
                </a:lnTo>
                <a:cubicBezTo>
                  <a:pt x="7764" y="6199"/>
                  <a:pt x="8128" y="7641"/>
                  <a:pt x="8128" y="10526"/>
                </a:cubicBezTo>
                <a:cubicBezTo>
                  <a:pt x="8128" y="13742"/>
                  <a:pt x="7764" y="15350"/>
                  <a:pt x="7036" y="15350"/>
                </a:cubicBezTo>
                <a:lnTo>
                  <a:pt x="7036" y="15346"/>
                </a:lnTo>
                <a:lnTo>
                  <a:pt x="6026" y="15346"/>
                </a:lnTo>
                <a:close/>
                <a:moveTo>
                  <a:pt x="12890" y="6195"/>
                </a:moveTo>
                <a:lnTo>
                  <a:pt x="13354" y="6195"/>
                </a:lnTo>
                <a:lnTo>
                  <a:pt x="14364" y="15346"/>
                </a:lnTo>
                <a:lnTo>
                  <a:pt x="13899" y="15346"/>
                </a:lnTo>
                <a:lnTo>
                  <a:pt x="13606" y="12849"/>
                </a:lnTo>
                <a:lnTo>
                  <a:pt x="12860" y="12849"/>
                </a:lnTo>
                <a:lnTo>
                  <a:pt x="13008" y="11377"/>
                </a:lnTo>
                <a:lnTo>
                  <a:pt x="13493" y="11377"/>
                </a:lnTo>
                <a:lnTo>
                  <a:pt x="13111" y="7943"/>
                </a:lnTo>
                <a:lnTo>
                  <a:pt x="12345" y="15346"/>
                </a:lnTo>
                <a:lnTo>
                  <a:pt x="11902" y="15346"/>
                </a:lnTo>
                <a:close/>
                <a:moveTo>
                  <a:pt x="10356" y="6195"/>
                </a:moveTo>
                <a:lnTo>
                  <a:pt x="12123" y="6195"/>
                </a:lnTo>
                <a:lnTo>
                  <a:pt x="12123" y="7667"/>
                </a:lnTo>
                <a:lnTo>
                  <a:pt x="11455" y="7667"/>
                </a:lnTo>
                <a:lnTo>
                  <a:pt x="11455" y="15346"/>
                </a:lnTo>
                <a:lnTo>
                  <a:pt x="11024" y="15346"/>
                </a:lnTo>
                <a:lnTo>
                  <a:pt x="11024" y="7667"/>
                </a:lnTo>
                <a:lnTo>
                  <a:pt x="10356" y="7667"/>
                </a:lnTo>
                <a:close/>
                <a:moveTo>
                  <a:pt x="9124" y="6195"/>
                </a:moveTo>
                <a:lnTo>
                  <a:pt x="9589" y="6195"/>
                </a:lnTo>
                <a:lnTo>
                  <a:pt x="10599" y="15346"/>
                </a:lnTo>
                <a:lnTo>
                  <a:pt x="10135" y="15346"/>
                </a:lnTo>
                <a:lnTo>
                  <a:pt x="9842" y="12849"/>
                </a:lnTo>
                <a:lnTo>
                  <a:pt x="9096" y="12849"/>
                </a:lnTo>
                <a:lnTo>
                  <a:pt x="9244" y="11377"/>
                </a:lnTo>
                <a:lnTo>
                  <a:pt x="9728" y="11377"/>
                </a:lnTo>
                <a:lnTo>
                  <a:pt x="9347" y="7943"/>
                </a:lnTo>
                <a:lnTo>
                  <a:pt x="8580" y="15346"/>
                </a:lnTo>
                <a:lnTo>
                  <a:pt x="8136" y="15346"/>
                </a:lnTo>
                <a:close/>
                <a:moveTo>
                  <a:pt x="20915" y="6135"/>
                </a:moveTo>
                <a:cubicBezTo>
                  <a:pt x="21170" y="6135"/>
                  <a:pt x="21398" y="6284"/>
                  <a:pt x="21599" y="6582"/>
                </a:cubicBezTo>
                <a:lnTo>
                  <a:pt x="21599" y="8118"/>
                </a:lnTo>
                <a:cubicBezTo>
                  <a:pt x="21398" y="7773"/>
                  <a:pt x="21181" y="7603"/>
                  <a:pt x="20947" y="7603"/>
                </a:cubicBezTo>
                <a:cubicBezTo>
                  <a:pt x="20388" y="7603"/>
                  <a:pt x="20108" y="8615"/>
                  <a:pt x="20108" y="10645"/>
                </a:cubicBezTo>
                <a:cubicBezTo>
                  <a:pt x="20108" y="12840"/>
                  <a:pt x="20372" y="13938"/>
                  <a:pt x="20900" y="13938"/>
                </a:cubicBezTo>
                <a:cubicBezTo>
                  <a:pt x="20977" y="13938"/>
                  <a:pt x="21067" y="13887"/>
                  <a:pt x="21167" y="13785"/>
                </a:cubicBezTo>
                <a:lnTo>
                  <a:pt x="21167" y="11653"/>
                </a:lnTo>
                <a:lnTo>
                  <a:pt x="21169" y="11653"/>
                </a:lnTo>
                <a:lnTo>
                  <a:pt x="21167" y="11640"/>
                </a:lnTo>
                <a:lnTo>
                  <a:pt x="21167" y="11653"/>
                </a:lnTo>
                <a:lnTo>
                  <a:pt x="20757" y="11653"/>
                </a:lnTo>
                <a:lnTo>
                  <a:pt x="20903" y="10147"/>
                </a:lnTo>
                <a:lnTo>
                  <a:pt x="21600" y="10147"/>
                </a:lnTo>
                <a:lnTo>
                  <a:pt x="21600" y="14933"/>
                </a:lnTo>
                <a:cubicBezTo>
                  <a:pt x="21412" y="15257"/>
                  <a:pt x="21177" y="15418"/>
                  <a:pt x="20894" y="15418"/>
                </a:cubicBezTo>
                <a:cubicBezTo>
                  <a:pt x="20071" y="15418"/>
                  <a:pt x="19661" y="13827"/>
                  <a:pt x="19661" y="10649"/>
                </a:cubicBezTo>
                <a:cubicBezTo>
                  <a:pt x="19661" y="7637"/>
                  <a:pt x="20079" y="6135"/>
                  <a:pt x="20915" y="6135"/>
                </a:cubicBezTo>
                <a:close/>
                <a:moveTo>
                  <a:pt x="18214" y="6126"/>
                </a:moveTo>
                <a:cubicBezTo>
                  <a:pt x="18994" y="6126"/>
                  <a:pt x="19366" y="7675"/>
                  <a:pt x="19366" y="10781"/>
                </a:cubicBezTo>
                <a:cubicBezTo>
                  <a:pt x="19366" y="13887"/>
                  <a:pt x="18982" y="15410"/>
                  <a:pt x="18214" y="15410"/>
                </a:cubicBezTo>
                <a:cubicBezTo>
                  <a:pt x="17447" y="15410"/>
                  <a:pt x="17079" y="13865"/>
                  <a:pt x="17045" y="10781"/>
                </a:cubicBezTo>
                <a:cubicBezTo>
                  <a:pt x="17045" y="7679"/>
                  <a:pt x="17435" y="6126"/>
                  <a:pt x="18214" y="6126"/>
                </a:cubicBezTo>
                <a:close/>
                <a:moveTo>
                  <a:pt x="3405" y="5888"/>
                </a:moveTo>
                <a:cubicBezTo>
                  <a:pt x="3564" y="6182"/>
                  <a:pt x="3543" y="6735"/>
                  <a:pt x="3548" y="7062"/>
                </a:cubicBezTo>
                <a:cubicBezTo>
                  <a:pt x="3549" y="7156"/>
                  <a:pt x="3549" y="7220"/>
                  <a:pt x="3547" y="7262"/>
                </a:cubicBezTo>
                <a:cubicBezTo>
                  <a:pt x="3524" y="7216"/>
                  <a:pt x="3489" y="7182"/>
                  <a:pt x="3434" y="7190"/>
                </a:cubicBezTo>
                <a:cubicBezTo>
                  <a:pt x="3418" y="7194"/>
                  <a:pt x="3402" y="7203"/>
                  <a:pt x="3387" y="7211"/>
                </a:cubicBezTo>
                <a:cubicBezTo>
                  <a:pt x="3328" y="7088"/>
                  <a:pt x="3294" y="6845"/>
                  <a:pt x="3261" y="6586"/>
                </a:cubicBezTo>
                <a:lnTo>
                  <a:pt x="3254" y="6522"/>
                </a:lnTo>
                <a:lnTo>
                  <a:pt x="3249" y="6492"/>
                </a:lnTo>
                <a:lnTo>
                  <a:pt x="3249" y="6480"/>
                </a:lnTo>
                <a:cubicBezTo>
                  <a:pt x="3232" y="6258"/>
                  <a:pt x="3244" y="6216"/>
                  <a:pt x="3252" y="6148"/>
                </a:cubicBezTo>
                <a:lnTo>
                  <a:pt x="3252" y="6143"/>
                </a:lnTo>
                <a:cubicBezTo>
                  <a:pt x="3259" y="6075"/>
                  <a:pt x="3287" y="6020"/>
                  <a:pt x="3245" y="5961"/>
                </a:cubicBezTo>
                <a:cubicBezTo>
                  <a:pt x="3242" y="5956"/>
                  <a:pt x="3238" y="5948"/>
                  <a:pt x="3232" y="5948"/>
                </a:cubicBezTo>
                <a:cubicBezTo>
                  <a:pt x="3260" y="5812"/>
                  <a:pt x="3345" y="5778"/>
                  <a:pt x="3405" y="5888"/>
                </a:cubicBezTo>
                <a:close/>
                <a:moveTo>
                  <a:pt x="4491" y="0"/>
                </a:moveTo>
                <a:lnTo>
                  <a:pt x="4755" y="10721"/>
                </a:lnTo>
                <a:lnTo>
                  <a:pt x="4892" y="10619"/>
                </a:lnTo>
                <a:lnTo>
                  <a:pt x="4894" y="10615"/>
                </a:lnTo>
                <a:lnTo>
                  <a:pt x="5113" y="19060"/>
                </a:lnTo>
                <a:lnTo>
                  <a:pt x="2416" y="20336"/>
                </a:lnTo>
                <a:lnTo>
                  <a:pt x="2358" y="18690"/>
                </a:lnTo>
                <a:lnTo>
                  <a:pt x="2194" y="18784"/>
                </a:lnTo>
                <a:cubicBezTo>
                  <a:pt x="2208" y="19698"/>
                  <a:pt x="2153" y="20570"/>
                  <a:pt x="2051" y="20987"/>
                </a:cubicBezTo>
                <a:cubicBezTo>
                  <a:pt x="1931" y="21477"/>
                  <a:pt x="1756" y="21600"/>
                  <a:pt x="1571" y="21502"/>
                </a:cubicBezTo>
                <a:cubicBezTo>
                  <a:pt x="1446" y="21438"/>
                  <a:pt x="1353" y="21085"/>
                  <a:pt x="1285" y="20651"/>
                </a:cubicBezTo>
                <a:cubicBezTo>
                  <a:pt x="1541" y="21362"/>
                  <a:pt x="1858" y="21034"/>
                  <a:pt x="1966" y="20439"/>
                </a:cubicBezTo>
                <a:cubicBezTo>
                  <a:pt x="2119" y="19605"/>
                  <a:pt x="2079" y="18813"/>
                  <a:pt x="2023" y="18077"/>
                </a:cubicBezTo>
                <a:cubicBezTo>
                  <a:pt x="1978" y="17499"/>
                  <a:pt x="1858" y="16541"/>
                  <a:pt x="1709" y="16171"/>
                </a:cubicBezTo>
                <a:cubicBezTo>
                  <a:pt x="1558" y="15793"/>
                  <a:pt x="1410" y="15720"/>
                  <a:pt x="1284" y="15771"/>
                </a:cubicBezTo>
                <a:lnTo>
                  <a:pt x="1296" y="15720"/>
                </a:lnTo>
                <a:cubicBezTo>
                  <a:pt x="1477" y="15580"/>
                  <a:pt x="1665" y="15656"/>
                  <a:pt x="1801" y="16001"/>
                </a:cubicBezTo>
                <a:cubicBezTo>
                  <a:pt x="1955" y="16393"/>
                  <a:pt x="2097" y="17065"/>
                  <a:pt x="2171" y="18094"/>
                </a:cubicBezTo>
                <a:cubicBezTo>
                  <a:pt x="2255" y="18048"/>
                  <a:pt x="2267" y="18026"/>
                  <a:pt x="2344" y="17984"/>
                </a:cubicBezTo>
                <a:lnTo>
                  <a:pt x="2171" y="12683"/>
                </a:lnTo>
                <a:lnTo>
                  <a:pt x="2537" y="12525"/>
                </a:lnTo>
                <a:cubicBezTo>
                  <a:pt x="2365" y="12091"/>
                  <a:pt x="2188" y="11470"/>
                  <a:pt x="2110" y="11125"/>
                </a:cubicBezTo>
                <a:cubicBezTo>
                  <a:pt x="2097" y="11087"/>
                  <a:pt x="2099" y="10917"/>
                  <a:pt x="2099" y="10917"/>
                </a:cubicBezTo>
                <a:cubicBezTo>
                  <a:pt x="2170" y="11130"/>
                  <a:pt x="2460" y="11947"/>
                  <a:pt x="2767" y="12321"/>
                </a:cubicBezTo>
                <a:cubicBezTo>
                  <a:pt x="2875" y="12453"/>
                  <a:pt x="3042" y="12504"/>
                  <a:pt x="3187" y="12181"/>
                </a:cubicBezTo>
                <a:cubicBezTo>
                  <a:pt x="3297" y="11934"/>
                  <a:pt x="3430" y="11504"/>
                  <a:pt x="3509" y="11062"/>
                </a:cubicBezTo>
                <a:lnTo>
                  <a:pt x="3523" y="11160"/>
                </a:lnTo>
                <a:cubicBezTo>
                  <a:pt x="3523" y="11228"/>
                  <a:pt x="3486" y="11547"/>
                  <a:pt x="3468" y="11674"/>
                </a:cubicBezTo>
                <a:cubicBezTo>
                  <a:pt x="3501" y="11751"/>
                  <a:pt x="3526" y="11768"/>
                  <a:pt x="3564" y="11810"/>
                </a:cubicBezTo>
                <a:lnTo>
                  <a:pt x="3819" y="11653"/>
                </a:lnTo>
                <a:cubicBezTo>
                  <a:pt x="3910" y="11074"/>
                  <a:pt x="3976" y="10134"/>
                  <a:pt x="3906" y="9245"/>
                </a:cubicBezTo>
                <a:cubicBezTo>
                  <a:pt x="3866" y="8734"/>
                  <a:pt x="3658" y="7713"/>
                  <a:pt x="3643" y="7658"/>
                </a:cubicBezTo>
                <a:cubicBezTo>
                  <a:pt x="3590" y="7462"/>
                  <a:pt x="3652" y="6701"/>
                  <a:pt x="3548" y="5867"/>
                </a:cubicBezTo>
                <a:cubicBezTo>
                  <a:pt x="3439" y="4986"/>
                  <a:pt x="3154" y="4067"/>
                  <a:pt x="3030" y="3667"/>
                </a:cubicBezTo>
                <a:cubicBezTo>
                  <a:pt x="3067" y="3769"/>
                  <a:pt x="3290" y="4127"/>
                  <a:pt x="3395" y="4625"/>
                </a:cubicBezTo>
                <a:cubicBezTo>
                  <a:pt x="3405" y="4574"/>
                  <a:pt x="3409" y="4306"/>
                  <a:pt x="3418" y="4237"/>
                </a:cubicBezTo>
                <a:cubicBezTo>
                  <a:pt x="3328" y="3778"/>
                  <a:pt x="3321" y="2953"/>
                  <a:pt x="3321" y="2731"/>
                </a:cubicBezTo>
                <a:cubicBezTo>
                  <a:pt x="3321" y="2327"/>
                  <a:pt x="3269" y="1868"/>
                  <a:pt x="3269" y="1868"/>
                </a:cubicBezTo>
                <a:cubicBezTo>
                  <a:pt x="3269" y="1868"/>
                  <a:pt x="3360" y="2149"/>
                  <a:pt x="3382" y="2629"/>
                </a:cubicBezTo>
                <a:cubicBezTo>
                  <a:pt x="3409" y="3199"/>
                  <a:pt x="3468" y="3650"/>
                  <a:pt x="3546" y="4029"/>
                </a:cubicBezTo>
                <a:cubicBezTo>
                  <a:pt x="3693" y="4748"/>
                  <a:pt x="3824" y="5114"/>
                  <a:pt x="3892" y="4850"/>
                </a:cubicBezTo>
                <a:cubicBezTo>
                  <a:pt x="3971" y="4531"/>
                  <a:pt x="3812" y="3106"/>
                  <a:pt x="3605" y="2310"/>
                </a:cubicBezTo>
                <a:cubicBezTo>
                  <a:pt x="3365" y="1383"/>
                  <a:pt x="3301" y="1502"/>
                  <a:pt x="3161" y="1702"/>
                </a:cubicBezTo>
                <a:cubicBezTo>
                  <a:pt x="3048" y="1859"/>
                  <a:pt x="2988" y="3119"/>
                  <a:pt x="2695" y="3093"/>
                </a:cubicBezTo>
                <a:cubicBezTo>
                  <a:pt x="2645" y="3072"/>
                  <a:pt x="2517" y="3059"/>
                  <a:pt x="2454" y="3059"/>
                </a:cubicBezTo>
                <a:cubicBezTo>
                  <a:pt x="2487" y="2880"/>
                  <a:pt x="2515" y="2740"/>
                  <a:pt x="2515" y="2740"/>
                </a:cubicBezTo>
                <a:cubicBezTo>
                  <a:pt x="2515" y="2740"/>
                  <a:pt x="2417" y="2897"/>
                  <a:pt x="2334" y="3093"/>
                </a:cubicBezTo>
                <a:lnTo>
                  <a:pt x="2327" y="3055"/>
                </a:lnTo>
                <a:cubicBezTo>
                  <a:pt x="2355" y="2821"/>
                  <a:pt x="2386" y="2672"/>
                  <a:pt x="2386" y="2672"/>
                </a:cubicBezTo>
                <a:cubicBezTo>
                  <a:pt x="2386" y="2672"/>
                  <a:pt x="2307" y="2859"/>
                  <a:pt x="2235" y="3080"/>
                </a:cubicBezTo>
                <a:cubicBezTo>
                  <a:pt x="2248" y="2804"/>
                  <a:pt x="2298" y="2625"/>
                  <a:pt x="2298" y="2625"/>
                </a:cubicBezTo>
                <a:cubicBezTo>
                  <a:pt x="2298" y="2625"/>
                  <a:pt x="2199" y="2693"/>
                  <a:pt x="2072" y="3242"/>
                </a:cubicBezTo>
                <a:cubicBezTo>
                  <a:pt x="1928" y="3395"/>
                  <a:pt x="1894" y="3497"/>
                  <a:pt x="1779" y="3697"/>
                </a:cubicBezTo>
                <a:cubicBezTo>
                  <a:pt x="1593" y="3535"/>
                  <a:pt x="1505" y="3280"/>
                  <a:pt x="1421" y="2804"/>
                </a:cubicBezTo>
                <a:cubicBezTo>
                  <a:pt x="1358" y="2442"/>
                  <a:pt x="1244" y="2387"/>
                  <a:pt x="1129" y="2574"/>
                </a:cubicBezTo>
                <a:cubicBezTo>
                  <a:pt x="960" y="2846"/>
                  <a:pt x="746" y="3225"/>
                  <a:pt x="746" y="3225"/>
                </a:cubicBezTo>
                <a:cubicBezTo>
                  <a:pt x="746" y="3225"/>
                  <a:pt x="816" y="3212"/>
                  <a:pt x="889" y="3225"/>
                </a:cubicBezTo>
                <a:cubicBezTo>
                  <a:pt x="790" y="3374"/>
                  <a:pt x="694" y="3578"/>
                  <a:pt x="694" y="3578"/>
                </a:cubicBezTo>
                <a:cubicBezTo>
                  <a:pt x="694" y="3578"/>
                  <a:pt x="740" y="3578"/>
                  <a:pt x="798" y="3578"/>
                </a:cubicBezTo>
                <a:cubicBezTo>
                  <a:pt x="758" y="3706"/>
                  <a:pt x="736" y="3769"/>
                  <a:pt x="698" y="3867"/>
                </a:cubicBezTo>
                <a:cubicBezTo>
                  <a:pt x="608" y="4127"/>
                  <a:pt x="534" y="4429"/>
                  <a:pt x="534" y="4429"/>
                </a:cubicBezTo>
                <a:cubicBezTo>
                  <a:pt x="534" y="4429"/>
                  <a:pt x="596" y="4318"/>
                  <a:pt x="651" y="4254"/>
                </a:cubicBezTo>
                <a:cubicBezTo>
                  <a:pt x="612" y="4603"/>
                  <a:pt x="535" y="4859"/>
                  <a:pt x="549" y="5288"/>
                </a:cubicBezTo>
                <a:cubicBezTo>
                  <a:pt x="563" y="5680"/>
                  <a:pt x="684" y="6484"/>
                  <a:pt x="842" y="6977"/>
                </a:cubicBezTo>
                <a:cubicBezTo>
                  <a:pt x="855" y="7024"/>
                  <a:pt x="1070" y="7803"/>
                  <a:pt x="1232" y="7484"/>
                </a:cubicBezTo>
                <a:cubicBezTo>
                  <a:pt x="1394" y="7160"/>
                  <a:pt x="1458" y="6875"/>
                  <a:pt x="1485" y="6437"/>
                </a:cubicBezTo>
                <a:cubicBezTo>
                  <a:pt x="1517" y="5931"/>
                  <a:pt x="1499" y="5552"/>
                  <a:pt x="1432" y="4459"/>
                </a:cubicBezTo>
                <a:cubicBezTo>
                  <a:pt x="1411" y="4097"/>
                  <a:pt x="1353" y="3353"/>
                  <a:pt x="1325" y="2999"/>
                </a:cubicBezTo>
                <a:lnTo>
                  <a:pt x="1332" y="2982"/>
                </a:lnTo>
                <a:cubicBezTo>
                  <a:pt x="1385" y="3421"/>
                  <a:pt x="1520" y="4582"/>
                  <a:pt x="1575" y="5361"/>
                </a:cubicBezTo>
                <a:cubicBezTo>
                  <a:pt x="1660" y="6577"/>
                  <a:pt x="1633" y="7194"/>
                  <a:pt x="1594" y="7420"/>
                </a:cubicBezTo>
                <a:cubicBezTo>
                  <a:pt x="1477" y="8105"/>
                  <a:pt x="1175" y="8194"/>
                  <a:pt x="1038" y="7816"/>
                </a:cubicBezTo>
                <a:cubicBezTo>
                  <a:pt x="1016" y="9122"/>
                  <a:pt x="1091" y="9700"/>
                  <a:pt x="1116" y="9990"/>
                </a:cubicBezTo>
                <a:cubicBezTo>
                  <a:pt x="1103" y="10321"/>
                  <a:pt x="1158" y="10943"/>
                  <a:pt x="1158" y="10943"/>
                </a:cubicBezTo>
                <a:cubicBezTo>
                  <a:pt x="1158" y="10943"/>
                  <a:pt x="1164" y="10662"/>
                  <a:pt x="1189" y="10513"/>
                </a:cubicBezTo>
                <a:cubicBezTo>
                  <a:pt x="1196" y="10845"/>
                  <a:pt x="1238" y="11236"/>
                  <a:pt x="1238" y="11236"/>
                </a:cubicBezTo>
                <a:cubicBezTo>
                  <a:pt x="1238" y="11236"/>
                  <a:pt x="1234" y="10994"/>
                  <a:pt x="1254" y="10785"/>
                </a:cubicBezTo>
                <a:cubicBezTo>
                  <a:pt x="1281" y="10968"/>
                  <a:pt x="1300" y="11011"/>
                  <a:pt x="1326" y="11147"/>
                </a:cubicBezTo>
                <a:cubicBezTo>
                  <a:pt x="1351" y="11500"/>
                  <a:pt x="1403" y="11759"/>
                  <a:pt x="1403" y="11759"/>
                </a:cubicBezTo>
                <a:cubicBezTo>
                  <a:pt x="1403" y="11759"/>
                  <a:pt x="1394" y="11568"/>
                  <a:pt x="1399" y="11372"/>
                </a:cubicBezTo>
                <a:cubicBezTo>
                  <a:pt x="1524" y="11844"/>
                  <a:pt x="1546" y="12542"/>
                  <a:pt x="1559" y="13074"/>
                </a:cubicBezTo>
                <a:cubicBezTo>
                  <a:pt x="1594" y="14542"/>
                  <a:pt x="972" y="15708"/>
                  <a:pt x="851" y="16627"/>
                </a:cubicBezTo>
                <a:cubicBezTo>
                  <a:pt x="759" y="17171"/>
                  <a:pt x="705" y="18031"/>
                  <a:pt x="859" y="18537"/>
                </a:cubicBezTo>
                <a:cubicBezTo>
                  <a:pt x="972" y="18898"/>
                  <a:pt x="1037" y="19183"/>
                  <a:pt x="1079" y="19422"/>
                </a:cubicBezTo>
                <a:lnTo>
                  <a:pt x="553" y="19724"/>
                </a:lnTo>
                <a:lnTo>
                  <a:pt x="0" y="2051"/>
                </a:lnTo>
                <a:close/>
              </a:path>
            </a:pathLst>
          </a:custGeom>
          <a:solidFill>
            <a:srgbClr val="632CA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allout_blue">
    <p:bg>
      <p:bgPr>
        <a:gradFill flip="none" rotWithShape="1">
          <a:gsLst>
            <a:gs pos="0">
              <a:schemeClr val="accent2"/>
            </a:gs>
            <a:gs pos="30000">
              <a:schemeClr val="accent2"/>
            </a:gs>
            <a:gs pos="90000">
              <a:schemeClr val="accent4"/>
            </a:gs>
            <a:gs pos="100000">
              <a:schemeClr val="accent4"/>
            </a:gs>
          </a:gsLst>
          <a:lin ang="27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65" name="Title Text"/>
          <p:cNvSpPr txBox="1"/>
          <p:nvPr>
            <p:ph type="title"/>
          </p:nvPr>
        </p:nvSpPr>
        <p:spPr>
          <a:xfrm>
            <a:off x="695323" y="4395789"/>
            <a:ext cx="10795003" cy="1881186"/>
          </a:xfrm>
          <a:prstGeom prst="rect">
            <a:avLst/>
          </a:prstGeom>
        </p:spPr>
        <p:txBody>
          <a:bodyPr anchor="b"/>
          <a:lstStyle>
            <a:lvl1pPr>
              <a:defRPr sz="54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66" name="Google Shape;70;p10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ivider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0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73" name="Google Shape;11;p1" descr="Google Shape;11;p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4" name="Google Shape;12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4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44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</p:grpSp>
      <p:grpSp>
        <p:nvGrpSpPr>
          <p:cNvPr id="183" name="Google Shape;17;p1"/>
          <p:cNvGrpSpPr/>
          <p:nvPr/>
        </p:nvGrpSpPr>
        <p:grpSpPr>
          <a:xfrm>
            <a:off x="0" y="-710591"/>
            <a:ext cx="4109466" cy="479101"/>
            <a:chOff x="0" y="0"/>
            <a:chExt cx="4109465" cy="479100"/>
          </a:xfrm>
        </p:grpSpPr>
        <p:sp>
          <p:nvSpPr>
            <p:cNvPr id="176" name="Google Shape;18;p1"/>
            <p:cNvSpPr/>
            <p:nvPr/>
          </p:nvSpPr>
          <p:spPr>
            <a:xfrm>
              <a:off x="0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90000">
                  <a:srgbClr val="9C43FE"/>
                </a:gs>
                <a:gs pos="100000">
                  <a:srgbClr val="9C43FE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7" name="Google Shape;19;p1"/>
            <p:cNvSpPr/>
            <p:nvPr/>
          </p:nvSpPr>
          <p:spPr>
            <a:xfrm>
              <a:off x="60506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100000">
                  <a:schemeClr val="accent2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78" name="Google Shape;20;p1"/>
            <p:cNvSpPr/>
            <p:nvPr/>
          </p:nvSpPr>
          <p:spPr>
            <a:xfrm>
              <a:off x="121012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30000">
                  <a:schemeClr val="accent2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79" name="Google Shape;21;p1"/>
            <p:cNvSpPr/>
            <p:nvPr/>
          </p:nvSpPr>
          <p:spPr>
            <a:xfrm>
              <a:off x="181518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00B765"/>
                </a:gs>
                <a:gs pos="30000">
                  <a:srgbClr val="00B765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0" name="Google Shape;22;p1"/>
            <p:cNvSpPr/>
            <p:nvPr/>
          </p:nvSpPr>
          <p:spPr>
            <a:xfrm>
              <a:off x="242024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8000FF"/>
                </a:gs>
                <a:gs pos="90000">
                  <a:schemeClr val="accent6"/>
                </a:gs>
                <a:gs pos="100000">
                  <a:schemeClr val="accent6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81" name="Google Shape;23;p1"/>
            <p:cNvSpPr/>
            <p:nvPr/>
          </p:nvSpPr>
          <p:spPr>
            <a:xfrm>
              <a:off x="3025304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6"/>
                </a:gs>
                <a:gs pos="30000">
                  <a:schemeClr val="accent6"/>
                </a:gs>
                <a:gs pos="90000">
                  <a:schemeClr val="accent3"/>
                </a:gs>
                <a:gs pos="100000">
                  <a:schemeClr val="accent3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2" name="Google Shape;24;p1"/>
            <p:cNvSpPr/>
            <p:nvPr/>
          </p:nvSpPr>
          <p:spPr>
            <a:xfrm>
              <a:off x="3630365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30000">
                  <a:schemeClr val="accent3"/>
                </a:gs>
                <a:gs pos="90000">
                  <a:schemeClr val="accent5"/>
                </a:gs>
                <a:gs pos="100000">
                  <a:schemeClr val="accent5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84" name="Google Shape;25;p1"/>
          <p:cNvSpPr/>
          <p:nvPr/>
        </p:nvSpPr>
        <p:spPr>
          <a:xfrm>
            <a:off x="10585766" y="6450774"/>
            <a:ext cx="1080115" cy="2747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33" fill="norm" stroke="1" extrusionOk="0">
                <a:moveTo>
                  <a:pt x="4627" y="12440"/>
                </a:moveTo>
                <a:lnTo>
                  <a:pt x="4750" y="17639"/>
                </a:lnTo>
                <a:lnTo>
                  <a:pt x="2635" y="19175"/>
                </a:lnTo>
                <a:lnTo>
                  <a:pt x="2616" y="18439"/>
                </a:lnTo>
                <a:lnTo>
                  <a:pt x="3005" y="16103"/>
                </a:lnTo>
                <a:lnTo>
                  <a:pt x="3447" y="16610"/>
                </a:lnTo>
                <a:lnTo>
                  <a:pt x="3827" y="14112"/>
                </a:lnTo>
                <a:lnTo>
                  <a:pt x="4281" y="15293"/>
                </a:lnTo>
                <a:lnTo>
                  <a:pt x="4281" y="15295"/>
                </a:lnTo>
                <a:lnTo>
                  <a:pt x="4282" y="15295"/>
                </a:lnTo>
                <a:lnTo>
                  <a:pt x="4281" y="15293"/>
                </a:lnTo>
                <a:close/>
                <a:moveTo>
                  <a:pt x="4755" y="11377"/>
                </a:moveTo>
                <a:lnTo>
                  <a:pt x="3365" y="12368"/>
                </a:lnTo>
                <a:cubicBezTo>
                  <a:pt x="3332" y="12542"/>
                  <a:pt x="3246" y="12849"/>
                  <a:pt x="3205" y="12929"/>
                </a:cubicBezTo>
                <a:cubicBezTo>
                  <a:pt x="3030" y="13274"/>
                  <a:pt x="2911" y="13176"/>
                  <a:pt x="2808" y="13070"/>
                </a:cubicBezTo>
                <a:cubicBezTo>
                  <a:pt x="2742" y="13006"/>
                  <a:pt x="2705" y="12968"/>
                  <a:pt x="2649" y="12870"/>
                </a:cubicBezTo>
                <a:lnTo>
                  <a:pt x="2310" y="13053"/>
                </a:lnTo>
                <a:lnTo>
                  <a:pt x="2310" y="13057"/>
                </a:lnTo>
                <a:lnTo>
                  <a:pt x="2515" y="19822"/>
                </a:lnTo>
                <a:lnTo>
                  <a:pt x="4897" y="18133"/>
                </a:lnTo>
                <a:close/>
                <a:moveTo>
                  <a:pt x="3698" y="9185"/>
                </a:moveTo>
                <a:cubicBezTo>
                  <a:pt x="3739" y="9275"/>
                  <a:pt x="3739" y="9551"/>
                  <a:pt x="3711" y="9811"/>
                </a:cubicBezTo>
                <a:cubicBezTo>
                  <a:pt x="3670" y="10185"/>
                  <a:pt x="3612" y="10598"/>
                  <a:pt x="3546" y="10632"/>
                </a:cubicBezTo>
                <a:cubicBezTo>
                  <a:pt x="3437" y="10692"/>
                  <a:pt x="3336" y="10462"/>
                  <a:pt x="3219" y="10117"/>
                </a:cubicBezTo>
                <a:cubicBezTo>
                  <a:pt x="3178" y="9994"/>
                  <a:pt x="3152" y="9696"/>
                  <a:pt x="3208" y="9526"/>
                </a:cubicBezTo>
                <a:cubicBezTo>
                  <a:pt x="3239" y="9428"/>
                  <a:pt x="3380" y="9249"/>
                  <a:pt x="3511" y="9190"/>
                </a:cubicBezTo>
                <a:cubicBezTo>
                  <a:pt x="3579" y="9160"/>
                  <a:pt x="3677" y="9139"/>
                  <a:pt x="3698" y="9185"/>
                </a:cubicBezTo>
                <a:close/>
                <a:moveTo>
                  <a:pt x="15082" y="7671"/>
                </a:moveTo>
                <a:lnTo>
                  <a:pt x="15082" y="13878"/>
                </a:lnTo>
                <a:lnTo>
                  <a:pt x="15595" y="13878"/>
                </a:lnTo>
                <a:cubicBezTo>
                  <a:pt x="16078" y="13878"/>
                  <a:pt x="16321" y="12759"/>
                  <a:pt x="16321" y="10526"/>
                </a:cubicBezTo>
                <a:cubicBezTo>
                  <a:pt x="16321" y="8624"/>
                  <a:pt x="16078" y="7671"/>
                  <a:pt x="15595" y="7671"/>
                </a:cubicBezTo>
                <a:close/>
                <a:moveTo>
                  <a:pt x="6458" y="7671"/>
                </a:moveTo>
                <a:lnTo>
                  <a:pt x="6458" y="13878"/>
                </a:lnTo>
                <a:lnTo>
                  <a:pt x="6971" y="13878"/>
                </a:lnTo>
                <a:cubicBezTo>
                  <a:pt x="7454" y="13878"/>
                  <a:pt x="7695" y="12759"/>
                  <a:pt x="7695" y="10526"/>
                </a:cubicBezTo>
                <a:cubicBezTo>
                  <a:pt x="7695" y="8624"/>
                  <a:pt x="7454" y="7671"/>
                  <a:pt x="6971" y="7671"/>
                </a:cubicBezTo>
                <a:close/>
                <a:moveTo>
                  <a:pt x="18214" y="7598"/>
                </a:moveTo>
                <a:cubicBezTo>
                  <a:pt x="17745" y="7598"/>
                  <a:pt x="17493" y="8645"/>
                  <a:pt x="17493" y="10743"/>
                </a:cubicBezTo>
                <a:cubicBezTo>
                  <a:pt x="17493" y="12840"/>
                  <a:pt x="17733" y="13933"/>
                  <a:pt x="18214" y="13933"/>
                </a:cubicBezTo>
                <a:cubicBezTo>
                  <a:pt x="18684" y="13933"/>
                  <a:pt x="18918" y="12870"/>
                  <a:pt x="18918" y="10743"/>
                </a:cubicBezTo>
                <a:cubicBezTo>
                  <a:pt x="18918" y="8615"/>
                  <a:pt x="18684" y="7598"/>
                  <a:pt x="18214" y="7598"/>
                </a:cubicBezTo>
                <a:close/>
                <a:moveTo>
                  <a:pt x="2441" y="6390"/>
                </a:moveTo>
                <a:cubicBezTo>
                  <a:pt x="2513" y="6396"/>
                  <a:pt x="2559" y="6475"/>
                  <a:pt x="2540" y="6543"/>
                </a:cubicBezTo>
                <a:cubicBezTo>
                  <a:pt x="2470" y="6807"/>
                  <a:pt x="2564" y="6731"/>
                  <a:pt x="2574" y="7216"/>
                </a:cubicBezTo>
                <a:cubicBezTo>
                  <a:pt x="2581" y="7573"/>
                  <a:pt x="2552" y="7773"/>
                  <a:pt x="2526" y="7884"/>
                </a:cubicBezTo>
                <a:cubicBezTo>
                  <a:pt x="2472" y="7909"/>
                  <a:pt x="2407" y="7964"/>
                  <a:pt x="2329" y="8062"/>
                </a:cubicBezTo>
                <a:cubicBezTo>
                  <a:pt x="2283" y="8122"/>
                  <a:pt x="2243" y="8190"/>
                  <a:pt x="2207" y="8254"/>
                </a:cubicBezTo>
                <a:cubicBezTo>
                  <a:pt x="2198" y="8228"/>
                  <a:pt x="2188" y="8203"/>
                  <a:pt x="2176" y="8160"/>
                </a:cubicBezTo>
                <a:cubicBezTo>
                  <a:pt x="2056" y="7747"/>
                  <a:pt x="2059" y="7024"/>
                  <a:pt x="2186" y="6684"/>
                </a:cubicBezTo>
                <a:cubicBezTo>
                  <a:pt x="2271" y="6454"/>
                  <a:pt x="2369" y="6385"/>
                  <a:pt x="2441" y="6390"/>
                </a:cubicBezTo>
                <a:close/>
                <a:moveTo>
                  <a:pt x="14650" y="6199"/>
                </a:moveTo>
                <a:lnTo>
                  <a:pt x="15660" y="6199"/>
                </a:lnTo>
                <a:cubicBezTo>
                  <a:pt x="16388" y="6199"/>
                  <a:pt x="16752" y="7641"/>
                  <a:pt x="16752" y="10526"/>
                </a:cubicBezTo>
                <a:cubicBezTo>
                  <a:pt x="16752" y="13742"/>
                  <a:pt x="16389" y="15350"/>
                  <a:pt x="15660" y="15350"/>
                </a:cubicBezTo>
                <a:lnTo>
                  <a:pt x="15660" y="15346"/>
                </a:lnTo>
                <a:lnTo>
                  <a:pt x="14650" y="15346"/>
                </a:lnTo>
                <a:close/>
                <a:moveTo>
                  <a:pt x="6026" y="6199"/>
                </a:moveTo>
                <a:lnTo>
                  <a:pt x="7036" y="6199"/>
                </a:lnTo>
                <a:cubicBezTo>
                  <a:pt x="7764" y="6199"/>
                  <a:pt x="8128" y="7641"/>
                  <a:pt x="8128" y="10526"/>
                </a:cubicBezTo>
                <a:cubicBezTo>
                  <a:pt x="8128" y="13742"/>
                  <a:pt x="7764" y="15350"/>
                  <a:pt x="7036" y="15350"/>
                </a:cubicBezTo>
                <a:lnTo>
                  <a:pt x="7036" y="15346"/>
                </a:lnTo>
                <a:lnTo>
                  <a:pt x="6026" y="15346"/>
                </a:lnTo>
                <a:close/>
                <a:moveTo>
                  <a:pt x="12890" y="6195"/>
                </a:moveTo>
                <a:lnTo>
                  <a:pt x="13354" y="6195"/>
                </a:lnTo>
                <a:lnTo>
                  <a:pt x="14364" y="15346"/>
                </a:lnTo>
                <a:lnTo>
                  <a:pt x="13899" y="15346"/>
                </a:lnTo>
                <a:lnTo>
                  <a:pt x="13606" y="12849"/>
                </a:lnTo>
                <a:lnTo>
                  <a:pt x="12860" y="12849"/>
                </a:lnTo>
                <a:lnTo>
                  <a:pt x="13008" y="11377"/>
                </a:lnTo>
                <a:lnTo>
                  <a:pt x="13493" y="11377"/>
                </a:lnTo>
                <a:lnTo>
                  <a:pt x="13111" y="7943"/>
                </a:lnTo>
                <a:lnTo>
                  <a:pt x="12345" y="15346"/>
                </a:lnTo>
                <a:lnTo>
                  <a:pt x="11902" y="15346"/>
                </a:lnTo>
                <a:close/>
                <a:moveTo>
                  <a:pt x="10356" y="6195"/>
                </a:moveTo>
                <a:lnTo>
                  <a:pt x="12123" y="6195"/>
                </a:lnTo>
                <a:lnTo>
                  <a:pt x="12123" y="7667"/>
                </a:lnTo>
                <a:lnTo>
                  <a:pt x="11455" y="7667"/>
                </a:lnTo>
                <a:lnTo>
                  <a:pt x="11455" y="15346"/>
                </a:lnTo>
                <a:lnTo>
                  <a:pt x="11024" y="15346"/>
                </a:lnTo>
                <a:lnTo>
                  <a:pt x="11024" y="7667"/>
                </a:lnTo>
                <a:lnTo>
                  <a:pt x="10356" y="7667"/>
                </a:lnTo>
                <a:close/>
                <a:moveTo>
                  <a:pt x="9124" y="6195"/>
                </a:moveTo>
                <a:lnTo>
                  <a:pt x="9589" y="6195"/>
                </a:lnTo>
                <a:lnTo>
                  <a:pt x="10599" y="15346"/>
                </a:lnTo>
                <a:lnTo>
                  <a:pt x="10135" y="15346"/>
                </a:lnTo>
                <a:lnTo>
                  <a:pt x="9842" y="12849"/>
                </a:lnTo>
                <a:lnTo>
                  <a:pt x="9096" y="12849"/>
                </a:lnTo>
                <a:lnTo>
                  <a:pt x="9244" y="11377"/>
                </a:lnTo>
                <a:lnTo>
                  <a:pt x="9728" y="11377"/>
                </a:lnTo>
                <a:lnTo>
                  <a:pt x="9347" y="7943"/>
                </a:lnTo>
                <a:lnTo>
                  <a:pt x="8580" y="15346"/>
                </a:lnTo>
                <a:lnTo>
                  <a:pt x="8136" y="15346"/>
                </a:lnTo>
                <a:close/>
                <a:moveTo>
                  <a:pt x="20915" y="6135"/>
                </a:moveTo>
                <a:cubicBezTo>
                  <a:pt x="21170" y="6135"/>
                  <a:pt x="21398" y="6284"/>
                  <a:pt x="21599" y="6582"/>
                </a:cubicBezTo>
                <a:lnTo>
                  <a:pt x="21599" y="8118"/>
                </a:lnTo>
                <a:cubicBezTo>
                  <a:pt x="21398" y="7773"/>
                  <a:pt x="21181" y="7603"/>
                  <a:pt x="20947" y="7603"/>
                </a:cubicBezTo>
                <a:cubicBezTo>
                  <a:pt x="20388" y="7603"/>
                  <a:pt x="20108" y="8615"/>
                  <a:pt x="20108" y="10645"/>
                </a:cubicBezTo>
                <a:cubicBezTo>
                  <a:pt x="20108" y="12840"/>
                  <a:pt x="20372" y="13938"/>
                  <a:pt x="20900" y="13938"/>
                </a:cubicBezTo>
                <a:cubicBezTo>
                  <a:pt x="20977" y="13938"/>
                  <a:pt x="21067" y="13887"/>
                  <a:pt x="21167" y="13785"/>
                </a:cubicBezTo>
                <a:lnTo>
                  <a:pt x="21167" y="11653"/>
                </a:lnTo>
                <a:lnTo>
                  <a:pt x="21169" y="11653"/>
                </a:lnTo>
                <a:lnTo>
                  <a:pt x="21167" y="11640"/>
                </a:lnTo>
                <a:lnTo>
                  <a:pt x="21167" y="11653"/>
                </a:lnTo>
                <a:lnTo>
                  <a:pt x="20757" y="11653"/>
                </a:lnTo>
                <a:lnTo>
                  <a:pt x="20903" y="10147"/>
                </a:lnTo>
                <a:lnTo>
                  <a:pt x="21600" y="10147"/>
                </a:lnTo>
                <a:lnTo>
                  <a:pt x="21600" y="14933"/>
                </a:lnTo>
                <a:cubicBezTo>
                  <a:pt x="21412" y="15257"/>
                  <a:pt x="21177" y="15418"/>
                  <a:pt x="20894" y="15418"/>
                </a:cubicBezTo>
                <a:cubicBezTo>
                  <a:pt x="20071" y="15418"/>
                  <a:pt x="19661" y="13827"/>
                  <a:pt x="19661" y="10649"/>
                </a:cubicBezTo>
                <a:cubicBezTo>
                  <a:pt x="19661" y="7637"/>
                  <a:pt x="20079" y="6135"/>
                  <a:pt x="20915" y="6135"/>
                </a:cubicBezTo>
                <a:close/>
                <a:moveTo>
                  <a:pt x="18214" y="6126"/>
                </a:moveTo>
                <a:cubicBezTo>
                  <a:pt x="18994" y="6126"/>
                  <a:pt x="19366" y="7675"/>
                  <a:pt x="19366" y="10781"/>
                </a:cubicBezTo>
                <a:cubicBezTo>
                  <a:pt x="19366" y="13887"/>
                  <a:pt x="18982" y="15410"/>
                  <a:pt x="18214" y="15410"/>
                </a:cubicBezTo>
                <a:cubicBezTo>
                  <a:pt x="17447" y="15410"/>
                  <a:pt x="17079" y="13865"/>
                  <a:pt x="17045" y="10781"/>
                </a:cubicBezTo>
                <a:cubicBezTo>
                  <a:pt x="17045" y="7679"/>
                  <a:pt x="17435" y="6126"/>
                  <a:pt x="18214" y="6126"/>
                </a:cubicBezTo>
                <a:close/>
                <a:moveTo>
                  <a:pt x="3405" y="5888"/>
                </a:moveTo>
                <a:cubicBezTo>
                  <a:pt x="3564" y="6182"/>
                  <a:pt x="3543" y="6735"/>
                  <a:pt x="3548" y="7062"/>
                </a:cubicBezTo>
                <a:cubicBezTo>
                  <a:pt x="3549" y="7156"/>
                  <a:pt x="3549" y="7220"/>
                  <a:pt x="3547" y="7262"/>
                </a:cubicBezTo>
                <a:cubicBezTo>
                  <a:pt x="3524" y="7216"/>
                  <a:pt x="3489" y="7182"/>
                  <a:pt x="3434" y="7190"/>
                </a:cubicBezTo>
                <a:cubicBezTo>
                  <a:pt x="3418" y="7194"/>
                  <a:pt x="3402" y="7203"/>
                  <a:pt x="3387" y="7211"/>
                </a:cubicBezTo>
                <a:cubicBezTo>
                  <a:pt x="3328" y="7088"/>
                  <a:pt x="3294" y="6845"/>
                  <a:pt x="3261" y="6586"/>
                </a:cubicBezTo>
                <a:lnTo>
                  <a:pt x="3254" y="6522"/>
                </a:lnTo>
                <a:lnTo>
                  <a:pt x="3249" y="6492"/>
                </a:lnTo>
                <a:lnTo>
                  <a:pt x="3249" y="6480"/>
                </a:lnTo>
                <a:cubicBezTo>
                  <a:pt x="3232" y="6258"/>
                  <a:pt x="3244" y="6216"/>
                  <a:pt x="3252" y="6148"/>
                </a:cubicBezTo>
                <a:lnTo>
                  <a:pt x="3252" y="6143"/>
                </a:lnTo>
                <a:cubicBezTo>
                  <a:pt x="3259" y="6075"/>
                  <a:pt x="3287" y="6020"/>
                  <a:pt x="3245" y="5961"/>
                </a:cubicBezTo>
                <a:cubicBezTo>
                  <a:pt x="3242" y="5956"/>
                  <a:pt x="3238" y="5948"/>
                  <a:pt x="3232" y="5948"/>
                </a:cubicBezTo>
                <a:cubicBezTo>
                  <a:pt x="3260" y="5812"/>
                  <a:pt x="3345" y="5778"/>
                  <a:pt x="3405" y="5888"/>
                </a:cubicBezTo>
                <a:close/>
                <a:moveTo>
                  <a:pt x="4491" y="0"/>
                </a:moveTo>
                <a:lnTo>
                  <a:pt x="4755" y="10721"/>
                </a:lnTo>
                <a:lnTo>
                  <a:pt x="4892" y="10619"/>
                </a:lnTo>
                <a:lnTo>
                  <a:pt x="4894" y="10615"/>
                </a:lnTo>
                <a:lnTo>
                  <a:pt x="5113" y="19060"/>
                </a:lnTo>
                <a:lnTo>
                  <a:pt x="2416" y="20336"/>
                </a:lnTo>
                <a:lnTo>
                  <a:pt x="2358" y="18690"/>
                </a:lnTo>
                <a:lnTo>
                  <a:pt x="2194" y="18784"/>
                </a:lnTo>
                <a:cubicBezTo>
                  <a:pt x="2208" y="19698"/>
                  <a:pt x="2153" y="20570"/>
                  <a:pt x="2051" y="20987"/>
                </a:cubicBezTo>
                <a:cubicBezTo>
                  <a:pt x="1931" y="21477"/>
                  <a:pt x="1756" y="21600"/>
                  <a:pt x="1571" y="21502"/>
                </a:cubicBezTo>
                <a:cubicBezTo>
                  <a:pt x="1446" y="21438"/>
                  <a:pt x="1353" y="21085"/>
                  <a:pt x="1285" y="20651"/>
                </a:cubicBezTo>
                <a:cubicBezTo>
                  <a:pt x="1541" y="21362"/>
                  <a:pt x="1858" y="21034"/>
                  <a:pt x="1966" y="20439"/>
                </a:cubicBezTo>
                <a:cubicBezTo>
                  <a:pt x="2119" y="19605"/>
                  <a:pt x="2079" y="18813"/>
                  <a:pt x="2023" y="18077"/>
                </a:cubicBezTo>
                <a:cubicBezTo>
                  <a:pt x="1978" y="17499"/>
                  <a:pt x="1858" y="16541"/>
                  <a:pt x="1709" y="16171"/>
                </a:cubicBezTo>
                <a:cubicBezTo>
                  <a:pt x="1558" y="15793"/>
                  <a:pt x="1410" y="15720"/>
                  <a:pt x="1284" y="15771"/>
                </a:cubicBezTo>
                <a:lnTo>
                  <a:pt x="1296" y="15720"/>
                </a:lnTo>
                <a:cubicBezTo>
                  <a:pt x="1477" y="15580"/>
                  <a:pt x="1665" y="15656"/>
                  <a:pt x="1801" y="16001"/>
                </a:cubicBezTo>
                <a:cubicBezTo>
                  <a:pt x="1955" y="16393"/>
                  <a:pt x="2097" y="17065"/>
                  <a:pt x="2171" y="18094"/>
                </a:cubicBezTo>
                <a:cubicBezTo>
                  <a:pt x="2255" y="18048"/>
                  <a:pt x="2267" y="18026"/>
                  <a:pt x="2344" y="17984"/>
                </a:cubicBezTo>
                <a:lnTo>
                  <a:pt x="2171" y="12683"/>
                </a:lnTo>
                <a:lnTo>
                  <a:pt x="2537" y="12525"/>
                </a:lnTo>
                <a:cubicBezTo>
                  <a:pt x="2365" y="12091"/>
                  <a:pt x="2188" y="11470"/>
                  <a:pt x="2110" y="11125"/>
                </a:cubicBezTo>
                <a:cubicBezTo>
                  <a:pt x="2097" y="11087"/>
                  <a:pt x="2099" y="10917"/>
                  <a:pt x="2099" y="10917"/>
                </a:cubicBezTo>
                <a:cubicBezTo>
                  <a:pt x="2170" y="11130"/>
                  <a:pt x="2460" y="11947"/>
                  <a:pt x="2767" y="12321"/>
                </a:cubicBezTo>
                <a:cubicBezTo>
                  <a:pt x="2875" y="12453"/>
                  <a:pt x="3042" y="12504"/>
                  <a:pt x="3187" y="12181"/>
                </a:cubicBezTo>
                <a:cubicBezTo>
                  <a:pt x="3297" y="11934"/>
                  <a:pt x="3430" y="11504"/>
                  <a:pt x="3509" y="11062"/>
                </a:cubicBezTo>
                <a:lnTo>
                  <a:pt x="3523" y="11160"/>
                </a:lnTo>
                <a:cubicBezTo>
                  <a:pt x="3523" y="11228"/>
                  <a:pt x="3486" y="11547"/>
                  <a:pt x="3468" y="11674"/>
                </a:cubicBezTo>
                <a:cubicBezTo>
                  <a:pt x="3501" y="11751"/>
                  <a:pt x="3526" y="11768"/>
                  <a:pt x="3564" y="11810"/>
                </a:cubicBezTo>
                <a:lnTo>
                  <a:pt x="3819" y="11653"/>
                </a:lnTo>
                <a:cubicBezTo>
                  <a:pt x="3910" y="11074"/>
                  <a:pt x="3976" y="10134"/>
                  <a:pt x="3906" y="9245"/>
                </a:cubicBezTo>
                <a:cubicBezTo>
                  <a:pt x="3866" y="8734"/>
                  <a:pt x="3658" y="7713"/>
                  <a:pt x="3643" y="7658"/>
                </a:cubicBezTo>
                <a:cubicBezTo>
                  <a:pt x="3590" y="7462"/>
                  <a:pt x="3652" y="6701"/>
                  <a:pt x="3548" y="5867"/>
                </a:cubicBezTo>
                <a:cubicBezTo>
                  <a:pt x="3439" y="4986"/>
                  <a:pt x="3154" y="4067"/>
                  <a:pt x="3030" y="3667"/>
                </a:cubicBezTo>
                <a:cubicBezTo>
                  <a:pt x="3067" y="3769"/>
                  <a:pt x="3290" y="4127"/>
                  <a:pt x="3395" y="4625"/>
                </a:cubicBezTo>
                <a:cubicBezTo>
                  <a:pt x="3405" y="4574"/>
                  <a:pt x="3409" y="4306"/>
                  <a:pt x="3418" y="4237"/>
                </a:cubicBezTo>
                <a:cubicBezTo>
                  <a:pt x="3328" y="3778"/>
                  <a:pt x="3321" y="2953"/>
                  <a:pt x="3321" y="2731"/>
                </a:cubicBezTo>
                <a:cubicBezTo>
                  <a:pt x="3321" y="2327"/>
                  <a:pt x="3269" y="1868"/>
                  <a:pt x="3269" y="1868"/>
                </a:cubicBezTo>
                <a:cubicBezTo>
                  <a:pt x="3269" y="1868"/>
                  <a:pt x="3360" y="2149"/>
                  <a:pt x="3382" y="2629"/>
                </a:cubicBezTo>
                <a:cubicBezTo>
                  <a:pt x="3409" y="3199"/>
                  <a:pt x="3468" y="3650"/>
                  <a:pt x="3546" y="4029"/>
                </a:cubicBezTo>
                <a:cubicBezTo>
                  <a:pt x="3693" y="4748"/>
                  <a:pt x="3824" y="5114"/>
                  <a:pt x="3892" y="4850"/>
                </a:cubicBezTo>
                <a:cubicBezTo>
                  <a:pt x="3971" y="4531"/>
                  <a:pt x="3812" y="3106"/>
                  <a:pt x="3605" y="2310"/>
                </a:cubicBezTo>
                <a:cubicBezTo>
                  <a:pt x="3365" y="1383"/>
                  <a:pt x="3301" y="1502"/>
                  <a:pt x="3161" y="1702"/>
                </a:cubicBezTo>
                <a:cubicBezTo>
                  <a:pt x="3048" y="1859"/>
                  <a:pt x="2988" y="3119"/>
                  <a:pt x="2695" y="3093"/>
                </a:cubicBezTo>
                <a:cubicBezTo>
                  <a:pt x="2645" y="3072"/>
                  <a:pt x="2517" y="3059"/>
                  <a:pt x="2454" y="3059"/>
                </a:cubicBezTo>
                <a:cubicBezTo>
                  <a:pt x="2487" y="2880"/>
                  <a:pt x="2515" y="2740"/>
                  <a:pt x="2515" y="2740"/>
                </a:cubicBezTo>
                <a:cubicBezTo>
                  <a:pt x="2515" y="2740"/>
                  <a:pt x="2417" y="2897"/>
                  <a:pt x="2334" y="3093"/>
                </a:cubicBezTo>
                <a:lnTo>
                  <a:pt x="2327" y="3055"/>
                </a:lnTo>
                <a:cubicBezTo>
                  <a:pt x="2355" y="2821"/>
                  <a:pt x="2386" y="2672"/>
                  <a:pt x="2386" y="2672"/>
                </a:cubicBezTo>
                <a:cubicBezTo>
                  <a:pt x="2386" y="2672"/>
                  <a:pt x="2307" y="2859"/>
                  <a:pt x="2235" y="3080"/>
                </a:cubicBezTo>
                <a:cubicBezTo>
                  <a:pt x="2248" y="2804"/>
                  <a:pt x="2298" y="2625"/>
                  <a:pt x="2298" y="2625"/>
                </a:cubicBezTo>
                <a:cubicBezTo>
                  <a:pt x="2298" y="2625"/>
                  <a:pt x="2199" y="2693"/>
                  <a:pt x="2072" y="3242"/>
                </a:cubicBezTo>
                <a:cubicBezTo>
                  <a:pt x="1928" y="3395"/>
                  <a:pt x="1894" y="3497"/>
                  <a:pt x="1779" y="3697"/>
                </a:cubicBezTo>
                <a:cubicBezTo>
                  <a:pt x="1593" y="3535"/>
                  <a:pt x="1505" y="3280"/>
                  <a:pt x="1421" y="2804"/>
                </a:cubicBezTo>
                <a:cubicBezTo>
                  <a:pt x="1358" y="2442"/>
                  <a:pt x="1244" y="2387"/>
                  <a:pt x="1129" y="2574"/>
                </a:cubicBezTo>
                <a:cubicBezTo>
                  <a:pt x="960" y="2846"/>
                  <a:pt x="746" y="3225"/>
                  <a:pt x="746" y="3225"/>
                </a:cubicBezTo>
                <a:cubicBezTo>
                  <a:pt x="746" y="3225"/>
                  <a:pt x="816" y="3212"/>
                  <a:pt x="889" y="3225"/>
                </a:cubicBezTo>
                <a:cubicBezTo>
                  <a:pt x="790" y="3374"/>
                  <a:pt x="694" y="3578"/>
                  <a:pt x="694" y="3578"/>
                </a:cubicBezTo>
                <a:cubicBezTo>
                  <a:pt x="694" y="3578"/>
                  <a:pt x="740" y="3578"/>
                  <a:pt x="798" y="3578"/>
                </a:cubicBezTo>
                <a:cubicBezTo>
                  <a:pt x="758" y="3706"/>
                  <a:pt x="736" y="3769"/>
                  <a:pt x="698" y="3867"/>
                </a:cubicBezTo>
                <a:cubicBezTo>
                  <a:pt x="608" y="4127"/>
                  <a:pt x="534" y="4429"/>
                  <a:pt x="534" y="4429"/>
                </a:cubicBezTo>
                <a:cubicBezTo>
                  <a:pt x="534" y="4429"/>
                  <a:pt x="596" y="4318"/>
                  <a:pt x="651" y="4254"/>
                </a:cubicBezTo>
                <a:cubicBezTo>
                  <a:pt x="612" y="4603"/>
                  <a:pt x="535" y="4859"/>
                  <a:pt x="549" y="5288"/>
                </a:cubicBezTo>
                <a:cubicBezTo>
                  <a:pt x="563" y="5680"/>
                  <a:pt x="684" y="6484"/>
                  <a:pt x="842" y="6977"/>
                </a:cubicBezTo>
                <a:cubicBezTo>
                  <a:pt x="855" y="7024"/>
                  <a:pt x="1070" y="7803"/>
                  <a:pt x="1232" y="7484"/>
                </a:cubicBezTo>
                <a:cubicBezTo>
                  <a:pt x="1394" y="7160"/>
                  <a:pt x="1458" y="6875"/>
                  <a:pt x="1485" y="6437"/>
                </a:cubicBezTo>
                <a:cubicBezTo>
                  <a:pt x="1517" y="5931"/>
                  <a:pt x="1499" y="5552"/>
                  <a:pt x="1432" y="4459"/>
                </a:cubicBezTo>
                <a:cubicBezTo>
                  <a:pt x="1411" y="4097"/>
                  <a:pt x="1353" y="3353"/>
                  <a:pt x="1325" y="2999"/>
                </a:cubicBezTo>
                <a:lnTo>
                  <a:pt x="1332" y="2982"/>
                </a:lnTo>
                <a:cubicBezTo>
                  <a:pt x="1385" y="3421"/>
                  <a:pt x="1520" y="4582"/>
                  <a:pt x="1575" y="5361"/>
                </a:cubicBezTo>
                <a:cubicBezTo>
                  <a:pt x="1660" y="6577"/>
                  <a:pt x="1633" y="7194"/>
                  <a:pt x="1594" y="7420"/>
                </a:cubicBezTo>
                <a:cubicBezTo>
                  <a:pt x="1477" y="8105"/>
                  <a:pt x="1175" y="8194"/>
                  <a:pt x="1038" y="7816"/>
                </a:cubicBezTo>
                <a:cubicBezTo>
                  <a:pt x="1016" y="9122"/>
                  <a:pt x="1091" y="9700"/>
                  <a:pt x="1116" y="9990"/>
                </a:cubicBezTo>
                <a:cubicBezTo>
                  <a:pt x="1103" y="10321"/>
                  <a:pt x="1158" y="10943"/>
                  <a:pt x="1158" y="10943"/>
                </a:cubicBezTo>
                <a:cubicBezTo>
                  <a:pt x="1158" y="10943"/>
                  <a:pt x="1164" y="10662"/>
                  <a:pt x="1189" y="10513"/>
                </a:cubicBezTo>
                <a:cubicBezTo>
                  <a:pt x="1196" y="10845"/>
                  <a:pt x="1238" y="11236"/>
                  <a:pt x="1238" y="11236"/>
                </a:cubicBezTo>
                <a:cubicBezTo>
                  <a:pt x="1238" y="11236"/>
                  <a:pt x="1234" y="10994"/>
                  <a:pt x="1254" y="10785"/>
                </a:cubicBezTo>
                <a:cubicBezTo>
                  <a:pt x="1281" y="10968"/>
                  <a:pt x="1300" y="11011"/>
                  <a:pt x="1326" y="11147"/>
                </a:cubicBezTo>
                <a:cubicBezTo>
                  <a:pt x="1351" y="11500"/>
                  <a:pt x="1403" y="11759"/>
                  <a:pt x="1403" y="11759"/>
                </a:cubicBezTo>
                <a:cubicBezTo>
                  <a:pt x="1403" y="11759"/>
                  <a:pt x="1394" y="11568"/>
                  <a:pt x="1399" y="11372"/>
                </a:cubicBezTo>
                <a:cubicBezTo>
                  <a:pt x="1524" y="11844"/>
                  <a:pt x="1546" y="12542"/>
                  <a:pt x="1559" y="13074"/>
                </a:cubicBezTo>
                <a:cubicBezTo>
                  <a:pt x="1594" y="14542"/>
                  <a:pt x="972" y="15708"/>
                  <a:pt x="851" y="16627"/>
                </a:cubicBezTo>
                <a:cubicBezTo>
                  <a:pt x="759" y="17171"/>
                  <a:pt x="705" y="18031"/>
                  <a:pt x="859" y="18537"/>
                </a:cubicBezTo>
                <a:cubicBezTo>
                  <a:pt x="972" y="18898"/>
                  <a:pt x="1037" y="19183"/>
                  <a:pt x="1079" y="19422"/>
                </a:cubicBezTo>
                <a:lnTo>
                  <a:pt x="553" y="19724"/>
                </a:lnTo>
                <a:lnTo>
                  <a:pt x="0" y="2051"/>
                </a:lnTo>
                <a:close/>
              </a:path>
            </a:pathLst>
          </a:custGeom>
          <a:solidFill>
            <a:srgbClr val="632CA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185" name="Google Shape;72;p11" descr="Google Shape;72;p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-10"/>
            <a:ext cx="12192000" cy="6858027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Title Text"/>
          <p:cNvSpPr txBox="1"/>
          <p:nvPr>
            <p:ph type="title"/>
          </p:nvPr>
        </p:nvSpPr>
        <p:spPr>
          <a:xfrm>
            <a:off x="695084" y="695325"/>
            <a:ext cx="10773018" cy="12446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87" name="Body Level One…"/>
          <p:cNvSpPr txBox="1"/>
          <p:nvPr>
            <p:ph type="body" sz="quarter" idx="1"/>
          </p:nvPr>
        </p:nvSpPr>
        <p:spPr>
          <a:xfrm>
            <a:off x="695084" y="2077085"/>
            <a:ext cx="10773018" cy="110744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 marL="228600" indent="457200">
              <a:buSzTx/>
              <a:buNone/>
              <a:defRPr sz="2400">
                <a:solidFill>
                  <a:srgbClr val="FFFFFF"/>
                </a:solidFill>
              </a:defRPr>
            </a:lvl2pPr>
            <a:lvl3pPr marL="228600" indent="914400">
              <a:buSzTx/>
              <a:buNone/>
              <a:defRPr sz="2400">
                <a:solidFill>
                  <a:srgbClr val="FFFFFF"/>
                </a:solidFill>
              </a:defRPr>
            </a:lvl3pPr>
            <a:lvl4pPr marL="228600" indent="1371600">
              <a:buSzTx/>
              <a:buNone/>
              <a:defRPr sz="2400">
                <a:solidFill>
                  <a:srgbClr val="FFFFFF"/>
                </a:solidFill>
              </a:defRPr>
            </a:lvl4pPr>
            <a:lvl5pPr marL="228600" indent="1828800">
              <a:buSz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89" name="Google Shape;76;p11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ivider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0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96" name="Google Shape;11;p1" descr="Google Shape;11;p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97" name="Google Shape;12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4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44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</p:grpSp>
      <p:grpSp>
        <p:nvGrpSpPr>
          <p:cNvPr id="206" name="Google Shape;17;p1"/>
          <p:cNvGrpSpPr/>
          <p:nvPr/>
        </p:nvGrpSpPr>
        <p:grpSpPr>
          <a:xfrm>
            <a:off x="0" y="-710591"/>
            <a:ext cx="4109466" cy="479101"/>
            <a:chOff x="0" y="0"/>
            <a:chExt cx="4109465" cy="479100"/>
          </a:xfrm>
        </p:grpSpPr>
        <p:sp>
          <p:nvSpPr>
            <p:cNvPr id="199" name="Google Shape;18;p1"/>
            <p:cNvSpPr/>
            <p:nvPr/>
          </p:nvSpPr>
          <p:spPr>
            <a:xfrm>
              <a:off x="0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90000">
                  <a:srgbClr val="9C43FE"/>
                </a:gs>
                <a:gs pos="100000">
                  <a:srgbClr val="9C43FE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0" name="Google Shape;19;p1"/>
            <p:cNvSpPr/>
            <p:nvPr/>
          </p:nvSpPr>
          <p:spPr>
            <a:xfrm>
              <a:off x="60506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100000">
                  <a:schemeClr val="accent2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201" name="Google Shape;20;p1"/>
            <p:cNvSpPr/>
            <p:nvPr/>
          </p:nvSpPr>
          <p:spPr>
            <a:xfrm>
              <a:off x="121012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30000">
                  <a:schemeClr val="accent2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202" name="Google Shape;21;p1"/>
            <p:cNvSpPr/>
            <p:nvPr/>
          </p:nvSpPr>
          <p:spPr>
            <a:xfrm>
              <a:off x="181518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00B765"/>
                </a:gs>
                <a:gs pos="30000">
                  <a:srgbClr val="00B765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3" name="Google Shape;22;p1"/>
            <p:cNvSpPr/>
            <p:nvPr/>
          </p:nvSpPr>
          <p:spPr>
            <a:xfrm>
              <a:off x="242024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8000FF"/>
                </a:gs>
                <a:gs pos="90000">
                  <a:schemeClr val="accent6"/>
                </a:gs>
                <a:gs pos="100000">
                  <a:schemeClr val="accent6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204" name="Google Shape;23;p1"/>
            <p:cNvSpPr/>
            <p:nvPr/>
          </p:nvSpPr>
          <p:spPr>
            <a:xfrm>
              <a:off x="3025304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6"/>
                </a:gs>
                <a:gs pos="30000">
                  <a:schemeClr val="accent6"/>
                </a:gs>
                <a:gs pos="90000">
                  <a:schemeClr val="accent3"/>
                </a:gs>
                <a:gs pos="100000">
                  <a:schemeClr val="accent3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5" name="Google Shape;24;p1"/>
            <p:cNvSpPr/>
            <p:nvPr/>
          </p:nvSpPr>
          <p:spPr>
            <a:xfrm>
              <a:off x="3630365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30000">
                  <a:schemeClr val="accent3"/>
                </a:gs>
                <a:gs pos="90000">
                  <a:schemeClr val="accent5"/>
                </a:gs>
                <a:gs pos="100000">
                  <a:schemeClr val="accent5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07" name="Google Shape;25;p1"/>
          <p:cNvSpPr/>
          <p:nvPr/>
        </p:nvSpPr>
        <p:spPr>
          <a:xfrm>
            <a:off x="10585766" y="6450774"/>
            <a:ext cx="1080115" cy="2747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33" fill="norm" stroke="1" extrusionOk="0">
                <a:moveTo>
                  <a:pt x="4627" y="12440"/>
                </a:moveTo>
                <a:lnTo>
                  <a:pt x="4750" y="17639"/>
                </a:lnTo>
                <a:lnTo>
                  <a:pt x="2635" y="19175"/>
                </a:lnTo>
                <a:lnTo>
                  <a:pt x="2616" y="18439"/>
                </a:lnTo>
                <a:lnTo>
                  <a:pt x="3005" y="16103"/>
                </a:lnTo>
                <a:lnTo>
                  <a:pt x="3447" y="16610"/>
                </a:lnTo>
                <a:lnTo>
                  <a:pt x="3827" y="14112"/>
                </a:lnTo>
                <a:lnTo>
                  <a:pt x="4281" y="15293"/>
                </a:lnTo>
                <a:lnTo>
                  <a:pt x="4281" y="15295"/>
                </a:lnTo>
                <a:lnTo>
                  <a:pt x="4282" y="15295"/>
                </a:lnTo>
                <a:lnTo>
                  <a:pt x="4281" y="15293"/>
                </a:lnTo>
                <a:close/>
                <a:moveTo>
                  <a:pt x="4755" y="11377"/>
                </a:moveTo>
                <a:lnTo>
                  <a:pt x="3365" y="12368"/>
                </a:lnTo>
                <a:cubicBezTo>
                  <a:pt x="3332" y="12542"/>
                  <a:pt x="3246" y="12849"/>
                  <a:pt x="3205" y="12929"/>
                </a:cubicBezTo>
                <a:cubicBezTo>
                  <a:pt x="3030" y="13274"/>
                  <a:pt x="2911" y="13176"/>
                  <a:pt x="2808" y="13070"/>
                </a:cubicBezTo>
                <a:cubicBezTo>
                  <a:pt x="2742" y="13006"/>
                  <a:pt x="2705" y="12968"/>
                  <a:pt x="2649" y="12870"/>
                </a:cubicBezTo>
                <a:lnTo>
                  <a:pt x="2310" y="13053"/>
                </a:lnTo>
                <a:lnTo>
                  <a:pt x="2310" y="13057"/>
                </a:lnTo>
                <a:lnTo>
                  <a:pt x="2515" y="19822"/>
                </a:lnTo>
                <a:lnTo>
                  <a:pt x="4897" y="18133"/>
                </a:lnTo>
                <a:close/>
                <a:moveTo>
                  <a:pt x="3698" y="9185"/>
                </a:moveTo>
                <a:cubicBezTo>
                  <a:pt x="3739" y="9275"/>
                  <a:pt x="3739" y="9551"/>
                  <a:pt x="3711" y="9811"/>
                </a:cubicBezTo>
                <a:cubicBezTo>
                  <a:pt x="3670" y="10185"/>
                  <a:pt x="3612" y="10598"/>
                  <a:pt x="3546" y="10632"/>
                </a:cubicBezTo>
                <a:cubicBezTo>
                  <a:pt x="3437" y="10692"/>
                  <a:pt x="3336" y="10462"/>
                  <a:pt x="3219" y="10117"/>
                </a:cubicBezTo>
                <a:cubicBezTo>
                  <a:pt x="3178" y="9994"/>
                  <a:pt x="3152" y="9696"/>
                  <a:pt x="3208" y="9526"/>
                </a:cubicBezTo>
                <a:cubicBezTo>
                  <a:pt x="3239" y="9428"/>
                  <a:pt x="3380" y="9249"/>
                  <a:pt x="3511" y="9190"/>
                </a:cubicBezTo>
                <a:cubicBezTo>
                  <a:pt x="3579" y="9160"/>
                  <a:pt x="3677" y="9139"/>
                  <a:pt x="3698" y="9185"/>
                </a:cubicBezTo>
                <a:close/>
                <a:moveTo>
                  <a:pt x="15082" y="7671"/>
                </a:moveTo>
                <a:lnTo>
                  <a:pt x="15082" y="13878"/>
                </a:lnTo>
                <a:lnTo>
                  <a:pt x="15595" y="13878"/>
                </a:lnTo>
                <a:cubicBezTo>
                  <a:pt x="16078" y="13878"/>
                  <a:pt x="16321" y="12759"/>
                  <a:pt x="16321" y="10526"/>
                </a:cubicBezTo>
                <a:cubicBezTo>
                  <a:pt x="16321" y="8624"/>
                  <a:pt x="16078" y="7671"/>
                  <a:pt x="15595" y="7671"/>
                </a:cubicBezTo>
                <a:close/>
                <a:moveTo>
                  <a:pt x="6458" y="7671"/>
                </a:moveTo>
                <a:lnTo>
                  <a:pt x="6458" y="13878"/>
                </a:lnTo>
                <a:lnTo>
                  <a:pt x="6971" y="13878"/>
                </a:lnTo>
                <a:cubicBezTo>
                  <a:pt x="7454" y="13878"/>
                  <a:pt x="7695" y="12759"/>
                  <a:pt x="7695" y="10526"/>
                </a:cubicBezTo>
                <a:cubicBezTo>
                  <a:pt x="7695" y="8624"/>
                  <a:pt x="7454" y="7671"/>
                  <a:pt x="6971" y="7671"/>
                </a:cubicBezTo>
                <a:close/>
                <a:moveTo>
                  <a:pt x="18214" y="7598"/>
                </a:moveTo>
                <a:cubicBezTo>
                  <a:pt x="17745" y="7598"/>
                  <a:pt x="17493" y="8645"/>
                  <a:pt x="17493" y="10743"/>
                </a:cubicBezTo>
                <a:cubicBezTo>
                  <a:pt x="17493" y="12840"/>
                  <a:pt x="17733" y="13933"/>
                  <a:pt x="18214" y="13933"/>
                </a:cubicBezTo>
                <a:cubicBezTo>
                  <a:pt x="18684" y="13933"/>
                  <a:pt x="18918" y="12870"/>
                  <a:pt x="18918" y="10743"/>
                </a:cubicBezTo>
                <a:cubicBezTo>
                  <a:pt x="18918" y="8615"/>
                  <a:pt x="18684" y="7598"/>
                  <a:pt x="18214" y="7598"/>
                </a:cubicBezTo>
                <a:close/>
                <a:moveTo>
                  <a:pt x="2441" y="6390"/>
                </a:moveTo>
                <a:cubicBezTo>
                  <a:pt x="2513" y="6396"/>
                  <a:pt x="2559" y="6475"/>
                  <a:pt x="2540" y="6543"/>
                </a:cubicBezTo>
                <a:cubicBezTo>
                  <a:pt x="2470" y="6807"/>
                  <a:pt x="2564" y="6731"/>
                  <a:pt x="2574" y="7216"/>
                </a:cubicBezTo>
                <a:cubicBezTo>
                  <a:pt x="2581" y="7573"/>
                  <a:pt x="2552" y="7773"/>
                  <a:pt x="2526" y="7884"/>
                </a:cubicBezTo>
                <a:cubicBezTo>
                  <a:pt x="2472" y="7909"/>
                  <a:pt x="2407" y="7964"/>
                  <a:pt x="2329" y="8062"/>
                </a:cubicBezTo>
                <a:cubicBezTo>
                  <a:pt x="2283" y="8122"/>
                  <a:pt x="2243" y="8190"/>
                  <a:pt x="2207" y="8254"/>
                </a:cubicBezTo>
                <a:cubicBezTo>
                  <a:pt x="2198" y="8228"/>
                  <a:pt x="2188" y="8203"/>
                  <a:pt x="2176" y="8160"/>
                </a:cubicBezTo>
                <a:cubicBezTo>
                  <a:pt x="2056" y="7747"/>
                  <a:pt x="2059" y="7024"/>
                  <a:pt x="2186" y="6684"/>
                </a:cubicBezTo>
                <a:cubicBezTo>
                  <a:pt x="2271" y="6454"/>
                  <a:pt x="2369" y="6385"/>
                  <a:pt x="2441" y="6390"/>
                </a:cubicBezTo>
                <a:close/>
                <a:moveTo>
                  <a:pt x="14650" y="6199"/>
                </a:moveTo>
                <a:lnTo>
                  <a:pt x="15660" y="6199"/>
                </a:lnTo>
                <a:cubicBezTo>
                  <a:pt x="16388" y="6199"/>
                  <a:pt x="16752" y="7641"/>
                  <a:pt x="16752" y="10526"/>
                </a:cubicBezTo>
                <a:cubicBezTo>
                  <a:pt x="16752" y="13742"/>
                  <a:pt x="16389" y="15350"/>
                  <a:pt x="15660" y="15350"/>
                </a:cubicBezTo>
                <a:lnTo>
                  <a:pt x="15660" y="15346"/>
                </a:lnTo>
                <a:lnTo>
                  <a:pt x="14650" y="15346"/>
                </a:lnTo>
                <a:close/>
                <a:moveTo>
                  <a:pt x="6026" y="6199"/>
                </a:moveTo>
                <a:lnTo>
                  <a:pt x="7036" y="6199"/>
                </a:lnTo>
                <a:cubicBezTo>
                  <a:pt x="7764" y="6199"/>
                  <a:pt x="8128" y="7641"/>
                  <a:pt x="8128" y="10526"/>
                </a:cubicBezTo>
                <a:cubicBezTo>
                  <a:pt x="8128" y="13742"/>
                  <a:pt x="7764" y="15350"/>
                  <a:pt x="7036" y="15350"/>
                </a:cubicBezTo>
                <a:lnTo>
                  <a:pt x="7036" y="15346"/>
                </a:lnTo>
                <a:lnTo>
                  <a:pt x="6026" y="15346"/>
                </a:lnTo>
                <a:close/>
                <a:moveTo>
                  <a:pt x="12890" y="6195"/>
                </a:moveTo>
                <a:lnTo>
                  <a:pt x="13354" y="6195"/>
                </a:lnTo>
                <a:lnTo>
                  <a:pt x="14364" y="15346"/>
                </a:lnTo>
                <a:lnTo>
                  <a:pt x="13899" y="15346"/>
                </a:lnTo>
                <a:lnTo>
                  <a:pt x="13606" y="12849"/>
                </a:lnTo>
                <a:lnTo>
                  <a:pt x="12860" y="12849"/>
                </a:lnTo>
                <a:lnTo>
                  <a:pt x="13008" y="11377"/>
                </a:lnTo>
                <a:lnTo>
                  <a:pt x="13493" y="11377"/>
                </a:lnTo>
                <a:lnTo>
                  <a:pt x="13111" y="7943"/>
                </a:lnTo>
                <a:lnTo>
                  <a:pt x="12345" y="15346"/>
                </a:lnTo>
                <a:lnTo>
                  <a:pt x="11902" y="15346"/>
                </a:lnTo>
                <a:close/>
                <a:moveTo>
                  <a:pt x="10356" y="6195"/>
                </a:moveTo>
                <a:lnTo>
                  <a:pt x="12123" y="6195"/>
                </a:lnTo>
                <a:lnTo>
                  <a:pt x="12123" y="7667"/>
                </a:lnTo>
                <a:lnTo>
                  <a:pt x="11455" y="7667"/>
                </a:lnTo>
                <a:lnTo>
                  <a:pt x="11455" y="15346"/>
                </a:lnTo>
                <a:lnTo>
                  <a:pt x="11024" y="15346"/>
                </a:lnTo>
                <a:lnTo>
                  <a:pt x="11024" y="7667"/>
                </a:lnTo>
                <a:lnTo>
                  <a:pt x="10356" y="7667"/>
                </a:lnTo>
                <a:close/>
                <a:moveTo>
                  <a:pt x="9124" y="6195"/>
                </a:moveTo>
                <a:lnTo>
                  <a:pt x="9589" y="6195"/>
                </a:lnTo>
                <a:lnTo>
                  <a:pt x="10599" y="15346"/>
                </a:lnTo>
                <a:lnTo>
                  <a:pt x="10135" y="15346"/>
                </a:lnTo>
                <a:lnTo>
                  <a:pt x="9842" y="12849"/>
                </a:lnTo>
                <a:lnTo>
                  <a:pt x="9096" y="12849"/>
                </a:lnTo>
                <a:lnTo>
                  <a:pt x="9244" y="11377"/>
                </a:lnTo>
                <a:lnTo>
                  <a:pt x="9728" y="11377"/>
                </a:lnTo>
                <a:lnTo>
                  <a:pt x="9347" y="7943"/>
                </a:lnTo>
                <a:lnTo>
                  <a:pt x="8580" y="15346"/>
                </a:lnTo>
                <a:lnTo>
                  <a:pt x="8136" y="15346"/>
                </a:lnTo>
                <a:close/>
                <a:moveTo>
                  <a:pt x="20915" y="6135"/>
                </a:moveTo>
                <a:cubicBezTo>
                  <a:pt x="21170" y="6135"/>
                  <a:pt x="21398" y="6284"/>
                  <a:pt x="21599" y="6582"/>
                </a:cubicBezTo>
                <a:lnTo>
                  <a:pt x="21599" y="8118"/>
                </a:lnTo>
                <a:cubicBezTo>
                  <a:pt x="21398" y="7773"/>
                  <a:pt x="21181" y="7603"/>
                  <a:pt x="20947" y="7603"/>
                </a:cubicBezTo>
                <a:cubicBezTo>
                  <a:pt x="20388" y="7603"/>
                  <a:pt x="20108" y="8615"/>
                  <a:pt x="20108" y="10645"/>
                </a:cubicBezTo>
                <a:cubicBezTo>
                  <a:pt x="20108" y="12840"/>
                  <a:pt x="20372" y="13938"/>
                  <a:pt x="20900" y="13938"/>
                </a:cubicBezTo>
                <a:cubicBezTo>
                  <a:pt x="20977" y="13938"/>
                  <a:pt x="21067" y="13887"/>
                  <a:pt x="21167" y="13785"/>
                </a:cubicBezTo>
                <a:lnTo>
                  <a:pt x="21167" y="11653"/>
                </a:lnTo>
                <a:lnTo>
                  <a:pt x="21169" y="11653"/>
                </a:lnTo>
                <a:lnTo>
                  <a:pt x="21167" y="11640"/>
                </a:lnTo>
                <a:lnTo>
                  <a:pt x="21167" y="11653"/>
                </a:lnTo>
                <a:lnTo>
                  <a:pt x="20757" y="11653"/>
                </a:lnTo>
                <a:lnTo>
                  <a:pt x="20903" y="10147"/>
                </a:lnTo>
                <a:lnTo>
                  <a:pt x="21600" y="10147"/>
                </a:lnTo>
                <a:lnTo>
                  <a:pt x="21600" y="14933"/>
                </a:lnTo>
                <a:cubicBezTo>
                  <a:pt x="21412" y="15257"/>
                  <a:pt x="21177" y="15418"/>
                  <a:pt x="20894" y="15418"/>
                </a:cubicBezTo>
                <a:cubicBezTo>
                  <a:pt x="20071" y="15418"/>
                  <a:pt x="19661" y="13827"/>
                  <a:pt x="19661" y="10649"/>
                </a:cubicBezTo>
                <a:cubicBezTo>
                  <a:pt x="19661" y="7637"/>
                  <a:pt x="20079" y="6135"/>
                  <a:pt x="20915" y="6135"/>
                </a:cubicBezTo>
                <a:close/>
                <a:moveTo>
                  <a:pt x="18214" y="6126"/>
                </a:moveTo>
                <a:cubicBezTo>
                  <a:pt x="18994" y="6126"/>
                  <a:pt x="19366" y="7675"/>
                  <a:pt x="19366" y="10781"/>
                </a:cubicBezTo>
                <a:cubicBezTo>
                  <a:pt x="19366" y="13887"/>
                  <a:pt x="18982" y="15410"/>
                  <a:pt x="18214" y="15410"/>
                </a:cubicBezTo>
                <a:cubicBezTo>
                  <a:pt x="17447" y="15410"/>
                  <a:pt x="17079" y="13865"/>
                  <a:pt x="17045" y="10781"/>
                </a:cubicBezTo>
                <a:cubicBezTo>
                  <a:pt x="17045" y="7679"/>
                  <a:pt x="17435" y="6126"/>
                  <a:pt x="18214" y="6126"/>
                </a:cubicBezTo>
                <a:close/>
                <a:moveTo>
                  <a:pt x="3405" y="5888"/>
                </a:moveTo>
                <a:cubicBezTo>
                  <a:pt x="3564" y="6182"/>
                  <a:pt x="3543" y="6735"/>
                  <a:pt x="3548" y="7062"/>
                </a:cubicBezTo>
                <a:cubicBezTo>
                  <a:pt x="3549" y="7156"/>
                  <a:pt x="3549" y="7220"/>
                  <a:pt x="3547" y="7262"/>
                </a:cubicBezTo>
                <a:cubicBezTo>
                  <a:pt x="3524" y="7216"/>
                  <a:pt x="3489" y="7182"/>
                  <a:pt x="3434" y="7190"/>
                </a:cubicBezTo>
                <a:cubicBezTo>
                  <a:pt x="3418" y="7194"/>
                  <a:pt x="3402" y="7203"/>
                  <a:pt x="3387" y="7211"/>
                </a:cubicBezTo>
                <a:cubicBezTo>
                  <a:pt x="3328" y="7088"/>
                  <a:pt x="3294" y="6845"/>
                  <a:pt x="3261" y="6586"/>
                </a:cubicBezTo>
                <a:lnTo>
                  <a:pt x="3254" y="6522"/>
                </a:lnTo>
                <a:lnTo>
                  <a:pt x="3249" y="6492"/>
                </a:lnTo>
                <a:lnTo>
                  <a:pt x="3249" y="6480"/>
                </a:lnTo>
                <a:cubicBezTo>
                  <a:pt x="3232" y="6258"/>
                  <a:pt x="3244" y="6216"/>
                  <a:pt x="3252" y="6148"/>
                </a:cubicBezTo>
                <a:lnTo>
                  <a:pt x="3252" y="6143"/>
                </a:lnTo>
                <a:cubicBezTo>
                  <a:pt x="3259" y="6075"/>
                  <a:pt x="3287" y="6020"/>
                  <a:pt x="3245" y="5961"/>
                </a:cubicBezTo>
                <a:cubicBezTo>
                  <a:pt x="3242" y="5956"/>
                  <a:pt x="3238" y="5948"/>
                  <a:pt x="3232" y="5948"/>
                </a:cubicBezTo>
                <a:cubicBezTo>
                  <a:pt x="3260" y="5812"/>
                  <a:pt x="3345" y="5778"/>
                  <a:pt x="3405" y="5888"/>
                </a:cubicBezTo>
                <a:close/>
                <a:moveTo>
                  <a:pt x="4491" y="0"/>
                </a:moveTo>
                <a:lnTo>
                  <a:pt x="4755" y="10721"/>
                </a:lnTo>
                <a:lnTo>
                  <a:pt x="4892" y="10619"/>
                </a:lnTo>
                <a:lnTo>
                  <a:pt x="4894" y="10615"/>
                </a:lnTo>
                <a:lnTo>
                  <a:pt x="5113" y="19060"/>
                </a:lnTo>
                <a:lnTo>
                  <a:pt x="2416" y="20336"/>
                </a:lnTo>
                <a:lnTo>
                  <a:pt x="2358" y="18690"/>
                </a:lnTo>
                <a:lnTo>
                  <a:pt x="2194" y="18784"/>
                </a:lnTo>
                <a:cubicBezTo>
                  <a:pt x="2208" y="19698"/>
                  <a:pt x="2153" y="20570"/>
                  <a:pt x="2051" y="20987"/>
                </a:cubicBezTo>
                <a:cubicBezTo>
                  <a:pt x="1931" y="21477"/>
                  <a:pt x="1756" y="21600"/>
                  <a:pt x="1571" y="21502"/>
                </a:cubicBezTo>
                <a:cubicBezTo>
                  <a:pt x="1446" y="21438"/>
                  <a:pt x="1353" y="21085"/>
                  <a:pt x="1285" y="20651"/>
                </a:cubicBezTo>
                <a:cubicBezTo>
                  <a:pt x="1541" y="21362"/>
                  <a:pt x="1858" y="21034"/>
                  <a:pt x="1966" y="20439"/>
                </a:cubicBezTo>
                <a:cubicBezTo>
                  <a:pt x="2119" y="19605"/>
                  <a:pt x="2079" y="18813"/>
                  <a:pt x="2023" y="18077"/>
                </a:cubicBezTo>
                <a:cubicBezTo>
                  <a:pt x="1978" y="17499"/>
                  <a:pt x="1858" y="16541"/>
                  <a:pt x="1709" y="16171"/>
                </a:cubicBezTo>
                <a:cubicBezTo>
                  <a:pt x="1558" y="15793"/>
                  <a:pt x="1410" y="15720"/>
                  <a:pt x="1284" y="15771"/>
                </a:cubicBezTo>
                <a:lnTo>
                  <a:pt x="1296" y="15720"/>
                </a:lnTo>
                <a:cubicBezTo>
                  <a:pt x="1477" y="15580"/>
                  <a:pt x="1665" y="15656"/>
                  <a:pt x="1801" y="16001"/>
                </a:cubicBezTo>
                <a:cubicBezTo>
                  <a:pt x="1955" y="16393"/>
                  <a:pt x="2097" y="17065"/>
                  <a:pt x="2171" y="18094"/>
                </a:cubicBezTo>
                <a:cubicBezTo>
                  <a:pt x="2255" y="18048"/>
                  <a:pt x="2267" y="18026"/>
                  <a:pt x="2344" y="17984"/>
                </a:cubicBezTo>
                <a:lnTo>
                  <a:pt x="2171" y="12683"/>
                </a:lnTo>
                <a:lnTo>
                  <a:pt x="2537" y="12525"/>
                </a:lnTo>
                <a:cubicBezTo>
                  <a:pt x="2365" y="12091"/>
                  <a:pt x="2188" y="11470"/>
                  <a:pt x="2110" y="11125"/>
                </a:cubicBezTo>
                <a:cubicBezTo>
                  <a:pt x="2097" y="11087"/>
                  <a:pt x="2099" y="10917"/>
                  <a:pt x="2099" y="10917"/>
                </a:cubicBezTo>
                <a:cubicBezTo>
                  <a:pt x="2170" y="11130"/>
                  <a:pt x="2460" y="11947"/>
                  <a:pt x="2767" y="12321"/>
                </a:cubicBezTo>
                <a:cubicBezTo>
                  <a:pt x="2875" y="12453"/>
                  <a:pt x="3042" y="12504"/>
                  <a:pt x="3187" y="12181"/>
                </a:cubicBezTo>
                <a:cubicBezTo>
                  <a:pt x="3297" y="11934"/>
                  <a:pt x="3430" y="11504"/>
                  <a:pt x="3509" y="11062"/>
                </a:cubicBezTo>
                <a:lnTo>
                  <a:pt x="3523" y="11160"/>
                </a:lnTo>
                <a:cubicBezTo>
                  <a:pt x="3523" y="11228"/>
                  <a:pt x="3486" y="11547"/>
                  <a:pt x="3468" y="11674"/>
                </a:cubicBezTo>
                <a:cubicBezTo>
                  <a:pt x="3501" y="11751"/>
                  <a:pt x="3526" y="11768"/>
                  <a:pt x="3564" y="11810"/>
                </a:cubicBezTo>
                <a:lnTo>
                  <a:pt x="3819" y="11653"/>
                </a:lnTo>
                <a:cubicBezTo>
                  <a:pt x="3910" y="11074"/>
                  <a:pt x="3976" y="10134"/>
                  <a:pt x="3906" y="9245"/>
                </a:cubicBezTo>
                <a:cubicBezTo>
                  <a:pt x="3866" y="8734"/>
                  <a:pt x="3658" y="7713"/>
                  <a:pt x="3643" y="7658"/>
                </a:cubicBezTo>
                <a:cubicBezTo>
                  <a:pt x="3590" y="7462"/>
                  <a:pt x="3652" y="6701"/>
                  <a:pt x="3548" y="5867"/>
                </a:cubicBezTo>
                <a:cubicBezTo>
                  <a:pt x="3439" y="4986"/>
                  <a:pt x="3154" y="4067"/>
                  <a:pt x="3030" y="3667"/>
                </a:cubicBezTo>
                <a:cubicBezTo>
                  <a:pt x="3067" y="3769"/>
                  <a:pt x="3290" y="4127"/>
                  <a:pt x="3395" y="4625"/>
                </a:cubicBezTo>
                <a:cubicBezTo>
                  <a:pt x="3405" y="4574"/>
                  <a:pt x="3409" y="4306"/>
                  <a:pt x="3418" y="4237"/>
                </a:cubicBezTo>
                <a:cubicBezTo>
                  <a:pt x="3328" y="3778"/>
                  <a:pt x="3321" y="2953"/>
                  <a:pt x="3321" y="2731"/>
                </a:cubicBezTo>
                <a:cubicBezTo>
                  <a:pt x="3321" y="2327"/>
                  <a:pt x="3269" y="1868"/>
                  <a:pt x="3269" y="1868"/>
                </a:cubicBezTo>
                <a:cubicBezTo>
                  <a:pt x="3269" y="1868"/>
                  <a:pt x="3360" y="2149"/>
                  <a:pt x="3382" y="2629"/>
                </a:cubicBezTo>
                <a:cubicBezTo>
                  <a:pt x="3409" y="3199"/>
                  <a:pt x="3468" y="3650"/>
                  <a:pt x="3546" y="4029"/>
                </a:cubicBezTo>
                <a:cubicBezTo>
                  <a:pt x="3693" y="4748"/>
                  <a:pt x="3824" y="5114"/>
                  <a:pt x="3892" y="4850"/>
                </a:cubicBezTo>
                <a:cubicBezTo>
                  <a:pt x="3971" y="4531"/>
                  <a:pt x="3812" y="3106"/>
                  <a:pt x="3605" y="2310"/>
                </a:cubicBezTo>
                <a:cubicBezTo>
                  <a:pt x="3365" y="1383"/>
                  <a:pt x="3301" y="1502"/>
                  <a:pt x="3161" y="1702"/>
                </a:cubicBezTo>
                <a:cubicBezTo>
                  <a:pt x="3048" y="1859"/>
                  <a:pt x="2988" y="3119"/>
                  <a:pt x="2695" y="3093"/>
                </a:cubicBezTo>
                <a:cubicBezTo>
                  <a:pt x="2645" y="3072"/>
                  <a:pt x="2517" y="3059"/>
                  <a:pt x="2454" y="3059"/>
                </a:cubicBezTo>
                <a:cubicBezTo>
                  <a:pt x="2487" y="2880"/>
                  <a:pt x="2515" y="2740"/>
                  <a:pt x="2515" y="2740"/>
                </a:cubicBezTo>
                <a:cubicBezTo>
                  <a:pt x="2515" y="2740"/>
                  <a:pt x="2417" y="2897"/>
                  <a:pt x="2334" y="3093"/>
                </a:cubicBezTo>
                <a:lnTo>
                  <a:pt x="2327" y="3055"/>
                </a:lnTo>
                <a:cubicBezTo>
                  <a:pt x="2355" y="2821"/>
                  <a:pt x="2386" y="2672"/>
                  <a:pt x="2386" y="2672"/>
                </a:cubicBezTo>
                <a:cubicBezTo>
                  <a:pt x="2386" y="2672"/>
                  <a:pt x="2307" y="2859"/>
                  <a:pt x="2235" y="3080"/>
                </a:cubicBezTo>
                <a:cubicBezTo>
                  <a:pt x="2248" y="2804"/>
                  <a:pt x="2298" y="2625"/>
                  <a:pt x="2298" y="2625"/>
                </a:cubicBezTo>
                <a:cubicBezTo>
                  <a:pt x="2298" y="2625"/>
                  <a:pt x="2199" y="2693"/>
                  <a:pt x="2072" y="3242"/>
                </a:cubicBezTo>
                <a:cubicBezTo>
                  <a:pt x="1928" y="3395"/>
                  <a:pt x="1894" y="3497"/>
                  <a:pt x="1779" y="3697"/>
                </a:cubicBezTo>
                <a:cubicBezTo>
                  <a:pt x="1593" y="3535"/>
                  <a:pt x="1505" y="3280"/>
                  <a:pt x="1421" y="2804"/>
                </a:cubicBezTo>
                <a:cubicBezTo>
                  <a:pt x="1358" y="2442"/>
                  <a:pt x="1244" y="2387"/>
                  <a:pt x="1129" y="2574"/>
                </a:cubicBezTo>
                <a:cubicBezTo>
                  <a:pt x="960" y="2846"/>
                  <a:pt x="746" y="3225"/>
                  <a:pt x="746" y="3225"/>
                </a:cubicBezTo>
                <a:cubicBezTo>
                  <a:pt x="746" y="3225"/>
                  <a:pt x="816" y="3212"/>
                  <a:pt x="889" y="3225"/>
                </a:cubicBezTo>
                <a:cubicBezTo>
                  <a:pt x="790" y="3374"/>
                  <a:pt x="694" y="3578"/>
                  <a:pt x="694" y="3578"/>
                </a:cubicBezTo>
                <a:cubicBezTo>
                  <a:pt x="694" y="3578"/>
                  <a:pt x="740" y="3578"/>
                  <a:pt x="798" y="3578"/>
                </a:cubicBezTo>
                <a:cubicBezTo>
                  <a:pt x="758" y="3706"/>
                  <a:pt x="736" y="3769"/>
                  <a:pt x="698" y="3867"/>
                </a:cubicBezTo>
                <a:cubicBezTo>
                  <a:pt x="608" y="4127"/>
                  <a:pt x="534" y="4429"/>
                  <a:pt x="534" y="4429"/>
                </a:cubicBezTo>
                <a:cubicBezTo>
                  <a:pt x="534" y="4429"/>
                  <a:pt x="596" y="4318"/>
                  <a:pt x="651" y="4254"/>
                </a:cubicBezTo>
                <a:cubicBezTo>
                  <a:pt x="612" y="4603"/>
                  <a:pt x="535" y="4859"/>
                  <a:pt x="549" y="5288"/>
                </a:cubicBezTo>
                <a:cubicBezTo>
                  <a:pt x="563" y="5680"/>
                  <a:pt x="684" y="6484"/>
                  <a:pt x="842" y="6977"/>
                </a:cubicBezTo>
                <a:cubicBezTo>
                  <a:pt x="855" y="7024"/>
                  <a:pt x="1070" y="7803"/>
                  <a:pt x="1232" y="7484"/>
                </a:cubicBezTo>
                <a:cubicBezTo>
                  <a:pt x="1394" y="7160"/>
                  <a:pt x="1458" y="6875"/>
                  <a:pt x="1485" y="6437"/>
                </a:cubicBezTo>
                <a:cubicBezTo>
                  <a:pt x="1517" y="5931"/>
                  <a:pt x="1499" y="5552"/>
                  <a:pt x="1432" y="4459"/>
                </a:cubicBezTo>
                <a:cubicBezTo>
                  <a:pt x="1411" y="4097"/>
                  <a:pt x="1353" y="3353"/>
                  <a:pt x="1325" y="2999"/>
                </a:cubicBezTo>
                <a:lnTo>
                  <a:pt x="1332" y="2982"/>
                </a:lnTo>
                <a:cubicBezTo>
                  <a:pt x="1385" y="3421"/>
                  <a:pt x="1520" y="4582"/>
                  <a:pt x="1575" y="5361"/>
                </a:cubicBezTo>
                <a:cubicBezTo>
                  <a:pt x="1660" y="6577"/>
                  <a:pt x="1633" y="7194"/>
                  <a:pt x="1594" y="7420"/>
                </a:cubicBezTo>
                <a:cubicBezTo>
                  <a:pt x="1477" y="8105"/>
                  <a:pt x="1175" y="8194"/>
                  <a:pt x="1038" y="7816"/>
                </a:cubicBezTo>
                <a:cubicBezTo>
                  <a:pt x="1016" y="9122"/>
                  <a:pt x="1091" y="9700"/>
                  <a:pt x="1116" y="9990"/>
                </a:cubicBezTo>
                <a:cubicBezTo>
                  <a:pt x="1103" y="10321"/>
                  <a:pt x="1158" y="10943"/>
                  <a:pt x="1158" y="10943"/>
                </a:cubicBezTo>
                <a:cubicBezTo>
                  <a:pt x="1158" y="10943"/>
                  <a:pt x="1164" y="10662"/>
                  <a:pt x="1189" y="10513"/>
                </a:cubicBezTo>
                <a:cubicBezTo>
                  <a:pt x="1196" y="10845"/>
                  <a:pt x="1238" y="11236"/>
                  <a:pt x="1238" y="11236"/>
                </a:cubicBezTo>
                <a:cubicBezTo>
                  <a:pt x="1238" y="11236"/>
                  <a:pt x="1234" y="10994"/>
                  <a:pt x="1254" y="10785"/>
                </a:cubicBezTo>
                <a:cubicBezTo>
                  <a:pt x="1281" y="10968"/>
                  <a:pt x="1300" y="11011"/>
                  <a:pt x="1326" y="11147"/>
                </a:cubicBezTo>
                <a:cubicBezTo>
                  <a:pt x="1351" y="11500"/>
                  <a:pt x="1403" y="11759"/>
                  <a:pt x="1403" y="11759"/>
                </a:cubicBezTo>
                <a:cubicBezTo>
                  <a:pt x="1403" y="11759"/>
                  <a:pt x="1394" y="11568"/>
                  <a:pt x="1399" y="11372"/>
                </a:cubicBezTo>
                <a:cubicBezTo>
                  <a:pt x="1524" y="11844"/>
                  <a:pt x="1546" y="12542"/>
                  <a:pt x="1559" y="13074"/>
                </a:cubicBezTo>
                <a:cubicBezTo>
                  <a:pt x="1594" y="14542"/>
                  <a:pt x="972" y="15708"/>
                  <a:pt x="851" y="16627"/>
                </a:cubicBezTo>
                <a:cubicBezTo>
                  <a:pt x="759" y="17171"/>
                  <a:pt x="705" y="18031"/>
                  <a:pt x="859" y="18537"/>
                </a:cubicBezTo>
                <a:cubicBezTo>
                  <a:pt x="972" y="18898"/>
                  <a:pt x="1037" y="19183"/>
                  <a:pt x="1079" y="19422"/>
                </a:cubicBezTo>
                <a:lnTo>
                  <a:pt x="553" y="19724"/>
                </a:lnTo>
                <a:lnTo>
                  <a:pt x="0" y="2051"/>
                </a:lnTo>
                <a:close/>
              </a:path>
            </a:pathLst>
          </a:custGeom>
          <a:solidFill>
            <a:srgbClr val="632CA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208" name="Google Shape;78;p12" descr="Google Shape;78;p1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2"/>
            <a:ext cx="12192000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Title Text"/>
          <p:cNvSpPr txBox="1"/>
          <p:nvPr>
            <p:ph type="title"/>
          </p:nvPr>
        </p:nvSpPr>
        <p:spPr>
          <a:xfrm>
            <a:off x="695084" y="695325"/>
            <a:ext cx="10773018" cy="12446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10" name="Body Level One…"/>
          <p:cNvSpPr txBox="1"/>
          <p:nvPr>
            <p:ph type="body" sz="quarter" idx="1"/>
          </p:nvPr>
        </p:nvSpPr>
        <p:spPr>
          <a:xfrm>
            <a:off x="695084" y="2077085"/>
            <a:ext cx="10773018" cy="110744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 marL="228600" indent="457200">
              <a:buSzTx/>
              <a:buNone/>
              <a:defRPr sz="2400">
                <a:solidFill>
                  <a:srgbClr val="FFFFFF"/>
                </a:solidFill>
              </a:defRPr>
            </a:lvl2pPr>
            <a:lvl3pPr marL="228600" indent="914400">
              <a:buSzTx/>
              <a:buNone/>
              <a:defRPr sz="2400">
                <a:solidFill>
                  <a:srgbClr val="FFFFFF"/>
                </a:solidFill>
              </a:defRPr>
            </a:lvl3pPr>
            <a:lvl4pPr marL="228600" indent="1371600">
              <a:buSzTx/>
              <a:buNone/>
              <a:defRPr sz="2400">
                <a:solidFill>
                  <a:srgbClr val="FFFFFF"/>
                </a:solidFill>
              </a:defRPr>
            </a:lvl4pPr>
            <a:lvl5pPr marL="228600" indent="1828800">
              <a:buSz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12" name="Google Shape;82;p12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ivider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84;p13" descr="Google Shape;84;p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10"/>
            <a:ext cx="12192000" cy="6858027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Title Text"/>
          <p:cNvSpPr txBox="1"/>
          <p:nvPr>
            <p:ph type="title"/>
          </p:nvPr>
        </p:nvSpPr>
        <p:spPr>
          <a:xfrm>
            <a:off x="695084" y="695325"/>
            <a:ext cx="10773001" cy="12447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21" name="Body Level One…"/>
          <p:cNvSpPr txBox="1"/>
          <p:nvPr>
            <p:ph type="body" sz="quarter" idx="1"/>
          </p:nvPr>
        </p:nvSpPr>
        <p:spPr>
          <a:xfrm>
            <a:off x="695084" y="2077085"/>
            <a:ext cx="10773001" cy="1107301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 marL="228600" indent="457200">
              <a:buSzTx/>
              <a:buNone/>
              <a:defRPr sz="2400">
                <a:solidFill>
                  <a:srgbClr val="FFFFFF"/>
                </a:solidFill>
              </a:defRPr>
            </a:lvl2pPr>
            <a:lvl3pPr marL="228600" indent="914400">
              <a:buSzTx/>
              <a:buNone/>
              <a:defRPr sz="2400">
                <a:solidFill>
                  <a:srgbClr val="FFFFFF"/>
                </a:solidFill>
              </a:defRPr>
            </a:lvl3pPr>
            <a:lvl4pPr marL="228600" indent="1371600">
              <a:buSzTx/>
              <a:buNone/>
              <a:defRPr sz="2400">
                <a:solidFill>
                  <a:srgbClr val="FFFFFF"/>
                </a:solidFill>
              </a:defRPr>
            </a:lvl4pPr>
            <a:lvl5pPr marL="228600" indent="1828800">
              <a:buSz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23" name="Google Shape;88;p13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ivider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10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30" name="Google Shape;11;p1" descr="Google Shape;11;p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31" name="Google Shape;12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4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44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</p:grpSp>
      <p:grpSp>
        <p:nvGrpSpPr>
          <p:cNvPr id="240" name="Google Shape;17;p1"/>
          <p:cNvGrpSpPr/>
          <p:nvPr/>
        </p:nvGrpSpPr>
        <p:grpSpPr>
          <a:xfrm>
            <a:off x="0" y="-710591"/>
            <a:ext cx="4109466" cy="479101"/>
            <a:chOff x="0" y="0"/>
            <a:chExt cx="4109465" cy="479100"/>
          </a:xfrm>
        </p:grpSpPr>
        <p:sp>
          <p:nvSpPr>
            <p:cNvPr id="233" name="Google Shape;18;p1"/>
            <p:cNvSpPr/>
            <p:nvPr/>
          </p:nvSpPr>
          <p:spPr>
            <a:xfrm>
              <a:off x="0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90000">
                  <a:srgbClr val="9C43FE"/>
                </a:gs>
                <a:gs pos="100000">
                  <a:srgbClr val="9C43FE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4" name="Google Shape;19;p1"/>
            <p:cNvSpPr/>
            <p:nvPr/>
          </p:nvSpPr>
          <p:spPr>
            <a:xfrm>
              <a:off x="60506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100000">
                  <a:schemeClr val="accent2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235" name="Google Shape;20;p1"/>
            <p:cNvSpPr/>
            <p:nvPr/>
          </p:nvSpPr>
          <p:spPr>
            <a:xfrm>
              <a:off x="121012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30000">
                  <a:schemeClr val="accent2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236" name="Google Shape;21;p1"/>
            <p:cNvSpPr/>
            <p:nvPr/>
          </p:nvSpPr>
          <p:spPr>
            <a:xfrm>
              <a:off x="181518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00B765"/>
                </a:gs>
                <a:gs pos="30000">
                  <a:srgbClr val="00B765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7" name="Google Shape;22;p1"/>
            <p:cNvSpPr/>
            <p:nvPr/>
          </p:nvSpPr>
          <p:spPr>
            <a:xfrm>
              <a:off x="242024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8000FF"/>
                </a:gs>
                <a:gs pos="90000">
                  <a:schemeClr val="accent6"/>
                </a:gs>
                <a:gs pos="100000">
                  <a:schemeClr val="accent6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238" name="Google Shape;23;p1"/>
            <p:cNvSpPr/>
            <p:nvPr/>
          </p:nvSpPr>
          <p:spPr>
            <a:xfrm>
              <a:off x="3025304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6"/>
                </a:gs>
                <a:gs pos="30000">
                  <a:schemeClr val="accent6"/>
                </a:gs>
                <a:gs pos="90000">
                  <a:schemeClr val="accent3"/>
                </a:gs>
                <a:gs pos="100000">
                  <a:schemeClr val="accent3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9" name="Google Shape;24;p1"/>
            <p:cNvSpPr/>
            <p:nvPr/>
          </p:nvSpPr>
          <p:spPr>
            <a:xfrm>
              <a:off x="3630365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30000">
                  <a:schemeClr val="accent3"/>
                </a:gs>
                <a:gs pos="90000">
                  <a:schemeClr val="accent5"/>
                </a:gs>
                <a:gs pos="100000">
                  <a:schemeClr val="accent5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41" name="Google Shape;25;p1"/>
          <p:cNvSpPr/>
          <p:nvPr/>
        </p:nvSpPr>
        <p:spPr>
          <a:xfrm>
            <a:off x="10585766" y="6450774"/>
            <a:ext cx="1080115" cy="2747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33" fill="norm" stroke="1" extrusionOk="0">
                <a:moveTo>
                  <a:pt x="4627" y="12440"/>
                </a:moveTo>
                <a:lnTo>
                  <a:pt x="4750" y="17639"/>
                </a:lnTo>
                <a:lnTo>
                  <a:pt x="2635" y="19175"/>
                </a:lnTo>
                <a:lnTo>
                  <a:pt x="2616" y="18439"/>
                </a:lnTo>
                <a:lnTo>
                  <a:pt x="3005" y="16103"/>
                </a:lnTo>
                <a:lnTo>
                  <a:pt x="3447" y="16610"/>
                </a:lnTo>
                <a:lnTo>
                  <a:pt x="3827" y="14112"/>
                </a:lnTo>
                <a:lnTo>
                  <a:pt x="4281" y="15293"/>
                </a:lnTo>
                <a:lnTo>
                  <a:pt x="4281" y="15295"/>
                </a:lnTo>
                <a:lnTo>
                  <a:pt x="4282" y="15295"/>
                </a:lnTo>
                <a:lnTo>
                  <a:pt x="4281" y="15293"/>
                </a:lnTo>
                <a:close/>
                <a:moveTo>
                  <a:pt x="4755" y="11377"/>
                </a:moveTo>
                <a:lnTo>
                  <a:pt x="3365" y="12368"/>
                </a:lnTo>
                <a:cubicBezTo>
                  <a:pt x="3332" y="12542"/>
                  <a:pt x="3246" y="12849"/>
                  <a:pt x="3205" y="12929"/>
                </a:cubicBezTo>
                <a:cubicBezTo>
                  <a:pt x="3030" y="13274"/>
                  <a:pt x="2911" y="13176"/>
                  <a:pt x="2808" y="13070"/>
                </a:cubicBezTo>
                <a:cubicBezTo>
                  <a:pt x="2742" y="13006"/>
                  <a:pt x="2705" y="12968"/>
                  <a:pt x="2649" y="12870"/>
                </a:cubicBezTo>
                <a:lnTo>
                  <a:pt x="2310" y="13053"/>
                </a:lnTo>
                <a:lnTo>
                  <a:pt x="2310" y="13057"/>
                </a:lnTo>
                <a:lnTo>
                  <a:pt x="2515" y="19822"/>
                </a:lnTo>
                <a:lnTo>
                  <a:pt x="4897" y="18133"/>
                </a:lnTo>
                <a:close/>
                <a:moveTo>
                  <a:pt x="3698" y="9185"/>
                </a:moveTo>
                <a:cubicBezTo>
                  <a:pt x="3739" y="9275"/>
                  <a:pt x="3739" y="9551"/>
                  <a:pt x="3711" y="9811"/>
                </a:cubicBezTo>
                <a:cubicBezTo>
                  <a:pt x="3670" y="10185"/>
                  <a:pt x="3612" y="10598"/>
                  <a:pt x="3546" y="10632"/>
                </a:cubicBezTo>
                <a:cubicBezTo>
                  <a:pt x="3437" y="10692"/>
                  <a:pt x="3336" y="10462"/>
                  <a:pt x="3219" y="10117"/>
                </a:cubicBezTo>
                <a:cubicBezTo>
                  <a:pt x="3178" y="9994"/>
                  <a:pt x="3152" y="9696"/>
                  <a:pt x="3208" y="9526"/>
                </a:cubicBezTo>
                <a:cubicBezTo>
                  <a:pt x="3239" y="9428"/>
                  <a:pt x="3380" y="9249"/>
                  <a:pt x="3511" y="9190"/>
                </a:cubicBezTo>
                <a:cubicBezTo>
                  <a:pt x="3579" y="9160"/>
                  <a:pt x="3677" y="9139"/>
                  <a:pt x="3698" y="9185"/>
                </a:cubicBezTo>
                <a:close/>
                <a:moveTo>
                  <a:pt x="15082" y="7671"/>
                </a:moveTo>
                <a:lnTo>
                  <a:pt x="15082" y="13878"/>
                </a:lnTo>
                <a:lnTo>
                  <a:pt x="15595" y="13878"/>
                </a:lnTo>
                <a:cubicBezTo>
                  <a:pt x="16078" y="13878"/>
                  <a:pt x="16321" y="12759"/>
                  <a:pt x="16321" y="10526"/>
                </a:cubicBezTo>
                <a:cubicBezTo>
                  <a:pt x="16321" y="8624"/>
                  <a:pt x="16078" y="7671"/>
                  <a:pt x="15595" y="7671"/>
                </a:cubicBezTo>
                <a:close/>
                <a:moveTo>
                  <a:pt x="6458" y="7671"/>
                </a:moveTo>
                <a:lnTo>
                  <a:pt x="6458" y="13878"/>
                </a:lnTo>
                <a:lnTo>
                  <a:pt x="6971" y="13878"/>
                </a:lnTo>
                <a:cubicBezTo>
                  <a:pt x="7454" y="13878"/>
                  <a:pt x="7695" y="12759"/>
                  <a:pt x="7695" y="10526"/>
                </a:cubicBezTo>
                <a:cubicBezTo>
                  <a:pt x="7695" y="8624"/>
                  <a:pt x="7454" y="7671"/>
                  <a:pt x="6971" y="7671"/>
                </a:cubicBezTo>
                <a:close/>
                <a:moveTo>
                  <a:pt x="18214" y="7598"/>
                </a:moveTo>
                <a:cubicBezTo>
                  <a:pt x="17745" y="7598"/>
                  <a:pt x="17493" y="8645"/>
                  <a:pt x="17493" y="10743"/>
                </a:cubicBezTo>
                <a:cubicBezTo>
                  <a:pt x="17493" y="12840"/>
                  <a:pt x="17733" y="13933"/>
                  <a:pt x="18214" y="13933"/>
                </a:cubicBezTo>
                <a:cubicBezTo>
                  <a:pt x="18684" y="13933"/>
                  <a:pt x="18918" y="12870"/>
                  <a:pt x="18918" y="10743"/>
                </a:cubicBezTo>
                <a:cubicBezTo>
                  <a:pt x="18918" y="8615"/>
                  <a:pt x="18684" y="7598"/>
                  <a:pt x="18214" y="7598"/>
                </a:cubicBezTo>
                <a:close/>
                <a:moveTo>
                  <a:pt x="2441" y="6390"/>
                </a:moveTo>
                <a:cubicBezTo>
                  <a:pt x="2513" y="6396"/>
                  <a:pt x="2559" y="6475"/>
                  <a:pt x="2540" y="6543"/>
                </a:cubicBezTo>
                <a:cubicBezTo>
                  <a:pt x="2470" y="6807"/>
                  <a:pt x="2564" y="6731"/>
                  <a:pt x="2574" y="7216"/>
                </a:cubicBezTo>
                <a:cubicBezTo>
                  <a:pt x="2581" y="7573"/>
                  <a:pt x="2552" y="7773"/>
                  <a:pt x="2526" y="7884"/>
                </a:cubicBezTo>
                <a:cubicBezTo>
                  <a:pt x="2472" y="7909"/>
                  <a:pt x="2407" y="7964"/>
                  <a:pt x="2329" y="8062"/>
                </a:cubicBezTo>
                <a:cubicBezTo>
                  <a:pt x="2283" y="8122"/>
                  <a:pt x="2243" y="8190"/>
                  <a:pt x="2207" y="8254"/>
                </a:cubicBezTo>
                <a:cubicBezTo>
                  <a:pt x="2198" y="8228"/>
                  <a:pt x="2188" y="8203"/>
                  <a:pt x="2176" y="8160"/>
                </a:cubicBezTo>
                <a:cubicBezTo>
                  <a:pt x="2056" y="7747"/>
                  <a:pt x="2059" y="7024"/>
                  <a:pt x="2186" y="6684"/>
                </a:cubicBezTo>
                <a:cubicBezTo>
                  <a:pt x="2271" y="6454"/>
                  <a:pt x="2369" y="6385"/>
                  <a:pt x="2441" y="6390"/>
                </a:cubicBezTo>
                <a:close/>
                <a:moveTo>
                  <a:pt x="14650" y="6199"/>
                </a:moveTo>
                <a:lnTo>
                  <a:pt x="15660" y="6199"/>
                </a:lnTo>
                <a:cubicBezTo>
                  <a:pt x="16388" y="6199"/>
                  <a:pt x="16752" y="7641"/>
                  <a:pt x="16752" y="10526"/>
                </a:cubicBezTo>
                <a:cubicBezTo>
                  <a:pt x="16752" y="13742"/>
                  <a:pt x="16389" y="15350"/>
                  <a:pt x="15660" y="15350"/>
                </a:cubicBezTo>
                <a:lnTo>
                  <a:pt x="15660" y="15346"/>
                </a:lnTo>
                <a:lnTo>
                  <a:pt x="14650" y="15346"/>
                </a:lnTo>
                <a:close/>
                <a:moveTo>
                  <a:pt x="6026" y="6199"/>
                </a:moveTo>
                <a:lnTo>
                  <a:pt x="7036" y="6199"/>
                </a:lnTo>
                <a:cubicBezTo>
                  <a:pt x="7764" y="6199"/>
                  <a:pt x="8128" y="7641"/>
                  <a:pt x="8128" y="10526"/>
                </a:cubicBezTo>
                <a:cubicBezTo>
                  <a:pt x="8128" y="13742"/>
                  <a:pt x="7764" y="15350"/>
                  <a:pt x="7036" y="15350"/>
                </a:cubicBezTo>
                <a:lnTo>
                  <a:pt x="7036" y="15346"/>
                </a:lnTo>
                <a:lnTo>
                  <a:pt x="6026" y="15346"/>
                </a:lnTo>
                <a:close/>
                <a:moveTo>
                  <a:pt x="12890" y="6195"/>
                </a:moveTo>
                <a:lnTo>
                  <a:pt x="13354" y="6195"/>
                </a:lnTo>
                <a:lnTo>
                  <a:pt x="14364" y="15346"/>
                </a:lnTo>
                <a:lnTo>
                  <a:pt x="13899" y="15346"/>
                </a:lnTo>
                <a:lnTo>
                  <a:pt x="13606" y="12849"/>
                </a:lnTo>
                <a:lnTo>
                  <a:pt x="12860" y="12849"/>
                </a:lnTo>
                <a:lnTo>
                  <a:pt x="13008" y="11377"/>
                </a:lnTo>
                <a:lnTo>
                  <a:pt x="13493" y="11377"/>
                </a:lnTo>
                <a:lnTo>
                  <a:pt x="13111" y="7943"/>
                </a:lnTo>
                <a:lnTo>
                  <a:pt x="12345" y="15346"/>
                </a:lnTo>
                <a:lnTo>
                  <a:pt x="11902" y="15346"/>
                </a:lnTo>
                <a:close/>
                <a:moveTo>
                  <a:pt x="10356" y="6195"/>
                </a:moveTo>
                <a:lnTo>
                  <a:pt x="12123" y="6195"/>
                </a:lnTo>
                <a:lnTo>
                  <a:pt x="12123" y="7667"/>
                </a:lnTo>
                <a:lnTo>
                  <a:pt x="11455" y="7667"/>
                </a:lnTo>
                <a:lnTo>
                  <a:pt x="11455" y="15346"/>
                </a:lnTo>
                <a:lnTo>
                  <a:pt x="11024" y="15346"/>
                </a:lnTo>
                <a:lnTo>
                  <a:pt x="11024" y="7667"/>
                </a:lnTo>
                <a:lnTo>
                  <a:pt x="10356" y="7667"/>
                </a:lnTo>
                <a:close/>
                <a:moveTo>
                  <a:pt x="9124" y="6195"/>
                </a:moveTo>
                <a:lnTo>
                  <a:pt x="9589" y="6195"/>
                </a:lnTo>
                <a:lnTo>
                  <a:pt x="10599" y="15346"/>
                </a:lnTo>
                <a:lnTo>
                  <a:pt x="10135" y="15346"/>
                </a:lnTo>
                <a:lnTo>
                  <a:pt x="9842" y="12849"/>
                </a:lnTo>
                <a:lnTo>
                  <a:pt x="9096" y="12849"/>
                </a:lnTo>
                <a:lnTo>
                  <a:pt x="9244" y="11377"/>
                </a:lnTo>
                <a:lnTo>
                  <a:pt x="9728" y="11377"/>
                </a:lnTo>
                <a:lnTo>
                  <a:pt x="9347" y="7943"/>
                </a:lnTo>
                <a:lnTo>
                  <a:pt x="8580" y="15346"/>
                </a:lnTo>
                <a:lnTo>
                  <a:pt x="8136" y="15346"/>
                </a:lnTo>
                <a:close/>
                <a:moveTo>
                  <a:pt x="20915" y="6135"/>
                </a:moveTo>
                <a:cubicBezTo>
                  <a:pt x="21170" y="6135"/>
                  <a:pt x="21398" y="6284"/>
                  <a:pt x="21599" y="6582"/>
                </a:cubicBezTo>
                <a:lnTo>
                  <a:pt x="21599" y="8118"/>
                </a:lnTo>
                <a:cubicBezTo>
                  <a:pt x="21398" y="7773"/>
                  <a:pt x="21181" y="7603"/>
                  <a:pt x="20947" y="7603"/>
                </a:cubicBezTo>
                <a:cubicBezTo>
                  <a:pt x="20388" y="7603"/>
                  <a:pt x="20108" y="8615"/>
                  <a:pt x="20108" y="10645"/>
                </a:cubicBezTo>
                <a:cubicBezTo>
                  <a:pt x="20108" y="12840"/>
                  <a:pt x="20372" y="13938"/>
                  <a:pt x="20900" y="13938"/>
                </a:cubicBezTo>
                <a:cubicBezTo>
                  <a:pt x="20977" y="13938"/>
                  <a:pt x="21067" y="13887"/>
                  <a:pt x="21167" y="13785"/>
                </a:cubicBezTo>
                <a:lnTo>
                  <a:pt x="21167" y="11653"/>
                </a:lnTo>
                <a:lnTo>
                  <a:pt x="21169" y="11653"/>
                </a:lnTo>
                <a:lnTo>
                  <a:pt x="21167" y="11640"/>
                </a:lnTo>
                <a:lnTo>
                  <a:pt x="21167" y="11653"/>
                </a:lnTo>
                <a:lnTo>
                  <a:pt x="20757" y="11653"/>
                </a:lnTo>
                <a:lnTo>
                  <a:pt x="20903" y="10147"/>
                </a:lnTo>
                <a:lnTo>
                  <a:pt x="21600" y="10147"/>
                </a:lnTo>
                <a:lnTo>
                  <a:pt x="21600" y="14933"/>
                </a:lnTo>
                <a:cubicBezTo>
                  <a:pt x="21412" y="15257"/>
                  <a:pt x="21177" y="15418"/>
                  <a:pt x="20894" y="15418"/>
                </a:cubicBezTo>
                <a:cubicBezTo>
                  <a:pt x="20071" y="15418"/>
                  <a:pt x="19661" y="13827"/>
                  <a:pt x="19661" y="10649"/>
                </a:cubicBezTo>
                <a:cubicBezTo>
                  <a:pt x="19661" y="7637"/>
                  <a:pt x="20079" y="6135"/>
                  <a:pt x="20915" y="6135"/>
                </a:cubicBezTo>
                <a:close/>
                <a:moveTo>
                  <a:pt x="18214" y="6126"/>
                </a:moveTo>
                <a:cubicBezTo>
                  <a:pt x="18994" y="6126"/>
                  <a:pt x="19366" y="7675"/>
                  <a:pt x="19366" y="10781"/>
                </a:cubicBezTo>
                <a:cubicBezTo>
                  <a:pt x="19366" y="13887"/>
                  <a:pt x="18982" y="15410"/>
                  <a:pt x="18214" y="15410"/>
                </a:cubicBezTo>
                <a:cubicBezTo>
                  <a:pt x="17447" y="15410"/>
                  <a:pt x="17079" y="13865"/>
                  <a:pt x="17045" y="10781"/>
                </a:cubicBezTo>
                <a:cubicBezTo>
                  <a:pt x="17045" y="7679"/>
                  <a:pt x="17435" y="6126"/>
                  <a:pt x="18214" y="6126"/>
                </a:cubicBezTo>
                <a:close/>
                <a:moveTo>
                  <a:pt x="3405" y="5888"/>
                </a:moveTo>
                <a:cubicBezTo>
                  <a:pt x="3564" y="6182"/>
                  <a:pt x="3543" y="6735"/>
                  <a:pt x="3548" y="7062"/>
                </a:cubicBezTo>
                <a:cubicBezTo>
                  <a:pt x="3549" y="7156"/>
                  <a:pt x="3549" y="7220"/>
                  <a:pt x="3547" y="7262"/>
                </a:cubicBezTo>
                <a:cubicBezTo>
                  <a:pt x="3524" y="7216"/>
                  <a:pt x="3489" y="7182"/>
                  <a:pt x="3434" y="7190"/>
                </a:cubicBezTo>
                <a:cubicBezTo>
                  <a:pt x="3418" y="7194"/>
                  <a:pt x="3402" y="7203"/>
                  <a:pt x="3387" y="7211"/>
                </a:cubicBezTo>
                <a:cubicBezTo>
                  <a:pt x="3328" y="7088"/>
                  <a:pt x="3294" y="6845"/>
                  <a:pt x="3261" y="6586"/>
                </a:cubicBezTo>
                <a:lnTo>
                  <a:pt x="3254" y="6522"/>
                </a:lnTo>
                <a:lnTo>
                  <a:pt x="3249" y="6492"/>
                </a:lnTo>
                <a:lnTo>
                  <a:pt x="3249" y="6480"/>
                </a:lnTo>
                <a:cubicBezTo>
                  <a:pt x="3232" y="6258"/>
                  <a:pt x="3244" y="6216"/>
                  <a:pt x="3252" y="6148"/>
                </a:cubicBezTo>
                <a:lnTo>
                  <a:pt x="3252" y="6143"/>
                </a:lnTo>
                <a:cubicBezTo>
                  <a:pt x="3259" y="6075"/>
                  <a:pt x="3287" y="6020"/>
                  <a:pt x="3245" y="5961"/>
                </a:cubicBezTo>
                <a:cubicBezTo>
                  <a:pt x="3242" y="5956"/>
                  <a:pt x="3238" y="5948"/>
                  <a:pt x="3232" y="5948"/>
                </a:cubicBezTo>
                <a:cubicBezTo>
                  <a:pt x="3260" y="5812"/>
                  <a:pt x="3345" y="5778"/>
                  <a:pt x="3405" y="5888"/>
                </a:cubicBezTo>
                <a:close/>
                <a:moveTo>
                  <a:pt x="4491" y="0"/>
                </a:moveTo>
                <a:lnTo>
                  <a:pt x="4755" y="10721"/>
                </a:lnTo>
                <a:lnTo>
                  <a:pt x="4892" y="10619"/>
                </a:lnTo>
                <a:lnTo>
                  <a:pt x="4894" y="10615"/>
                </a:lnTo>
                <a:lnTo>
                  <a:pt x="5113" y="19060"/>
                </a:lnTo>
                <a:lnTo>
                  <a:pt x="2416" y="20336"/>
                </a:lnTo>
                <a:lnTo>
                  <a:pt x="2358" y="18690"/>
                </a:lnTo>
                <a:lnTo>
                  <a:pt x="2194" y="18784"/>
                </a:lnTo>
                <a:cubicBezTo>
                  <a:pt x="2208" y="19698"/>
                  <a:pt x="2153" y="20570"/>
                  <a:pt x="2051" y="20987"/>
                </a:cubicBezTo>
                <a:cubicBezTo>
                  <a:pt x="1931" y="21477"/>
                  <a:pt x="1756" y="21600"/>
                  <a:pt x="1571" y="21502"/>
                </a:cubicBezTo>
                <a:cubicBezTo>
                  <a:pt x="1446" y="21438"/>
                  <a:pt x="1353" y="21085"/>
                  <a:pt x="1285" y="20651"/>
                </a:cubicBezTo>
                <a:cubicBezTo>
                  <a:pt x="1541" y="21362"/>
                  <a:pt x="1858" y="21034"/>
                  <a:pt x="1966" y="20439"/>
                </a:cubicBezTo>
                <a:cubicBezTo>
                  <a:pt x="2119" y="19605"/>
                  <a:pt x="2079" y="18813"/>
                  <a:pt x="2023" y="18077"/>
                </a:cubicBezTo>
                <a:cubicBezTo>
                  <a:pt x="1978" y="17499"/>
                  <a:pt x="1858" y="16541"/>
                  <a:pt x="1709" y="16171"/>
                </a:cubicBezTo>
                <a:cubicBezTo>
                  <a:pt x="1558" y="15793"/>
                  <a:pt x="1410" y="15720"/>
                  <a:pt x="1284" y="15771"/>
                </a:cubicBezTo>
                <a:lnTo>
                  <a:pt x="1296" y="15720"/>
                </a:lnTo>
                <a:cubicBezTo>
                  <a:pt x="1477" y="15580"/>
                  <a:pt x="1665" y="15656"/>
                  <a:pt x="1801" y="16001"/>
                </a:cubicBezTo>
                <a:cubicBezTo>
                  <a:pt x="1955" y="16393"/>
                  <a:pt x="2097" y="17065"/>
                  <a:pt x="2171" y="18094"/>
                </a:cubicBezTo>
                <a:cubicBezTo>
                  <a:pt x="2255" y="18048"/>
                  <a:pt x="2267" y="18026"/>
                  <a:pt x="2344" y="17984"/>
                </a:cubicBezTo>
                <a:lnTo>
                  <a:pt x="2171" y="12683"/>
                </a:lnTo>
                <a:lnTo>
                  <a:pt x="2537" y="12525"/>
                </a:lnTo>
                <a:cubicBezTo>
                  <a:pt x="2365" y="12091"/>
                  <a:pt x="2188" y="11470"/>
                  <a:pt x="2110" y="11125"/>
                </a:cubicBezTo>
                <a:cubicBezTo>
                  <a:pt x="2097" y="11087"/>
                  <a:pt x="2099" y="10917"/>
                  <a:pt x="2099" y="10917"/>
                </a:cubicBezTo>
                <a:cubicBezTo>
                  <a:pt x="2170" y="11130"/>
                  <a:pt x="2460" y="11947"/>
                  <a:pt x="2767" y="12321"/>
                </a:cubicBezTo>
                <a:cubicBezTo>
                  <a:pt x="2875" y="12453"/>
                  <a:pt x="3042" y="12504"/>
                  <a:pt x="3187" y="12181"/>
                </a:cubicBezTo>
                <a:cubicBezTo>
                  <a:pt x="3297" y="11934"/>
                  <a:pt x="3430" y="11504"/>
                  <a:pt x="3509" y="11062"/>
                </a:cubicBezTo>
                <a:lnTo>
                  <a:pt x="3523" y="11160"/>
                </a:lnTo>
                <a:cubicBezTo>
                  <a:pt x="3523" y="11228"/>
                  <a:pt x="3486" y="11547"/>
                  <a:pt x="3468" y="11674"/>
                </a:cubicBezTo>
                <a:cubicBezTo>
                  <a:pt x="3501" y="11751"/>
                  <a:pt x="3526" y="11768"/>
                  <a:pt x="3564" y="11810"/>
                </a:cubicBezTo>
                <a:lnTo>
                  <a:pt x="3819" y="11653"/>
                </a:lnTo>
                <a:cubicBezTo>
                  <a:pt x="3910" y="11074"/>
                  <a:pt x="3976" y="10134"/>
                  <a:pt x="3906" y="9245"/>
                </a:cubicBezTo>
                <a:cubicBezTo>
                  <a:pt x="3866" y="8734"/>
                  <a:pt x="3658" y="7713"/>
                  <a:pt x="3643" y="7658"/>
                </a:cubicBezTo>
                <a:cubicBezTo>
                  <a:pt x="3590" y="7462"/>
                  <a:pt x="3652" y="6701"/>
                  <a:pt x="3548" y="5867"/>
                </a:cubicBezTo>
                <a:cubicBezTo>
                  <a:pt x="3439" y="4986"/>
                  <a:pt x="3154" y="4067"/>
                  <a:pt x="3030" y="3667"/>
                </a:cubicBezTo>
                <a:cubicBezTo>
                  <a:pt x="3067" y="3769"/>
                  <a:pt x="3290" y="4127"/>
                  <a:pt x="3395" y="4625"/>
                </a:cubicBezTo>
                <a:cubicBezTo>
                  <a:pt x="3405" y="4574"/>
                  <a:pt x="3409" y="4306"/>
                  <a:pt x="3418" y="4237"/>
                </a:cubicBezTo>
                <a:cubicBezTo>
                  <a:pt x="3328" y="3778"/>
                  <a:pt x="3321" y="2953"/>
                  <a:pt x="3321" y="2731"/>
                </a:cubicBezTo>
                <a:cubicBezTo>
                  <a:pt x="3321" y="2327"/>
                  <a:pt x="3269" y="1868"/>
                  <a:pt x="3269" y="1868"/>
                </a:cubicBezTo>
                <a:cubicBezTo>
                  <a:pt x="3269" y="1868"/>
                  <a:pt x="3360" y="2149"/>
                  <a:pt x="3382" y="2629"/>
                </a:cubicBezTo>
                <a:cubicBezTo>
                  <a:pt x="3409" y="3199"/>
                  <a:pt x="3468" y="3650"/>
                  <a:pt x="3546" y="4029"/>
                </a:cubicBezTo>
                <a:cubicBezTo>
                  <a:pt x="3693" y="4748"/>
                  <a:pt x="3824" y="5114"/>
                  <a:pt x="3892" y="4850"/>
                </a:cubicBezTo>
                <a:cubicBezTo>
                  <a:pt x="3971" y="4531"/>
                  <a:pt x="3812" y="3106"/>
                  <a:pt x="3605" y="2310"/>
                </a:cubicBezTo>
                <a:cubicBezTo>
                  <a:pt x="3365" y="1383"/>
                  <a:pt x="3301" y="1502"/>
                  <a:pt x="3161" y="1702"/>
                </a:cubicBezTo>
                <a:cubicBezTo>
                  <a:pt x="3048" y="1859"/>
                  <a:pt x="2988" y="3119"/>
                  <a:pt x="2695" y="3093"/>
                </a:cubicBezTo>
                <a:cubicBezTo>
                  <a:pt x="2645" y="3072"/>
                  <a:pt x="2517" y="3059"/>
                  <a:pt x="2454" y="3059"/>
                </a:cubicBezTo>
                <a:cubicBezTo>
                  <a:pt x="2487" y="2880"/>
                  <a:pt x="2515" y="2740"/>
                  <a:pt x="2515" y="2740"/>
                </a:cubicBezTo>
                <a:cubicBezTo>
                  <a:pt x="2515" y="2740"/>
                  <a:pt x="2417" y="2897"/>
                  <a:pt x="2334" y="3093"/>
                </a:cubicBezTo>
                <a:lnTo>
                  <a:pt x="2327" y="3055"/>
                </a:lnTo>
                <a:cubicBezTo>
                  <a:pt x="2355" y="2821"/>
                  <a:pt x="2386" y="2672"/>
                  <a:pt x="2386" y="2672"/>
                </a:cubicBezTo>
                <a:cubicBezTo>
                  <a:pt x="2386" y="2672"/>
                  <a:pt x="2307" y="2859"/>
                  <a:pt x="2235" y="3080"/>
                </a:cubicBezTo>
                <a:cubicBezTo>
                  <a:pt x="2248" y="2804"/>
                  <a:pt x="2298" y="2625"/>
                  <a:pt x="2298" y="2625"/>
                </a:cubicBezTo>
                <a:cubicBezTo>
                  <a:pt x="2298" y="2625"/>
                  <a:pt x="2199" y="2693"/>
                  <a:pt x="2072" y="3242"/>
                </a:cubicBezTo>
                <a:cubicBezTo>
                  <a:pt x="1928" y="3395"/>
                  <a:pt x="1894" y="3497"/>
                  <a:pt x="1779" y="3697"/>
                </a:cubicBezTo>
                <a:cubicBezTo>
                  <a:pt x="1593" y="3535"/>
                  <a:pt x="1505" y="3280"/>
                  <a:pt x="1421" y="2804"/>
                </a:cubicBezTo>
                <a:cubicBezTo>
                  <a:pt x="1358" y="2442"/>
                  <a:pt x="1244" y="2387"/>
                  <a:pt x="1129" y="2574"/>
                </a:cubicBezTo>
                <a:cubicBezTo>
                  <a:pt x="960" y="2846"/>
                  <a:pt x="746" y="3225"/>
                  <a:pt x="746" y="3225"/>
                </a:cubicBezTo>
                <a:cubicBezTo>
                  <a:pt x="746" y="3225"/>
                  <a:pt x="816" y="3212"/>
                  <a:pt x="889" y="3225"/>
                </a:cubicBezTo>
                <a:cubicBezTo>
                  <a:pt x="790" y="3374"/>
                  <a:pt x="694" y="3578"/>
                  <a:pt x="694" y="3578"/>
                </a:cubicBezTo>
                <a:cubicBezTo>
                  <a:pt x="694" y="3578"/>
                  <a:pt x="740" y="3578"/>
                  <a:pt x="798" y="3578"/>
                </a:cubicBezTo>
                <a:cubicBezTo>
                  <a:pt x="758" y="3706"/>
                  <a:pt x="736" y="3769"/>
                  <a:pt x="698" y="3867"/>
                </a:cubicBezTo>
                <a:cubicBezTo>
                  <a:pt x="608" y="4127"/>
                  <a:pt x="534" y="4429"/>
                  <a:pt x="534" y="4429"/>
                </a:cubicBezTo>
                <a:cubicBezTo>
                  <a:pt x="534" y="4429"/>
                  <a:pt x="596" y="4318"/>
                  <a:pt x="651" y="4254"/>
                </a:cubicBezTo>
                <a:cubicBezTo>
                  <a:pt x="612" y="4603"/>
                  <a:pt x="535" y="4859"/>
                  <a:pt x="549" y="5288"/>
                </a:cubicBezTo>
                <a:cubicBezTo>
                  <a:pt x="563" y="5680"/>
                  <a:pt x="684" y="6484"/>
                  <a:pt x="842" y="6977"/>
                </a:cubicBezTo>
                <a:cubicBezTo>
                  <a:pt x="855" y="7024"/>
                  <a:pt x="1070" y="7803"/>
                  <a:pt x="1232" y="7484"/>
                </a:cubicBezTo>
                <a:cubicBezTo>
                  <a:pt x="1394" y="7160"/>
                  <a:pt x="1458" y="6875"/>
                  <a:pt x="1485" y="6437"/>
                </a:cubicBezTo>
                <a:cubicBezTo>
                  <a:pt x="1517" y="5931"/>
                  <a:pt x="1499" y="5552"/>
                  <a:pt x="1432" y="4459"/>
                </a:cubicBezTo>
                <a:cubicBezTo>
                  <a:pt x="1411" y="4097"/>
                  <a:pt x="1353" y="3353"/>
                  <a:pt x="1325" y="2999"/>
                </a:cubicBezTo>
                <a:lnTo>
                  <a:pt x="1332" y="2982"/>
                </a:lnTo>
                <a:cubicBezTo>
                  <a:pt x="1385" y="3421"/>
                  <a:pt x="1520" y="4582"/>
                  <a:pt x="1575" y="5361"/>
                </a:cubicBezTo>
                <a:cubicBezTo>
                  <a:pt x="1660" y="6577"/>
                  <a:pt x="1633" y="7194"/>
                  <a:pt x="1594" y="7420"/>
                </a:cubicBezTo>
                <a:cubicBezTo>
                  <a:pt x="1477" y="8105"/>
                  <a:pt x="1175" y="8194"/>
                  <a:pt x="1038" y="7816"/>
                </a:cubicBezTo>
                <a:cubicBezTo>
                  <a:pt x="1016" y="9122"/>
                  <a:pt x="1091" y="9700"/>
                  <a:pt x="1116" y="9990"/>
                </a:cubicBezTo>
                <a:cubicBezTo>
                  <a:pt x="1103" y="10321"/>
                  <a:pt x="1158" y="10943"/>
                  <a:pt x="1158" y="10943"/>
                </a:cubicBezTo>
                <a:cubicBezTo>
                  <a:pt x="1158" y="10943"/>
                  <a:pt x="1164" y="10662"/>
                  <a:pt x="1189" y="10513"/>
                </a:cubicBezTo>
                <a:cubicBezTo>
                  <a:pt x="1196" y="10845"/>
                  <a:pt x="1238" y="11236"/>
                  <a:pt x="1238" y="11236"/>
                </a:cubicBezTo>
                <a:cubicBezTo>
                  <a:pt x="1238" y="11236"/>
                  <a:pt x="1234" y="10994"/>
                  <a:pt x="1254" y="10785"/>
                </a:cubicBezTo>
                <a:cubicBezTo>
                  <a:pt x="1281" y="10968"/>
                  <a:pt x="1300" y="11011"/>
                  <a:pt x="1326" y="11147"/>
                </a:cubicBezTo>
                <a:cubicBezTo>
                  <a:pt x="1351" y="11500"/>
                  <a:pt x="1403" y="11759"/>
                  <a:pt x="1403" y="11759"/>
                </a:cubicBezTo>
                <a:cubicBezTo>
                  <a:pt x="1403" y="11759"/>
                  <a:pt x="1394" y="11568"/>
                  <a:pt x="1399" y="11372"/>
                </a:cubicBezTo>
                <a:cubicBezTo>
                  <a:pt x="1524" y="11844"/>
                  <a:pt x="1546" y="12542"/>
                  <a:pt x="1559" y="13074"/>
                </a:cubicBezTo>
                <a:cubicBezTo>
                  <a:pt x="1594" y="14542"/>
                  <a:pt x="972" y="15708"/>
                  <a:pt x="851" y="16627"/>
                </a:cubicBezTo>
                <a:cubicBezTo>
                  <a:pt x="759" y="17171"/>
                  <a:pt x="705" y="18031"/>
                  <a:pt x="859" y="18537"/>
                </a:cubicBezTo>
                <a:cubicBezTo>
                  <a:pt x="972" y="18898"/>
                  <a:pt x="1037" y="19183"/>
                  <a:pt x="1079" y="19422"/>
                </a:cubicBezTo>
                <a:lnTo>
                  <a:pt x="553" y="19724"/>
                </a:lnTo>
                <a:lnTo>
                  <a:pt x="0" y="2051"/>
                </a:lnTo>
                <a:close/>
              </a:path>
            </a:pathLst>
          </a:custGeom>
          <a:solidFill>
            <a:srgbClr val="632CA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242" name="Google Shape;90;p14" descr="Google Shape;90;p14"/>
          <p:cNvPicPr>
            <a:picLocks noChangeAspect="1"/>
          </p:cNvPicPr>
          <p:nvPr/>
        </p:nvPicPr>
        <p:blipFill>
          <a:blip r:embed="rId3">
            <a:extLst/>
          </a:blip>
          <a:srcRect l="19" t="0" r="18" b="0"/>
          <a:stretch>
            <a:fillRect/>
          </a:stretch>
        </p:blipFill>
        <p:spPr>
          <a:xfrm>
            <a:off x="-3049" y="-1142"/>
            <a:ext cx="12198099" cy="6860285"/>
          </a:xfrm>
          <a:prstGeom prst="rect">
            <a:avLst/>
          </a:prstGeom>
          <a:ln w="12700">
            <a:miter lim="400000"/>
          </a:ln>
        </p:spPr>
      </p:pic>
      <p:sp>
        <p:nvSpPr>
          <p:cNvPr id="243" name="Title Text"/>
          <p:cNvSpPr txBox="1"/>
          <p:nvPr>
            <p:ph type="title"/>
          </p:nvPr>
        </p:nvSpPr>
        <p:spPr>
          <a:xfrm>
            <a:off x="695084" y="695325"/>
            <a:ext cx="10773018" cy="12446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44" name="Body Level One…"/>
          <p:cNvSpPr txBox="1"/>
          <p:nvPr>
            <p:ph type="body" sz="quarter" idx="1"/>
          </p:nvPr>
        </p:nvSpPr>
        <p:spPr>
          <a:xfrm>
            <a:off x="695084" y="2077085"/>
            <a:ext cx="10773018" cy="110744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 marL="228600" indent="457200">
              <a:buSzTx/>
              <a:buNone/>
              <a:defRPr sz="2400">
                <a:solidFill>
                  <a:srgbClr val="FFFFFF"/>
                </a:solidFill>
              </a:defRPr>
            </a:lvl2pPr>
            <a:lvl3pPr marL="228600" indent="914400">
              <a:buSzTx/>
              <a:buNone/>
              <a:defRPr sz="2400">
                <a:solidFill>
                  <a:srgbClr val="FFFFFF"/>
                </a:solidFill>
              </a:defRPr>
            </a:lvl3pPr>
            <a:lvl4pPr marL="228600" indent="1371600">
              <a:buSzTx/>
              <a:buNone/>
              <a:defRPr sz="2400">
                <a:solidFill>
                  <a:srgbClr val="FFFFFF"/>
                </a:solidFill>
              </a:defRPr>
            </a:lvl4pPr>
            <a:lvl5pPr marL="228600" indent="1828800">
              <a:buSz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46" name="Google Shape;94;p14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ubdivider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96;p15" descr="Google Shape;96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997" cy="6857998"/>
          </a:xfrm>
          <a:prstGeom prst="rect">
            <a:avLst/>
          </a:prstGeom>
          <a:ln w="12700">
            <a:miter lim="400000"/>
          </a:ln>
        </p:spPr>
      </p:pic>
      <p:sp>
        <p:nvSpPr>
          <p:cNvPr id="25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55" name="Title Text"/>
          <p:cNvSpPr txBox="1"/>
          <p:nvPr>
            <p:ph type="title"/>
          </p:nvPr>
        </p:nvSpPr>
        <p:spPr>
          <a:xfrm>
            <a:off x="695323" y="2488407"/>
            <a:ext cx="10795003" cy="1881186"/>
          </a:xfrm>
          <a:prstGeom prst="rect">
            <a:avLst/>
          </a:prstGeom>
        </p:spPr>
        <p:txBody>
          <a:bodyPr anchor="ctr"/>
          <a:lstStyle>
            <a:lvl1pPr>
              <a:defRPr sz="54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56" name="Google Shape;99;p15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ubdivider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101;p16" descr="Google Shape;101;p1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1" y="0"/>
            <a:ext cx="12191996" cy="6857997"/>
          </a:xfrm>
          <a:prstGeom prst="rect">
            <a:avLst/>
          </a:prstGeom>
          <a:ln w="12700">
            <a:miter lim="400000"/>
          </a:ln>
        </p:spPr>
      </p:pic>
      <p:sp>
        <p:nvSpPr>
          <p:cNvPr id="2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65" name="Title Text"/>
          <p:cNvSpPr txBox="1"/>
          <p:nvPr>
            <p:ph type="title"/>
          </p:nvPr>
        </p:nvSpPr>
        <p:spPr>
          <a:xfrm>
            <a:off x="695323" y="2488407"/>
            <a:ext cx="10795003" cy="1881186"/>
          </a:xfrm>
          <a:prstGeom prst="rect">
            <a:avLst/>
          </a:prstGeom>
        </p:spPr>
        <p:txBody>
          <a:bodyPr anchor="ctr"/>
          <a:lstStyle>
            <a:lvl1pPr>
              <a:defRPr sz="54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66" name="Google Shape;104;p16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ubdivider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106;p17" descr="Google Shape;106;p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0"/>
            <a:ext cx="12191996" cy="6857997"/>
          </a:xfrm>
          <a:prstGeom prst="rect">
            <a:avLst/>
          </a:prstGeom>
          <a:ln w="12700">
            <a:miter lim="400000"/>
          </a:ln>
        </p:spPr>
      </p:pic>
      <p:sp>
        <p:nvSpPr>
          <p:cNvPr id="2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75" name="Title Text"/>
          <p:cNvSpPr txBox="1"/>
          <p:nvPr>
            <p:ph type="title"/>
          </p:nvPr>
        </p:nvSpPr>
        <p:spPr>
          <a:xfrm>
            <a:off x="695323" y="2488407"/>
            <a:ext cx="10795003" cy="1881186"/>
          </a:xfrm>
          <a:prstGeom prst="rect">
            <a:avLst/>
          </a:prstGeom>
        </p:spPr>
        <p:txBody>
          <a:bodyPr anchor="ctr"/>
          <a:lstStyle>
            <a:lvl1pPr>
              <a:defRPr sz="54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76" name="Google Shape;109;p17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ubdivid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111;p18" descr="Google Shape;111;p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0"/>
            <a:ext cx="12191996" cy="6857997"/>
          </a:xfrm>
          <a:prstGeom prst="rect">
            <a:avLst/>
          </a:prstGeom>
          <a:ln w="12700">
            <a:miter lim="400000"/>
          </a:ln>
        </p:spPr>
      </p:pic>
      <p:sp>
        <p:nvSpPr>
          <p:cNvPr id="2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85" name="Title Text"/>
          <p:cNvSpPr txBox="1"/>
          <p:nvPr>
            <p:ph type="title"/>
          </p:nvPr>
        </p:nvSpPr>
        <p:spPr>
          <a:xfrm>
            <a:off x="695323" y="2488407"/>
            <a:ext cx="10795003" cy="1881186"/>
          </a:xfrm>
          <a:prstGeom prst="rect">
            <a:avLst/>
          </a:prstGeom>
        </p:spPr>
        <p:txBody>
          <a:bodyPr anchor="ctr"/>
          <a:lstStyle>
            <a:lvl1pPr>
              <a:defRPr sz="54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86" name="Google Shape;114;p18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ubdivider_gree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116;p19" descr="Google Shape;116;p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0"/>
            <a:ext cx="12191996" cy="6857997"/>
          </a:xfrm>
          <a:prstGeom prst="rect">
            <a:avLst/>
          </a:prstGeom>
          <a:ln w="12700">
            <a:miter lim="400000"/>
          </a:ln>
        </p:spPr>
      </p:pic>
      <p:sp>
        <p:nvSpPr>
          <p:cNvPr id="2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95" name="Title Text"/>
          <p:cNvSpPr txBox="1"/>
          <p:nvPr>
            <p:ph type="title"/>
          </p:nvPr>
        </p:nvSpPr>
        <p:spPr>
          <a:xfrm>
            <a:off x="695323" y="2488407"/>
            <a:ext cx="10794901" cy="1881301"/>
          </a:xfrm>
          <a:prstGeom prst="rect">
            <a:avLst/>
          </a:prstGeom>
        </p:spPr>
        <p:txBody>
          <a:bodyPr anchor="ctr"/>
          <a:lstStyle>
            <a:lvl1pPr>
              <a:defRPr sz="54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96" name="Google Shape;119;p19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ubdivider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121;p20" descr="Google Shape;121;p2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0"/>
            <a:ext cx="12191996" cy="6857997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05" name="Title Text"/>
          <p:cNvSpPr txBox="1"/>
          <p:nvPr>
            <p:ph type="title"/>
          </p:nvPr>
        </p:nvSpPr>
        <p:spPr>
          <a:xfrm>
            <a:off x="695323" y="2488407"/>
            <a:ext cx="10795003" cy="1881186"/>
          </a:xfrm>
          <a:prstGeom prst="rect">
            <a:avLst/>
          </a:prstGeom>
        </p:spPr>
        <p:txBody>
          <a:bodyPr anchor="ctr"/>
          <a:lstStyle>
            <a:lvl1pPr>
              <a:defRPr sz="54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06" name="Google Shape;124;p20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1/3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oogle Shape;10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13" name="Google Shape;11;p1" descr="Google Shape;11;p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14" name="Google Shape;12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4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44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</p:grpSp>
      <p:grpSp>
        <p:nvGrpSpPr>
          <p:cNvPr id="323" name="Google Shape;17;p1"/>
          <p:cNvGrpSpPr/>
          <p:nvPr/>
        </p:nvGrpSpPr>
        <p:grpSpPr>
          <a:xfrm>
            <a:off x="0" y="-710591"/>
            <a:ext cx="4109466" cy="479101"/>
            <a:chOff x="0" y="0"/>
            <a:chExt cx="4109465" cy="479100"/>
          </a:xfrm>
        </p:grpSpPr>
        <p:sp>
          <p:nvSpPr>
            <p:cNvPr id="316" name="Google Shape;18;p1"/>
            <p:cNvSpPr/>
            <p:nvPr/>
          </p:nvSpPr>
          <p:spPr>
            <a:xfrm>
              <a:off x="0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90000">
                  <a:srgbClr val="9C43FE"/>
                </a:gs>
                <a:gs pos="100000">
                  <a:srgbClr val="9C43FE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17" name="Google Shape;19;p1"/>
            <p:cNvSpPr/>
            <p:nvPr/>
          </p:nvSpPr>
          <p:spPr>
            <a:xfrm>
              <a:off x="60506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100000">
                  <a:schemeClr val="accent2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318" name="Google Shape;20;p1"/>
            <p:cNvSpPr/>
            <p:nvPr/>
          </p:nvSpPr>
          <p:spPr>
            <a:xfrm>
              <a:off x="121012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30000">
                  <a:schemeClr val="accent2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319" name="Google Shape;21;p1"/>
            <p:cNvSpPr/>
            <p:nvPr/>
          </p:nvSpPr>
          <p:spPr>
            <a:xfrm>
              <a:off x="181518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00B765"/>
                </a:gs>
                <a:gs pos="30000">
                  <a:srgbClr val="00B765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0" name="Google Shape;22;p1"/>
            <p:cNvSpPr/>
            <p:nvPr/>
          </p:nvSpPr>
          <p:spPr>
            <a:xfrm>
              <a:off x="242024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8000FF"/>
                </a:gs>
                <a:gs pos="90000">
                  <a:schemeClr val="accent6"/>
                </a:gs>
                <a:gs pos="100000">
                  <a:schemeClr val="accent6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321" name="Google Shape;23;p1"/>
            <p:cNvSpPr/>
            <p:nvPr/>
          </p:nvSpPr>
          <p:spPr>
            <a:xfrm>
              <a:off x="3025304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6"/>
                </a:gs>
                <a:gs pos="30000">
                  <a:schemeClr val="accent6"/>
                </a:gs>
                <a:gs pos="90000">
                  <a:schemeClr val="accent3"/>
                </a:gs>
                <a:gs pos="100000">
                  <a:schemeClr val="accent3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2" name="Google Shape;24;p1"/>
            <p:cNvSpPr/>
            <p:nvPr/>
          </p:nvSpPr>
          <p:spPr>
            <a:xfrm>
              <a:off x="3630365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30000">
                  <a:schemeClr val="accent3"/>
                </a:gs>
                <a:gs pos="90000">
                  <a:schemeClr val="accent5"/>
                </a:gs>
                <a:gs pos="100000">
                  <a:schemeClr val="accent5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324" name="Google Shape;25;p1"/>
          <p:cNvSpPr/>
          <p:nvPr/>
        </p:nvSpPr>
        <p:spPr>
          <a:xfrm>
            <a:off x="10585766" y="6450774"/>
            <a:ext cx="1080115" cy="2747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33" fill="norm" stroke="1" extrusionOk="0">
                <a:moveTo>
                  <a:pt x="4627" y="12440"/>
                </a:moveTo>
                <a:lnTo>
                  <a:pt x="4750" y="17639"/>
                </a:lnTo>
                <a:lnTo>
                  <a:pt x="2635" y="19175"/>
                </a:lnTo>
                <a:lnTo>
                  <a:pt x="2616" y="18439"/>
                </a:lnTo>
                <a:lnTo>
                  <a:pt x="3005" y="16103"/>
                </a:lnTo>
                <a:lnTo>
                  <a:pt x="3447" y="16610"/>
                </a:lnTo>
                <a:lnTo>
                  <a:pt x="3827" y="14112"/>
                </a:lnTo>
                <a:lnTo>
                  <a:pt x="4281" y="15293"/>
                </a:lnTo>
                <a:lnTo>
                  <a:pt x="4281" y="15295"/>
                </a:lnTo>
                <a:lnTo>
                  <a:pt x="4282" y="15295"/>
                </a:lnTo>
                <a:lnTo>
                  <a:pt x="4281" y="15293"/>
                </a:lnTo>
                <a:close/>
                <a:moveTo>
                  <a:pt x="4755" y="11377"/>
                </a:moveTo>
                <a:lnTo>
                  <a:pt x="3365" y="12368"/>
                </a:lnTo>
                <a:cubicBezTo>
                  <a:pt x="3332" y="12542"/>
                  <a:pt x="3246" y="12849"/>
                  <a:pt x="3205" y="12929"/>
                </a:cubicBezTo>
                <a:cubicBezTo>
                  <a:pt x="3030" y="13274"/>
                  <a:pt x="2911" y="13176"/>
                  <a:pt x="2808" y="13070"/>
                </a:cubicBezTo>
                <a:cubicBezTo>
                  <a:pt x="2742" y="13006"/>
                  <a:pt x="2705" y="12968"/>
                  <a:pt x="2649" y="12870"/>
                </a:cubicBezTo>
                <a:lnTo>
                  <a:pt x="2310" y="13053"/>
                </a:lnTo>
                <a:lnTo>
                  <a:pt x="2310" y="13057"/>
                </a:lnTo>
                <a:lnTo>
                  <a:pt x="2515" y="19822"/>
                </a:lnTo>
                <a:lnTo>
                  <a:pt x="4897" y="18133"/>
                </a:lnTo>
                <a:close/>
                <a:moveTo>
                  <a:pt x="3698" y="9185"/>
                </a:moveTo>
                <a:cubicBezTo>
                  <a:pt x="3739" y="9275"/>
                  <a:pt x="3739" y="9551"/>
                  <a:pt x="3711" y="9811"/>
                </a:cubicBezTo>
                <a:cubicBezTo>
                  <a:pt x="3670" y="10185"/>
                  <a:pt x="3612" y="10598"/>
                  <a:pt x="3546" y="10632"/>
                </a:cubicBezTo>
                <a:cubicBezTo>
                  <a:pt x="3437" y="10692"/>
                  <a:pt x="3336" y="10462"/>
                  <a:pt x="3219" y="10117"/>
                </a:cubicBezTo>
                <a:cubicBezTo>
                  <a:pt x="3178" y="9994"/>
                  <a:pt x="3152" y="9696"/>
                  <a:pt x="3208" y="9526"/>
                </a:cubicBezTo>
                <a:cubicBezTo>
                  <a:pt x="3239" y="9428"/>
                  <a:pt x="3380" y="9249"/>
                  <a:pt x="3511" y="9190"/>
                </a:cubicBezTo>
                <a:cubicBezTo>
                  <a:pt x="3579" y="9160"/>
                  <a:pt x="3677" y="9139"/>
                  <a:pt x="3698" y="9185"/>
                </a:cubicBezTo>
                <a:close/>
                <a:moveTo>
                  <a:pt x="15082" y="7671"/>
                </a:moveTo>
                <a:lnTo>
                  <a:pt x="15082" y="13878"/>
                </a:lnTo>
                <a:lnTo>
                  <a:pt x="15595" y="13878"/>
                </a:lnTo>
                <a:cubicBezTo>
                  <a:pt x="16078" y="13878"/>
                  <a:pt x="16321" y="12759"/>
                  <a:pt x="16321" y="10526"/>
                </a:cubicBezTo>
                <a:cubicBezTo>
                  <a:pt x="16321" y="8624"/>
                  <a:pt x="16078" y="7671"/>
                  <a:pt x="15595" y="7671"/>
                </a:cubicBezTo>
                <a:close/>
                <a:moveTo>
                  <a:pt x="6458" y="7671"/>
                </a:moveTo>
                <a:lnTo>
                  <a:pt x="6458" y="13878"/>
                </a:lnTo>
                <a:lnTo>
                  <a:pt x="6971" y="13878"/>
                </a:lnTo>
                <a:cubicBezTo>
                  <a:pt x="7454" y="13878"/>
                  <a:pt x="7695" y="12759"/>
                  <a:pt x="7695" y="10526"/>
                </a:cubicBezTo>
                <a:cubicBezTo>
                  <a:pt x="7695" y="8624"/>
                  <a:pt x="7454" y="7671"/>
                  <a:pt x="6971" y="7671"/>
                </a:cubicBezTo>
                <a:close/>
                <a:moveTo>
                  <a:pt x="18214" y="7598"/>
                </a:moveTo>
                <a:cubicBezTo>
                  <a:pt x="17745" y="7598"/>
                  <a:pt x="17493" y="8645"/>
                  <a:pt x="17493" y="10743"/>
                </a:cubicBezTo>
                <a:cubicBezTo>
                  <a:pt x="17493" y="12840"/>
                  <a:pt x="17733" y="13933"/>
                  <a:pt x="18214" y="13933"/>
                </a:cubicBezTo>
                <a:cubicBezTo>
                  <a:pt x="18684" y="13933"/>
                  <a:pt x="18918" y="12870"/>
                  <a:pt x="18918" y="10743"/>
                </a:cubicBezTo>
                <a:cubicBezTo>
                  <a:pt x="18918" y="8615"/>
                  <a:pt x="18684" y="7598"/>
                  <a:pt x="18214" y="7598"/>
                </a:cubicBezTo>
                <a:close/>
                <a:moveTo>
                  <a:pt x="2441" y="6390"/>
                </a:moveTo>
                <a:cubicBezTo>
                  <a:pt x="2513" y="6396"/>
                  <a:pt x="2559" y="6475"/>
                  <a:pt x="2540" y="6543"/>
                </a:cubicBezTo>
                <a:cubicBezTo>
                  <a:pt x="2470" y="6807"/>
                  <a:pt x="2564" y="6731"/>
                  <a:pt x="2574" y="7216"/>
                </a:cubicBezTo>
                <a:cubicBezTo>
                  <a:pt x="2581" y="7573"/>
                  <a:pt x="2552" y="7773"/>
                  <a:pt x="2526" y="7884"/>
                </a:cubicBezTo>
                <a:cubicBezTo>
                  <a:pt x="2472" y="7909"/>
                  <a:pt x="2407" y="7964"/>
                  <a:pt x="2329" y="8062"/>
                </a:cubicBezTo>
                <a:cubicBezTo>
                  <a:pt x="2283" y="8122"/>
                  <a:pt x="2243" y="8190"/>
                  <a:pt x="2207" y="8254"/>
                </a:cubicBezTo>
                <a:cubicBezTo>
                  <a:pt x="2198" y="8228"/>
                  <a:pt x="2188" y="8203"/>
                  <a:pt x="2176" y="8160"/>
                </a:cubicBezTo>
                <a:cubicBezTo>
                  <a:pt x="2056" y="7747"/>
                  <a:pt x="2059" y="7024"/>
                  <a:pt x="2186" y="6684"/>
                </a:cubicBezTo>
                <a:cubicBezTo>
                  <a:pt x="2271" y="6454"/>
                  <a:pt x="2369" y="6385"/>
                  <a:pt x="2441" y="6390"/>
                </a:cubicBezTo>
                <a:close/>
                <a:moveTo>
                  <a:pt x="14650" y="6199"/>
                </a:moveTo>
                <a:lnTo>
                  <a:pt x="15660" y="6199"/>
                </a:lnTo>
                <a:cubicBezTo>
                  <a:pt x="16388" y="6199"/>
                  <a:pt x="16752" y="7641"/>
                  <a:pt x="16752" y="10526"/>
                </a:cubicBezTo>
                <a:cubicBezTo>
                  <a:pt x="16752" y="13742"/>
                  <a:pt x="16389" y="15350"/>
                  <a:pt x="15660" y="15350"/>
                </a:cubicBezTo>
                <a:lnTo>
                  <a:pt x="15660" y="15346"/>
                </a:lnTo>
                <a:lnTo>
                  <a:pt x="14650" y="15346"/>
                </a:lnTo>
                <a:close/>
                <a:moveTo>
                  <a:pt x="6026" y="6199"/>
                </a:moveTo>
                <a:lnTo>
                  <a:pt x="7036" y="6199"/>
                </a:lnTo>
                <a:cubicBezTo>
                  <a:pt x="7764" y="6199"/>
                  <a:pt x="8128" y="7641"/>
                  <a:pt x="8128" y="10526"/>
                </a:cubicBezTo>
                <a:cubicBezTo>
                  <a:pt x="8128" y="13742"/>
                  <a:pt x="7764" y="15350"/>
                  <a:pt x="7036" y="15350"/>
                </a:cubicBezTo>
                <a:lnTo>
                  <a:pt x="7036" y="15346"/>
                </a:lnTo>
                <a:lnTo>
                  <a:pt x="6026" y="15346"/>
                </a:lnTo>
                <a:close/>
                <a:moveTo>
                  <a:pt x="12890" y="6195"/>
                </a:moveTo>
                <a:lnTo>
                  <a:pt x="13354" y="6195"/>
                </a:lnTo>
                <a:lnTo>
                  <a:pt x="14364" y="15346"/>
                </a:lnTo>
                <a:lnTo>
                  <a:pt x="13899" y="15346"/>
                </a:lnTo>
                <a:lnTo>
                  <a:pt x="13606" y="12849"/>
                </a:lnTo>
                <a:lnTo>
                  <a:pt x="12860" y="12849"/>
                </a:lnTo>
                <a:lnTo>
                  <a:pt x="13008" y="11377"/>
                </a:lnTo>
                <a:lnTo>
                  <a:pt x="13493" y="11377"/>
                </a:lnTo>
                <a:lnTo>
                  <a:pt x="13111" y="7943"/>
                </a:lnTo>
                <a:lnTo>
                  <a:pt x="12345" y="15346"/>
                </a:lnTo>
                <a:lnTo>
                  <a:pt x="11902" y="15346"/>
                </a:lnTo>
                <a:close/>
                <a:moveTo>
                  <a:pt x="10356" y="6195"/>
                </a:moveTo>
                <a:lnTo>
                  <a:pt x="12123" y="6195"/>
                </a:lnTo>
                <a:lnTo>
                  <a:pt x="12123" y="7667"/>
                </a:lnTo>
                <a:lnTo>
                  <a:pt x="11455" y="7667"/>
                </a:lnTo>
                <a:lnTo>
                  <a:pt x="11455" y="15346"/>
                </a:lnTo>
                <a:lnTo>
                  <a:pt x="11024" y="15346"/>
                </a:lnTo>
                <a:lnTo>
                  <a:pt x="11024" y="7667"/>
                </a:lnTo>
                <a:lnTo>
                  <a:pt x="10356" y="7667"/>
                </a:lnTo>
                <a:close/>
                <a:moveTo>
                  <a:pt x="9124" y="6195"/>
                </a:moveTo>
                <a:lnTo>
                  <a:pt x="9589" y="6195"/>
                </a:lnTo>
                <a:lnTo>
                  <a:pt x="10599" y="15346"/>
                </a:lnTo>
                <a:lnTo>
                  <a:pt x="10135" y="15346"/>
                </a:lnTo>
                <a:lnTo>
                  <a:pt x="9842" y="12849"/>
                </a:lnTo>
                <a:lnTo>
                  <a:pt x="9096" y="12849"/>
                </a:lnTo>
                <a:lnTo>
                  <a:pt x="9244" y="11377"/>
                </a:lnTo>
                <a:lnTo>
                  <a:pt x="9728" y="11377"/>
                </a:lnTo>
                <a:lnTo>
                  <a:pt x="9347" y="7943"/>
                </a:lnTo>
                <a:lnTo>
                  <a:pt x="8580" y="15346"/>
                </a:lnTo>
                <a:lnTo>
                  <a:pt x="8136" y="15346"/>
                </a:lnTo>
                <a:close/>
                <a:moveTo>
                  <a:pt x="20915" y="6135"/>
                </a:moveTo>
                <a:cubicBezTo>
                  <a:pt x="21170" y="6135"/>
                  <a:pt x="21398" y="6284"/>
                  <a:pt x="21599" y="6582"/>
                </a:cubicBezTo>
                <a:lnTo>
                  <a:pt x="21599" y="8118"/>
                </a:lnTo>
                <a:cubicBezTo>
                  <a:pt x="21398" y="7773"/>
                  <a:pt x="21181" y="7603"/>
                  <a:pt x="20947" y="7603"/>
                </a:cubicBezTo>
                <a:cubicBezTo>
                  <a:pt x="20388" y="7603"/>
                  <a:pt x="20108" y="8615"/>
                  <a:pt x="20108" y="10645"/>
                </a:cubicBezTo>
                <a:cubicBezTo>
                  <a:pt x="20108" y="12840"/>
                  <a:pt x="20372" y="13938"/>
                  <a:pt x="20900" y="13938"/>
                </a:cubicBezTo>
                <a:cubicBezTo>
                  <a:pt x="20977" y="13938"/>
                  <a:pt x="21067" y="13887"/>
                  <a:pt x="21167" y="13785"/>
                </a:cubicBezTo>
                <a:lnTo>
                  <a:pt x="21167" y="11653"/>
                </a:lnTo>
                <a:lnTo>
                  <a:pt x="21169" y="11653"/>
                </a:lnTo>
                <a:lnTo>
                  <a:pt x="21167" y="11640"/>
                </a:lnTo>
                <a:lnTo>
                  <a:pt x="21167" y="11653"/>
                </a:lnTo>
                <a:lnTo>
                  <a:pt x="20757" y="11653"/>
                </a:lnTo>
                <a:lnTo>
                  <a:pt x="20903" y="10147"/>
                </a:lnTo>
                <a:lnTo>
                  <a:pt x="21600" y="10147"/>
                </a:lnTo>
                <a:lnTo>
                  <a:pt x="21600" y="14933"/>
                </a:lnTo>
                <a:cubicBezTo>
                  <a:pt x="21412" y="15257"/>
                  <a:pt x="21177" y="15418"/>
                  <a:pt x="20894" y="15418"/>
                </a:cubicBezTo>
                <a:cubicBezTo>
                  <a:pt x="20071" y="15418"/>
                  <a:pt x="19661" y="13827"/>
                  <a:pt x="19661" y="10649"/>
                </a:cubicBezTo>
                <a:cubicBezTo>
                  <a:pt x="19661" y="7637"/>
                  <a:pt x="20079" y="6135"/>
                  <a:pt x="20915" y="6135"/>
                </a:cubicBezTo>
                <a:close/>
                <a:moveTo>
                  <a:pt x="18214" y="6126"/>
                </a:moveTo>
                <a:cubicBezTo>
                  <a:pt x="18994" y="6126"/>
                  <a:pt x="19366" y="7675"/>
                  <a:pt x="19366" y="10781"/>
                </a:cubicBezTo>
                <a:cubicBezTo>
                  <a:pt x="19366" y="13887"/>
                  <a:pt x="18982" y="15410"/>
                  <a:pt x="18214" y="15410"/>
                </a:cubicBezTo>
                <a:cubicBezTo>
                  <a:pt x="17447" y="15410"/>
                  <a:pt x="17079" y="13865"/>
                  <a:pt x="17045" y="10781"/>
                </a:cubicBezTo>
                <a:cubicBezTo>
                  <a:pt x="17045" y="7679"/>
                  <a:pt x="17435" y="6126"/>
                  <a:pt x="18214" y="6126"/>
                </a:cubicBezTo>
                <a:close/>
                <a:moveTo>
                  <a:pt x="3405" y="5888"/>
                </a:moveTo>
                <a:cubicBezTo>
                  <a:pt x="3564" y="6182"/>
                  <a:pt x="3543" y="6735"/>
                  <a:pt x="3548" y="7062"/>
                </a:cubicBezTo>
                <a:cubicBezTo>
                  <a:pt x="3549" y="7156"/>
                  <a:pt x="3549" y="7220"/>
                  <a:pt x="3547" y="7262"/>
                </a:cubicBezTo>
                <a:cubicBezTo>
                  <a:pt x="3524" y="7216"/>
                  <a:pt x="3489" y="7182"/>
                  <a:pt x="3434" y="7190"/>
                </a:cubicBezTo>
                <a:cubicBezTo>
                  <a:pt x="3418" y="7194"/>
                  <a:pt x="3402" y="7203"/>
                  <a:pt x="3387" y="7211"/>
                </a:cubicBezTo>
                <a:cubicBezTo>
                  <a:pt x="3328" y="7088"/>
                  <a:pt x="3294" y="6845"/>
                  <a:pt x="3261" y="6586"/>
                </a:cubicBezTo>
                <a:lnTo>
                  <a:pt x="3254" y="6522"/>
                </a:lnTo>
                <a:lnTo>
                  <a:pt x="3249" y="6492"/>
                </a:lnTo>
                <a:lnTo>
                  <a:pt x="3249" y="6480"/>
                </a:lnTo>
                <a:cubicBezTo>
                  <a:pt x="3232" y="6258"/>
                  <a:pt x="3244" y="6216"/>
                  <a:pt x="3252" y="6148"/>
                </a:cubicBezTo>
                <a:lnTo>
                  <a:pt x="3252" y="6143"/>
                </a:lnTo>
                <a:cubicBezTo>
                  <a:pt x="3259" y="6075"/>
                  <a:pt x="3287" y="6020"/>
                  <a:pt x="3245" y="5961"/>
                </a:cubicBezTo>
                <a:cubicBezTo>
                  <a:pt x="3242" y="5956"/>
                  <a:pt x="3238" y="5948"/>
                  <a:pt x="3232" y="5948"/>
                </a:cubicBezTo>
                <a:cubicBezTo>
                  <a:pt x="3260" y="5812"/>
                  <a:pt x="3345" y="5778"/>
                  <a:pt x="3405" y="5888"/>
                </a:cubicBezTo>
                <a:close/>
                <a:moveTo>
                  <a:pt x="4491" y="0"/>
                </a:moveTo>
                <a:lnTo>
                  <a:pt x="4755" y="10721"/>
                </a:lnTo>
                <a:lnTo>
                  <a:pt x="4892" y="10619"/>
                </a:lnTo>
                <a:lnTo>
                  <a:pt x="4894" y="10615"/>
                </a:lnTo>
                <a:lnTo>
                  <a:pt x="5113" y="19060"/>
                </a:lnTo>
                <a:lnTo>
                  <a:pt x="2416" y="20336"/>
                </a:lnTo>
                <a:lnTo>
                  <a:pt x="2358" y="18690"/>
                </a:lnTo>
                <a:lnTo>
                  <a:pt x="2194" y="18784"/>
                </a:lnTo>
                <a:cubicBezTo>
                  <a:pt x="2208" y="19698"/>
                  <a:pt x="2153" y="20570"/>
                  <a:pt x="2051" y="20987"/>
                </a:cubicBezTo>
                <a:cubicBezTo>
                  <a:pt x="1931" y="21477"/>
                  <a:pt x="1756" y="21600"/>
                  <a:pt x="1571" y="21502"/>
                </a:cubicBezTo>
                <a:cubicBezTo>
                  <a:pt x="1446" y="21438"/>
                  <a:pt x="1353" y="21085"/>
                  <a:pt x="1285" y="20651"/>
                </a:cubicBezTo>
                <a:cubicBezTo>
                  <a:pt x="1541" y="21362"/>
                  <a:pt x="1858" y="21034"/>
                  <a:pt x="1966" y="20439"/>
                </a:cubicBezTo>
                <a:cubicBezTo>
                  <a:pt x="2119" y="19605"/>
                  <a:pt x="2079" y="18813"/>
                  <a:pt x="2023" y="18077"/>
                </a:cubicBezTo>
                <a:cubicBezTo>
                  <a:pt x="1978" y="17499"/>
                  <a:pt x="1858" y="16541"/>
                  <a:pt x="1709" y="16171"/>
                </a:cubicBezTo>
                <a:cubicBezTo>
                  <a:pt x="1558" y="15793"/>
                  <a:pt x="1410" y="15720"/>
                  <a:pt x="1284" y="15771"/>
                </a:cubicBezTo>
                <a:lnTo>
                  <a:pt x="1296" y="15720"/>
                </a:lnTo>
                <a:cubicBezTo>
                  <a:pt x="1477" y="15580"/>
                  <a:pt x="1665" y="15656"/>
                  <a:pt x="1801" y="16001"/>
                </a:cubicBezTo>
                <a:cubicBezTo>
                  <a:pt x="1955" y="16393"/>
                  <a:pt x="2097" y="17065"/>
                  <a:pt x="2171" y="18094"/>
                </a:cubicBezTo>
                <a:cubicBezTo>
                  <a:pt x="2255" y="18048"/>
                  <a:pt x="2267" y="18026"/>
                  <a:pt x="2344" y="17984"/>
                </a:cubicBezTo>
                <a:lnTo>
                  <a:pt x="2171" y="12683"/>
                </a:lnTo>
                <a:lnTo>
                  <a:pt x="2537" y="12525"/>
                </a:lnTo>
                <a:cubicBezTo>
                  <a:pt x="2365" y="12091"/>
                  <a:pt x="2188" y="11470"/>
                  <a:pt x="2110" y="11125"/>
                </a:cubicBezTo>
                <a:cubicBezTo>
                  <a:pt x="2097" y="11087"/>
                  <a:pt x="2099" y="10917"/>
                  <a:pt x="2099" y="10917"/>
                </a:cubicBezTo>
                <a:cubicBezTo>
                  <a:pt x="2170" y="11130"/>
                  <a:pt x="2460" y="11947"/>
                  <a:pt x="2767" y="12321"/>
                </a:cubicBezTo>
                <a:cubicBezTo>
                  <a:pt x="2875" y="12453"/>
                  <a:pt x="3042" y="12504"/>
                  <a:pt x="3187" y="12181"/>
                </a:cubicBezTo>
                <a:cubicBezTo>
                  <a:pt x="3297" y="11934"/>
                  <a:pt x="3430" y="11504"/>
                  <a:pt x="3509" y="11062"/>
                </a:cubicBezTo>
                <a:lnTo>
                  <a:pt x="3523" y="11160"/>
                </a:lnTo>
                <a:cubicBezTo>
                  <a:pt x="3523" y="11228"/>
                  <a:pt x="3486" y="11547"/>
                  <a:pt x="3468" y="11674"/>
                </a:cubicBezTo>
                <a:cubicBezTo>
                  <a:pt x="3501" y="11751"/>
                  <a:pt x="3526" y="11768"/>
                  <a:pt x="3564" y="11810"/>
                </a:cubicBezTo>
                <a:lnTo>
                  <a:pt x="3819" y="11653"/>
                </a:lnTo>
                <a:cubicBezTo>
                  <a:pt x="3910" y="11074"/>
                  <a:pt x="3976" y="10134"/>
                  <a:pt x="3906" y="9245"/>
                </a:cubicBezTo>
                <a:cubicBezTo>
                  <a:pt x="3866" y="8734"/>
                  <a:pt x="3658" y="7713"/>
                  <a:pt x="3643" y="7658"/>
                </a:cubicBezTo>
                <a:cubicBezTo>
                  <a:pt x="3590" y="7462"/>
                  <a:pt x="3652" y="6701"/>
                  <a:pt x="3548" y="5867"/>
                </a:cubicBezTo>
                <a:cubicBezTo>
                  <a:pt x="3439" y="4986"/>
                  <a:pt x="3154" y="4067"/>
                  <a:pt x="3030" y="3667"/>
                </a:cubicBezTo>
                <a:cubicBezTo>
                  <a:pt x="3067" y="3769"/>
                  <a:pt x="3290" y="4127"/>
                  <a:pt x="3395" y="4625"/>
                </a:cubicBezTo>
                <a:cubicBezTo>
                  <a:pt x="3405" y="4574"/>
                  <a:pt x="3409" y="4306"/>
                  <a:pt x="3418" y="4237"/>
                </a:cubicBezTo>
                <a:cubicBezTo>
                  <a:pt x="3328" y="3778"/>
                  <a:pt x="3321" y="2953"/>
                  <a:pt x="3321" y="2731"/>
                </a:cubicBezTo>
                <a:cubicBezTo>
                  <a:pt x="3321" y="2327"/>
                  <a:pt x="3269" y="1868"/>
                  <a:pt x="3269" y="1868"/>
                </a:cubicBezTo>
                <a:cubicBezTo>
                  <a:pt x="3269" y="1868"/>
                  <a:pt x="3360" y="2149"/>
                  <a:pt x="3382" y="2629"/>
                </a:cubicBezTo>
                <a:cubicBezTo>
                  <a:pt x="3409" y="3199"/>
                  <a:pt x="3468" y="3650"/>
                  <a:pt x="3546" y="4029"/>
                </a:cubicBezTo>
                <a:cubicBezTo>
                  <a:pt x="3693" y="4748"/>
                  <a:pt x="3824" y="5114"/>
                  <a:pt x="3892" y="4850"/>
                </a:cubicBezTo>
                <a:cubicBezTo>
                  <a:pt x="3971" y="4531"/>
                  <a:pt x="3812" y="3106"/>
                  <a:pt x="3605" y="2310"/>
                </a:cubicBezTo>
                <a:cubicBezTo>
                  <a:pt x="3365" y="1383"/>
                  <a:pt x="3301" y="1502"/>
                  <a:pt x="3161" y="1702"/>
                </a:cubicBezTo>
                <a:cubicBezTo>
                  <a:pt x="3048" y="1859"/>
                  <a:pt x="2988" y="3119"/>
                  <a:pt x="2695" y="3093"/>
                </a:cubicBezTo>
                <a:cubicBezTo>
                  <a:pt x="2645" y="3072"/>
                  <a:pt x="2517" y="3059"/>
                  <a:pt x="2454" y="3059"/>
                </a:cubicBezTo>
                <a:cubicBezTo>
                  <a:pt x="2487" y="2880"/>
                  <a:pt x="2515" y="2740"/>
                  <a:pt x="2515" y="2740"/>
                </a:cubicBezTo>
                <a:cubicBezTo>
                  <a:pt x="2515" y="2740"/>
                  <a:pt x="2417" y="2897"/>
                  <a:pt x="2334" y="3093"/>
                </a:cubicBezTo>
                <a:lnTo>
                  <a:pt x="2327" y="3055"/>
                </a:lnTo>
                <a:cubicBezTo>
                  <a:pt x="2355" y="2821"/>
                  <a:pt x="2386" y="2672"/>
                  <a:pt x="2386" y="2672"/>
                </a:cubicBezTo>
                <a:cubicBezTo>
                  <a:pt x="2386" y="2672"/>
                  <a:pt x="2307" y="2859"/>
                  <a:pt x="2235" y="3080"/>
                </a:cubicBezTo>
                <a:cubicBezTo>
                  <a:pt x="2248" y="2804"/>
                  <a:pt x="2298" y="2625"/>
                  <a:pt x="2298" y="2625"/>
                </a:cubicBezTo>
                <a:cubicBezTo>
                  <a:pt x="2298" y="2625"/>
                  <a:pt x="2199" y="2693"/>
                  <a:pt x="2072" y="3242"/>
                </a:cubicBezTo>
                <a:cubicBezTo>
                  <a:pt x="1928" y="3395"/>
                  <a:pt x="1894" y="3497"/>
                  <a:pt x="1779" y="3697"/>
                </a:cubicBezTo>
                <a:cubicBezTo>
                  <a:pt x="1593" y="3535"/>
                  <a:pt x="1505" y="3280"/>
                  <a:pt x="1421" y="2804"/>
                </a:cubicBezTo>
                <a:cubicBezTo>
                  <a:pt x="1358" y="2442"/>
                  <a:pt x="1244" y="2387"/>
                  <a:pt x="1129" y="2574"/>
                </a:cubicBezTo>
                <a:cubicBezTo>
                  <a:pt x="960" y="2846"/>
                  <a:pt x="746" y="3225"/>
                  <a:pt x="746" y="3225"/>
                </a:cubicBezTo>
                <a:cubicBezTo>
                  <a:pt x="746" y="3225"/>
                  <a:pt x="816" y="3212"/>
                  <a:pt x="889" y="3225"/>
                </a:cubicBezTo>
                <a:cubicBezTo>
                  <a:pt x="790" y="3374"/>
                  <a:pt x="694" y="3578"/>
                  <a:pt x="694" y="3578"/>
                </a:cubicBezTo>
                <a:cubicBezTo>
                  <a:pt x="694" y="3578"/>
                  <a:pt x="740" y="3578"/>
                  <a:pt x="798" y="3578"/>
                </a:cubicBezTo>
                <a:cubicBezTo>
                  <a:pt x="758" y="3706"/>
                  <a:pt x="736" y="3769"/>
                  <a:pt x="698" y="3867"/>
                </a:cubicBezTo>
                <a:cubicBezTo>
                  <a:pt x="608" y="4127"/>
                  <a:pt x="534" y="4429"/>
                  <a:pt x="534" y="4429"/>
                </a:cubicBezTo>
                <a:cubicBezTo>
                  <a:pt x="534" y="4429"/>
                  <a:pt x="596" y="4318"/>
                  <a:pt x="651" y="4254"/>
                </a:cubicBezTo>
                <a:cubicBezTo>
                  <a:pt x="612" y="4603"/>
                  <a:pt x="535" y="4859"/>
                  <a:pt x="549" y="5288"/>
                </a:cubicBezTo>
                <a:cubicBezTo>
                  <a:pt x="563" y="5680"/>
                  <a:pt x="684" y="6484"/>
                  <a:pt x="842" y="6977"/>
                </a:cubicBezTo>
                <a:cubicBezTo>
                  <a:pt x="855" y="7024"/>
                  <a:pt x="1070" y="7803"/>
                  <a:pt x="1232" y="7484"/>
                </a:cubicBezTo>
                <a:cubicBezTo>
                  <a:pt x="1394" y="7160"/>
                  <a:pt x="1458" y="6875"/>
                  <a:pt x="1485" y="6437"/>
                </a:cubicBezTo>
                <a:cubicBezTo>
                  <a:pt x="1517" y="5931"/>
                  <a:pt x="1499" y="5552"/>
                  <a:pt x="1432" y="4459"/>
                </a:cubicBezTo>
                <a:cubicBezTo>
                  <a:pt x="1411" y="4097"/>
                  <a:pt x="1353" y="3353"/>
                  <a:pt x="1325" y="2999"/>
                </a:cubicBezTo>
                <a:lnTo>
                  <a:pt x="1332" y="2982"/>
                </a:lnTo>
                <a:cubicBezTo>
                  <a:pt x="1385" y="3421"/>
                  <a:pt x="1520" y="4582"/>
                  <a:pt x="1575" y="5361"/>
                </a:cubicBezTo>
                <a:cubicBezTo>
                  <a:pt x="1660" y="6577"/>
                  <a:pt x="1633" y="7194"/>
                  <a:pt x="1594" y="7420"/>
                </a:cubicBezTo>
                <a:cubicBezTo>
                  <a:pt x="1477" y="8105"/>
                  <a:pt x="1175" y="8194"/>
                  <a:pt x="1038" y="7816"/>
                </a:cubicBezTo>
                <a:cubicBezTo>
                  <a:pt x="1016" y="9122"/>
                  <a:pt x="1091" y="9700"/>
                  <a:pt x="1116" y="9990"/>
                </a:cubicBezTo>
                <a:cubicBezTo>
                  <a:pt x="1103" y="10321"/>
                  <a:pt x="1158" y="10943"/>
                  <a:pt x="1158" y="10943"/>
                </a:cubicBezTo>
                <a:cubicBezTo>
                  <a:pt x="1158" y="10943"/>
                  <a:pt x="1164" y="10662"/>
                  <a:pt x="1189" y="10513"/>
                </a:cubicBezTo>
                <a:cubicBezTo>
                  <a:pt x="1196" y="10845"/>
                  <a:pt x="1238" y="11236"/>
                  <a:pt x="1238" y="11236"/>
                </a:cubicBezTo>
                <a:cubicBezTo>
                  <a:pt x="1238" y="11236"/>
                  <a:pt x="1234" y="10994"/>
                  <a:pt x="1254" y="10785"/>
                </a:cubicBezTo>
                <a:cubicBezTo>
                  <a:pt x="1281" y="10968"/>
                  <a:pt x="1300" y="11011"/>
                  <a:pt x="1326" y="11147"/>
                </a:cubicBezTo>
                <a:cubicBezTo>
                  <a:pt x="1351" y="11500"/>
                  <a:pt x="1403" y="11759"/>
                  <a:pt x="1403" y="11759"/>
                </a:cubicBezTo>
                <a:cubicBezTo>
                  <a:pt x="1403" y="11759"/>
                  <a:pt x="1394" y="11568"/>
                  <a:pt x="1399" y="11372"/>
                </a:cubicBezTo>
                <a:cubicBezTo>
                  <a:pt x="1524" y="11844"/>
                  <a:pt x="1546" y="12542"/>
                  <a:pt x="1559" y="13074"/>
                </a:cubicBezTo>
                <a:cubicBezTo>
                  <a:pt x="1594" y="14542"/>
                  <a:pt x="972" y="15708"/>
                  <a:pt x="851" y="16627"/>
                </a:cubicBezTo>
                <a:cubicBezTo>
                  <a:pt x="759" y="17171"/>
                  <a:pt x="705" y="18031"/>
                  <a:pt x="859" y="18537"/>
                </a:cubicBezTo>
                <a:cubicBezTo>
                  <a:pt x="972" y="18898"/>
                  <a:pt x="1037" y="19183"/>
                  <a:pt x="1079" y="19422"/>
                </a:cubicBezTo>
                <a:lnTo>
                  <a:pt x="553" y="19724"/>
                </a:lnTo>
                <a:lnTo>
                  <a:pt x="0" y="2051"/>
                </a:lnTo>
                <a:close/>
              </a:path>
            </a:pathLst>
          </a:custGeom>
          <a:solidFill>
            <a:srgbClr val="632CA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325" name="Google Shape;126;p21"/>
          <p:cNvSpPr/>
          <p:nvPr/>
        </p:nvSpPr>
        <p:spPr>
          <a:xfrm>
            <a:off x="0" y="0"/>
            <a:ext cx="4161003" cy="6858000"/>
          </a:xfrm>
          <a:prstGeom prst="rect">
            <a:avLst/>
          </a:prstGeom>
          <a:gradFill>
            <a:gsLst>
              <a:gs pos="0">
                <a:srgbClr val="8000FF"/>
              </a:gs>
              <a:gs pos="90000">
                <a:schemeClr val="accent6"/>
              </a:gs>
              <a:gs pos="100000">
                <a:schemeClr val="accent6"/>
              </a:gs>
            </a:gsLst>
            <a:lin ang="2700005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lnSpc>
                <a:spcPct val="114000"/>
              </a:lnSpc>
              <a:defRPr sz="100"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326" name="Title Text"/>
          <p:cNvSpPr txBox="1"/>
          <p:nvPr>
            <p:ph type="title"/>
          </p:nvPr>
        </p:nvSpPr>
        <p:spPr>
          <a:xfrm>
            <a:off x="685800" y="311150"/>
            <a:ext cx="2755900" cy="10656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28" name="Body Level One…"/>
          <p:cNvSpPr txBox="1"/>
          <p:nvPr>
            <p:ph type="body" sz="quarter" idx="1"/>
          </p:nvPr>
        </p:nvSpPr>
        <p:spPr>
          <a:xfrm>
            <a:off x="685800" y="1687922"/>
            <a:ext cx="2755801" cy="4560601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  <a:lvl2pPr marL="228600" indent="457200">
              <a:buSzTx/>
              <a:buNone/>
              <a:defRPr sz="1400">
                <a:solidFill>
                  <a:srgbClr val="FFFFFF"/>
                </a:solidFill>
              </a:defRPr>
            </a:lvl2pPr>
            <a:lvl3pPr marL="228600" indent="914400">
              <a:buSzTx/>
              <a:buNone/>
              <a:defRPr sz="1400">
                <a:solidFill>
                  <a:srgbClr val="FFFFFF"/>
                </a:solidFill>
              </a:defRPr>
            </a:lvl3pPr>
            <a:lvl4pPr marL="228600" indent="1371600">
              <a:buSzTx/>
              <a:buNone/>
              <a:defRPr sz="1400">
                <a:solidFill>
                  <a:srgbClr val="FFFFFF"/>
                </a:solidFill>
              </a:defRPr>
            </a:lvl4pPr>
            <a:lvl5pPr marL="228600" indent="1828800">
              <a:buSzTx/>
              <a:buNone/>
              <a:defRPr sz="1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9" name="Google Shape;130;p21"/>
          <p:cNvSpPr txBox="1"/>
          <p:nvPr>
            <p:ph type="body" idx="21"/>
          </p:nvPr>
        </p:nvSpPr>
        <p:spPr>
          <a:xfrm>
            <a:off x="4718951" y="801850"/>
            <a:ext cx="6769801" cy="5254200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allout_pink">
    <p:bg>
      <p:bgPr>
        <a:gradFill flip="none" rotWithShape="1">
          <a:gsLst>
            <a:gs pos="0">
              <a:srgbClr val="8000FF"/>
            </a:gs>
            <a:gs pos="90000">
              <a:schemeClr val="accent6"/>
            </a:gs>
            <a:gs pos="100000">
              <a:schemeClr val="accent6"/>
            </a:gs>
          </a:gsLst>
          <a:lin ang="2700005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37" name="Title Text"/>
          <p:cNvSpPr txBox="1"/>
          <p:nvPr>
            <p:ph type="title"/>
          </p:nvPr>
        </p:nvSpPr>
        <p:spPr>
          <a:xfrm>
            <a:off x="695323" y="4395789"/>
            <a:ext cx="10795003" cy="1881186"/>
          </a:xfrm>
          <a:prstGeom prst="rect">
            <a:avLst/>
          </a:prstGeom>
        </p:spPr>
        <p:txBody>
          <a:bodyPr anchor="b"/>
          <a:lstStyle>
            <a:lvl1pPr>
              <a:defRPr sz="54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38" name="Google Shape;134;p22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allout_green">
    <p:bg>
      <p:bgPr>
        <a:gradFill flip="none" rotWithShape="1">
          <a:gsLst>
            <a:gs pos="0">
              <a:srgbClr val="00B765"/>
            </a:gs>
            <a:gs pos="30000">
              <a:srgbClr val="00B765"/>
            </a:gs>
            <a:gs pos="90000">
              <a:schemeClr val="accent4"/>
            </a:gs>
            <a:gs pos="100000">
              <a:schemeClr val="accent4"/>
            </a:gs>
          </a:gsLst>
          <a:lin ang="2698631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46" name="Title Text"/>
          <p:cNvSpPr txBox="1"/>
          <p:nvPr>
            <p:ph type="title"/>
          </p:nvPr>
        </p:nvSpPr>
        <p:spPr>
          <a:xfrm>
            <a:off x="695323" y="4395789"/>
            <a:ext cx="10794901" cy="1881301"/>
          </a:xfrm>
          <a:prstGeom prst="rect">
            <a:avLst/>
          </a:prstGeom>
        </p:spPr>
        <p:txBody>
          <a:bodyPr anchor="b"/>
          <a:lstStyle>
            <a:lvl1pPr>
              <a:defRPr sz="54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47" name="Google Shape;138;p23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allout_orange">
    <p:bg>
      <p:bgPr>
        <a:gradFill flip="none" rotWithShape="1">
          <a:gsLst>
            <a:gs pos="0">
              <a:schemeClr val="accent3"/>
            </a:gs>
            <a:gs pos="30000">
              <a:schemeClr val="accent3"/>
            </a:gs>
            <a:gs pos="90000">
              <a:schemeClr val="accent5"/>
            </a:gs>
            <a:gs pos="100000">
              <a:schemeClr val="accent5"/>
            </a:gs>
          </a:gsLst>
          <a:lin ang="27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itle Text"/>
          <p:cNvSpPr txBox="1"/>
          <p:nvPr>
            <p:ph type="title"/>
          </p:nvPr>
        </p:nvSpPr>
        <p:spPr>
          <a:xfrm>
            <a:off x="695323" y="4395789"/>
            <a:ext cx="10795003" cy="1881186"/>
          </a:xfrm>
          <a:prstGeom prst="rect">
            <a:avLst/>
          </a:prstGeom>
        </p:spPr>
        <p:txBody>
          <a:bodyPr anchor="b"/>
          <a:lstStyle>
            <a:lvl1pPr>
              <a:defRPr sz="54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56" name="Google Shape;142;p24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allout_orange_1">
    <p:bg>
      <p:bgPr>
        <a:gradFill flip="none" rotWithShape="1">
          <a:gsLst>
            <a:gs pos="0">
              <a:srgbClr val="5C00EF"/>
            </a:gs>
            <a:gs pos="30000">
              <a:srgbClr val="5C00EF"/>
            </a:gs>
            <a:gs pos="100000">
              <a:schemeClr val="accent2"/>
            </a:gs>
          </a:gsLst>
          <a:lin ang="2698631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Title Text"/>
          <p:cNvSpPr txBox="1"/>
          <p:nvPr>
            <p:ph type="title"/>
          </p:nvPr>
        </p:nvSpPr>
        <p:spPr>
          <a:xfrm>
            <a:off x="695323" y="4395789"/>
            <a:ext cx="10794901" cy="1881301"/>
          </a:xfrm>
          <a:prstGeom prst="rect">
            <a:avLst/>
          </a:prstGeom>
        </p:spPr>
        <p:txBody>
          <a:bodyPr anchor="b"/>
          <a:lstStyle>
            <a:lvl1pPr>
              <a:defRPr sz="54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65" name="Google Shape;146;p25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rom_To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148;p26" descr="Google Shape;148;p26"/>
          <p:cNvPicPr>
            <a:picLocks noChangeAspect="1"/>
          </p:cNvPicPr>
          <p:nvPr/>
        </p:nvPicPr>
        <p:blipFill>
          <a:blip r:embed="rId2">
            <a:alphaModFix amt="35000"/>
            <a:extLst/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73" name="Google Shape;149;p26"/>
          <p:cNvSpPr/>
          <p:nvPr/>
        </p:nvSpPr>
        <p:spPr>
          <a:xfrm>
            <a:off x="6096001" y="0"/>
            <a:ext cx="6096001" cy="68580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90000">
                <a:srgbClr val="9C43FE"/>
              </a:gs>
              <a:gs pos="100000">
                <a:srgbClr val="9C43FE"/>
              </a:gs>
            </a:gsLst>
            <a:lin ang="2700005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3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75" name="Google Shape;151;p26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+ Content_purple">
    <p:bg>
      <p:bgPr>
        <a:gradFill flip="none" rotWithShape="1">
          <a:gsLst>
            <a:gs pos="0">
              <a:srgbClr val="5C00EF"/>
            </a:gs>
            <a:gs pos="30000">
              <a:srgbClr val="5C00EF"/>
            </a:gs>
            <a:gs pos="90000">
              <a:srgbClr val="9C43FE"/>
            </a:gs>
            <a:gs pos="100000">
              <a:srgbClr val="9C43FE"/>
            </a:gs>
          </a:gsLst>
          <a:lin ang="27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8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84" name="Body Level One…"/>
          <p:cNvSpPr txBox="1"/>
          <p:nvPr>
            <p:ph type="body" idx="1"/>
          </p:nvPr>
        </p:nvSpPr>
        <p:spPr>
          <a:xfrm>
            <a:off x="684276" y="1399032"/>
            <a:ext cx="10782301" cy="48495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5" name="Google Shape;156;p27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oogle Shape;10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92" name="Google Shape;11;p1" descr="Google Shape;11;p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93" name="Google Shape;12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4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44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</p:grpSp>
      <p:grpSp>
        <p:nvGrpSpPr>
          <p:cNvPr id="402" name="Google Shape;17;p1"/>
          <p:cNvGrpSpPr/>
          <p:nvPr/>
        </p:nvGrpSpPr>
        <p:grpSpPr>
          <a:xfrm>
            <a:off x="0" y="-710591"/>
            <a:ext cx="4109466" cy="479101"/>
            <a:chOff x="0" y="0"/>
            <a:chExt cx="4109465" cy="479100"/>
          </a:xfrm>
        </p:grpSpPr>
        <p:sp>
          <p:nvSpPr>
            <p:cNvPr id="395" name="Google Shape;18;p1"/>
            <p:cNvSpPr/>
            <p:nvPr/>
          </p:nvSpPr>
          <p:spPr>
            <a:xfrm>
              <a:off x="0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90000">
                  <a:srgbClr val="9C43FE"/>
                </a:gs>
                <a:gs pos="100000">
                  <a:srgbClr val="9C43FE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96" name="Google Shape;19;p1"/>
            <p:cNvSpPr/>
            <p:nvPr/>
          </p:nvSpPr>
          <p:spPr>
            <a:xfrm>
              <a:off x="60506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100000">
                  <a:schemeClr val="accent2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397" name="Google Shape;20;p1"/>
            <p:cNvSpPr/>
            <p:nvPr/>
          </p:nvSpPr>
          <p:spPr>
            <a:xfrm>
              <a:off x="121012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30000">
                  <a:schemeClr val="accent2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398" name="Google Shape;21;p1"/>
            <p:cNvSpPr/>
            <p:nvPr/>
          </p:nvSpPr>
          <p:spPr>
            <a:xfrm>
              <a:off x="181518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00B765"/>
                </a:gs>
                <a:gs pos="30000">
                  <a:srgbClr val="00B765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99" name="Google Shape;22;p1"/>
            <p:cNvSpPr/>
            <p:nvPr/>
          </p:nvSpPr>
          <p:spPr>
            <a:xfrm>
              <a:off x="242024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8000FF"/>
                </a:gs>
                <a:gs pos="90000">
                  <a:schemeClr val="accent6"/>
                </a:gs>
                <a:gs pos="100000">
                  <a:schemeClr val="accent6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400" name="Google Shape;23;p1"/>
            <p:cNvSpPr/>
            <p:nvPr/>
          </p:nvSpPr>
          <p:spPr>
            <a:xfrm>
              <a:off x="3025304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6"/>
                </a:gs>
                <a:gs pos="30000">
                  <a:schemeClr val="accent6"/>
                </a:gs>
                <a:gs pos="90000">
                  <a:schemeClr val="accent3"/>
                </a:gs>
                <a:gs pos="100000">
                  <a:schemeClr val="accent3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1" name="Google Shape;24;p1"/>
            <p:cNvSpPr/>
            <p:nvPr/>
          </p:nvSpPr>
          <p:spPr>
            <a:xfrm>
              <a:off x="3630365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30000">
                  <a:schemeClr val="accent3"/>
                </a:gs>
                <a:gs pos="90000">
                  <a:schemeClr val="accent5"/>
                </a:gs>
                <a:gs pos="100000">
                  <a:schemeClr val="accent5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403" name="Google Shape;25;p1"/>
          <p:cNvSpPr/>
          <p:nvPr/>
        </p:nvSpPr>
        <p:spPr>
          <a:xfrm>
            <a:off x="10585766" y="6450774"/>
            <a:ext cx="1080115" cy="2747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33" fill="norm" stroke="1" extrusionOk="0">
                <a:moveTo>
                  <a:pt x="4627" y="12440"/>
                </a:moveTo>
                <a:lnTo>
                  <a:pt x="4750" y="17639"/>
                </a:lnTo>
                <a:lnTo>
                  <a:pt x="2635" y="19175"/>
                </a:lnTo>
                <a:lnTo>
                  <a:pt x="2616" y="18439"/>
                </a:lnTo>
                <a:lnTo>
                  <a:pt x="3005" y="16103"/>
                </a:lnTo>
                <a:lnTo>
                  <a:pt x="3447" y="16610"/>
                </a:lnTo>
                <a:lnTo>
                  <a:pt x="3827" y="14112"/>
                </a:lnTo>
                <a:lnTo>
                  <a:pt x="4281" y="15293"/>
                </a:lnTo>
                <a:lnTo>
                  <a:pt x="4281" y="15295"/>
                </a:lnTo>
                <a:lnTo>
                  <a:pt x="4282" y="15295"/>
                </a:lnTo>
                <a:lnTo>
                  <a:pt x="4281" y="15293"/>
                </a:lnTo>
                <a:close/>
                <a:moveTo>
                  <a:pt x="4755" y="11377"/>
                </a:moveTo>
                <a:lnTo>
                  <a:pt x="3365" y="12368"/>
                </a:lnTo>
                <a:cubicBezTo>
                  <a:pt x="3332" y="12542"/>
                  <a:pt x="3246" y="12849"/>
                  <a:pt x="3205" y="12929"/>
                </a:cubicBezTo>
                <a:cubicBezTo>
                  <a:pt x="3030" y="13274"/>
                  <a:pt x="2911" y="13176"/>
                  <a:pt x="2808" y="13070"/>
                </a:cubicBezTo>
                <a:cubicBezTo>
                  <a:pt x="2742" y="13006"/>
                  <a:pt x="2705" y="12968"/>
                  <a:pt x="2649" y="12870"/>
                </a:cubicBezTo>
                <a:lnTo>
                  <a:pt x="2310" y="13053"/>
                </a:lnTo>
                <a:lnTo>
                  <a:pt x="2310" y="13057"/>
                </a:lnTo>
                <a:lnTo>
                  <a:pt x="2515" y="19822"/>
                </a:lnTo>
                <a:lnTo>
                  <a:pt x="4897" y="18133"/>
                </a:lnTo>
                <a:close/>
                <a:moveTo>
                  <a:pt x="3698" y="9185"/>
                </a:moveTo>
                <a:cubicBezTo>
                  <a:pt x="3739" y="9275"/>
                  <a:pt x="3739" y="9551"/>
                  <a:pt x="3711" y="9811"/>
                </a:cubicBezTo>
                <a:cubicBezTo>
                  <a:pt x="3670" y="10185"/>
                  <a:pt x="3612" y="10598"/>
                  <a:pt x="3546" y="10632"/>
                </a:cubicBezTo>
                <a:cubicBezTo>
                  <a:pt x="3437" y="10692"/>
                  <a:pt x="3336" y="10462"/>
                  <a:pt x="3219" y="10117"/>
                </a:cubicBezTo>
                <a:cubicBezTo>
                  <a:pt x="3178" y="9994"/>
                  <a:pt x="3152" y="9696"/>
                  <a:pt x="3208" y="9526"/>
                </a:cubicBezTo>
                <a:cubicBezTo>
                  <a:pt x="3239" y="9428"/>
                  <a:pt x="3380" y="9249"/>
                  <a:pt x="3511" y="9190"/>
                </a:cubicBezTo>
                <a:cubicBezTo>
                  <a:pt x="3579" y="9160"/>
                  <a:pt x="3677" y="9139"/>
                  <a:pt x="3698" y="9185"/>
                </a:cubicBezTo>
                <a:close/>
                <a:moveTo>
                  <a:pt x="15082" y="7671"/>
                </a:moveTo>
                <a:lnTo>
                  <a:pt x="15082" y="13878"/>
                </a:lnTo>
                <a:lnTo>
                  <a:pt x="15595" y="13878"/>
                </a:lnTo>
                <a:cubicBezTo>
                  <a:pt x="16078" y="13878"/>
                  <a:pt x="16321" y="12759"/>
                  <a:pt x="16321" y="10526"/>
                </a:cubicBezTo>
                <a:cubicBezTo>
                  <a:pt x="16321" y="8624"/>
                  <a:pt x="16078" y="7671"/>
                  <a:pt x="15595" y="7671"/>
                </a:cubicBezTo>
                <a:close/>
                <a:moveTo>
                  <a:pt x="6458" y="7671"/>
                </a:moveTo>
                <a:lnTo>
                  <a:pt x="6458" y="13878"/>
                </a:lnTo>
                <a:lnTo>
                  <a:pt x="6971" y="13878"/>
                </a:lnTo>
                <a:cubicBezTo>
                  <a:pt x="7454" y="13878"/>
                  <a:pt x="7695" y="12759"/>
                  <a:pt x="7695" y="10526"/>
                </a:cubicBezTo>
                <a:cubicBezTo>
                  <a:pt x="7695" y="8624"/>
                  <a:pt x="7454" y="7671"/>
                  <a:pt x="6971" y="7671"/>
                </a:cubicBezTo>
                <a:close/>
                <a:moveTo>
                  <a:pt x="18214" y="7598"/>
                </a:moveTo>
                <a:cubicBezTo>
                  <a:pt x="17745" y="7598"/>
                  <a:pt x="17493" y="8645"/>
                  <a:pt x="17493" y="10743"/>
                </a:cubicBezTo>
                <a:cubicBezTo>
                  <a:pt x="17493" y="12840"/>
                  <a:pt x="17733" y="13933"/>
                  <a:pt x="18214" y="13933"/>
                </a:cubicBezTo>
                <a:cubicBezTo>
                  <a:pt x="18684" y="13933"/>
                  <a:pt x="18918" y="12870"/>
                  <a:pt x="18918" y="10743"/>
                </a:cubicBezTo>
                <a:cubicBezTo>
                  <a:pt x="18918" y="8615"/>
                  <a:pt x="18684" y="7598"/>
                  <a:pt x="18214" y="7598"/>
                </a:cubicBezTo>
                <a:close/>
                <a:moveTo>
                  <a:pt x="2441" y="6390"/>
                </a:moveTo>
                <a:cubicBezTo>
                  <a:pt x="2513" y="6396"/>
                  <a:pt x="2559" y="6475"/>
                  <a:pt x="2540" y="6543"/>
                </a:cubicBezTo>
                <a:cubicBezTo>
                  <a:pt x="2470" y="6807"/>
                  <a:pt x="2564" y="6731"/>
                  <a:pt x="2574" y="7216"/>
                </a:cubicBezTo>
                <a:cubicBezTo>
                  <a:pt x="2581" y="7573"/>
                  <a:pt x="2552" y="7773"/>
                  <a:pt x="2526" y="7884"/>
                </a:cubicBezTo>
                <a:cubicBezTo>
                  <a:pt x="2472" y="7909"/>
                  <a:pt x="2407" y="7964"/>
                  <a:pt x="2329" y="8062"/>
                </a:cubicBezTo>
                <a:cubicBezTo>
                  <a:pt x="2283" y="8122"/>
                  <a:pt x="2243" y="8190"/>
                  <a:pt x="2207" y="8254"/>
                </a:cubicBezTo>
                <a:cubicBezTo>
                  <a:pt x="2198" y="8228"/>
                  <a:pt x="2188" y="8203"/>
                  <a:pt x="2176" y="8160"/>
                </a:cubicBezTo>
                <a:cubicBezTo>
                  <a:pt x="2056" y="7747"/>
                  <a:pt x="2059" y="7024"/>
                  <a:pt x="2186" y="6684"/>
                </a:cubicBezTo>
                <a:cubicBezTo>
                  <a:pt x="2271" y="6454"/>
                  <a:pt x="2369" y="6385"/>
                  <a:pt x="2441" y="6390"/>
                </a:cubicBezTo>
                <a:close/>
                <a:moveTo>
                  <a:pt x="14650" y="6199"/>
                </a:moveTo>
                <a:lnTo>
                  <a:pt x="15660" y="6199"/>
                </a:lnTo>
                <a:cubicBezTo>
                  <a:pt x="16388" y="6199"/>
                  <a:pt x="16752" y="7641"/>
                  <a:pt x="16752" y="10526"/>
                </a:cubicBezTo>
                <a:cubicBezTo>
                  <a:pt x="16752" y="13742"/>
                  <a:pt x="16389" y="15350"/>
                  <a:pt x="15660" y="15350"/>
                </a:cubicBezTo>
                <a:lnTo>
                  <a:pt x="15660" y="15346"/>
                </a:lnTo>
                <a:lnTo>
                  <a:pt x="14650" y="15346"/>
                </a:lnTo>
                <a:close/>
                <a:moveTo>
                  <a:pt x="6026" y="6199"/>
                </a:moveTo>
                <a:lnTo>
                  <a:pt x="7036" y="6199"/>
                </a:lnTo>
                <a:cubicBezTo>
                  <a:pt x="7764" y="6199"/>
                  <a:pt x="8128" y="7641"/>
                  <a:pt x="8128" y="10526"/>
                </a:cubicBezTo>
                <a:cubicBezTo>
                  <a:pt x="8128" y="13742"/>
                  <a:pt x="7764" y="15350"/>
                  <a:pt x="7036" y="15350"/>
                </a:cubicBezTo>
                <a:lnTo>
                  <a:pt x="7036" y="15346"/>
                </a:lnTo>
                <a:lnTo>
                  <a:pt x="6026" y="15346"/>
                </a:lnTo>
                <a:close/>
                <a:moveTo>
                  <a:pt x="12890" y="6195"/>
                </a:moveTo>
                <a:lnTo>
                  <a:pt x="13354" y="6195"/>
                </a:lnTo>
                <a:lnTo>
                  <a:pt x="14364" y="15346"/>
                </a:lnTo>
                <a:lnTo>
                  <a:pt x="13899" y="15346"/>
                </a:lnTo>
                <a:lnTo>
                  <a:pt x="13606" y="12849"/>
                </a:lnTo>
                <a:lnTo>
                  <a:pt x="12860" y="12849"/>
                </a:lnTo>
                <a:lnTo>
                  <a:pt x="13008" y="11377"/>
                </a:lnTo>
                <a:lnTo>
                  <a:pt x="13493" y="11377"/>
                </a:lnTo>
                <a:lnTo>
                  <a:pt x="13111" y="7943"/>
                </a:lnTo>
                <a:lnTo>
                  <a:pt x="12345" y="15346"/>
                </a:lnTo>
                <a:lnTo>
                  <a:pt x="11902" y="15346"/>
                </a:lnTo>
                <a:close/>
                <a:moveTo>
                  <a:pt x="10356" y="6195"/>
                </a:moveTo>
                <a:lnTo>
                  <a:pt x="12123" y="6195"/>
                </a:lnTo>
                <a:lnTo>
                  <a:pt x="12123" y="7667"/>
                </a:lnTo>
                <a:lnTo>
                  <a:pt x="11455" y="7667"/>
                </a:lnTo>
                <a:lnTo>
                  <a:pt x="11455" y="15346"/>
                </a:lnTo>
                <a:lnTo>
                  <a:pt x="11024" y="15346"/>
                </a:lnTo>
                <a:lnTo>
                  <a:pt x="11024" y="7667"/>
                </a:lnTo>
                <a:lnTo>
                  <a:pt x="10356" y="7667"/>
                </a:lnTo>
                <a:close/>
                <a:moveTo>
                  <a:pt x="9124" y="6195"/>
                </a:moveTo>
                <a:lnTo>
                  <a:pt x="9589" y="6195"/>
                </a:lnTo>
                <a:lnTo>
                  <a:pt x="10599" y="15346"/>
                </a:lnTo>
                <a:lnTo>
                  <a:pt x="10135" y="15346"/>
                </a:lnTo>
                <a:lnTo>
                  <a:pt x="9842" y="12849"/>
                </a:lnTo>
                <a:lnTo>
                  <a:pt x="9096" y="12849"/>
                </a:lnTo>
                <a:lnTo>
                  <a:pt x="9244" y="11377"/>
                </a:lnTo>
                <a:lnTo>
                  <a:pt x="9728" y="11377"/>
                </a:lnTo>
                <a:lnTo>
                  <a:pt x="9347" y="7943"/>
                </a:lnTo>
                <a:lnTo>
                  <a:pt x="8580" y="15346"/>
                </a:lnTo>
                <a:lnTo>
                  <a:pt x="8136" y="15346"/>
                </a:lnTo>
                <a:close/>
                <a:moveTo>
                  <a:pt x="20915" y="6135"/>
                </a:moveTo>
                <a:cubicBezTo>
                  <a:pt x="21170" y="6135"/>
                  <a:pt x="21398" y="6284"/>
                  <a:pt x="21599" y="6582"/>
                </a:cubicBezTo>
                <a:lnTo>
                  <a:pt x="21599" y="8118"/>
                </a:lnTo>
                <a:cubicBezTo>
                  <a:pt x="21398" y="7773"/>
                  <a:pt x="21181" y="7603"/>
                  <a:pt x="20947" y="7603"/>
                </a:cubicBezTo>
                <a:cubicBezTo>
                  <a:pt x="20388" y="7603"/>
                  <a:pt x="20108" y="8615"/>
                  <a:pt x="20108" y="10645"/>
                </a:cubicBezTo>
                <a:cubicBezTo>
                  <a:pt x="20108" y="12840"/>
                  <a:pt x="20372" y="13938"/>
                  <a:pt x="20900" y="13938"/>
                </a:cubicBezTo>
                <a:cubicBezTo>
                  <a:pt x="20977" y="13938"/>
                  <a:pt x="21067" y="13887"/>
                  <a:pt x="21167" y="13785"/>
                </a:cubicBezTo>
                <a:lnTo>
                  <a:pt x="21167" y="11653"/>
                </a:lnTo>
                <a:lnTo>
                  <a:pt x="21169" y="11653"/>
                </a:lnTo>
                <a:lnTo>
                  <a:pt x="21167" y="11640"/>
                </a:lnTo>
                <a:lnTo>
                  <a:pt x="21167" y="11653"/>
                </a:lnTo>
                <a:lnTo>
                  <a:pt x="20757" y="11653"/>
                </a:lnTo>
                <a:lnTo>
                  <a:pt x="20903" y="10147"/>
                </a:lnTo>
                <a:lnTo>
                  <a:pt x="21600" y="10147"/>
                </a:lnTo>
                <a:lnTo>
                  <a:pt x="21600" y="14933"/>
                </a:lnTo>
                <a:cubicBezTo>
                  <a:pt x="21412" y="15257"/>
                  <a:pt x="21177" y="15418"/>
                  <a:pt x="20894" y="15418"/>
                </a:cubicBezTo>
                <a:cubicBezTo>
                  <a:pt x="20071" y="15418"/>
                  <a:pt x="19661" y="13827"/>
                  <a:pt x="19661" y="10649"/>
                </a:cubicBezTo>
                <a:cubicBezTo>
                  <a:pt x="19661" y="7637"/>
                  <a:pt x="20079" y="6135"/>
                  <a:pt x="20915" y="6135"/>
                </a:cubicBezTo>
                <a:close/>
                <a:moveTo>
                  <a:pt x="18214" y="6126"/>
                </a:moveTo>
                <a:cubicBezTo>
                  <a:pt x="18994" y="6126"/>
                  <a:pt x="19366" y="7675"/>
                  <a:pt x="19366" y="10781"/>
                </a:cubicBezTo>
                <a:cubicBezTo>
                  <a:pt x="19366" y="13887"/>
                  <a:pt x="18982" y="15410"/>
                  <a:pt x="18214" y="15410"/>
                </a:cubicBezTo>
                <a:cubicBezTo>
                  <a:pt x="17447" y="15410"/>
                  <a:pt x="17079" y="13865"/>
                  <a:pt x="17045" y="10781"/>
                </a:cubicBezTo>
                <a:cubicBezTo>
                  <a:pt x="17045" y="7679"/>
                  <a:pt x="17435" y="6126"/>
                  <a:pt x="18214" y="6126"/>
                </a:cubicBezTo>
                <a:close/>
                <a:moveTo>
                  <a:pt x="3405" y="5888"/>
                </a:moveTo>
                <a:cubicBezTo>
                  <a:pt x="3564" y="6182"/>
                  <a:pt x="3543" y="6735"/>
                  <a:pt x="3548" y="7062"/>
                </a:cubicBezTo>
                <a:cubicBezTo>
                  <a:pt x="3549" y="7156"/>
                  <a:pt x="3549" y="7220"/>
                  <a:pt x="3547" y="7262"/>
                </a:cubicBezTo>
                <a:cubicBezTo>
                  <a:pt x="3524" y="7216"/>
                  <a:pt x="3489" y="7182"/>
                  <a:pt x="3434" y="7190"/>
                </a:cubicBezTo>
                <a:cubicBezTo>
                  <a:pt x="3418" y="7194"/>
                  <a:pt x="3402" y="7203"/>
                  <a:pt x="3387" y="7211"/>
                </a:cubicBezTo>
                <a:cubicBezTo>
                  <a:pt x="3328" y="7088"/>
                  <a:pt x="3294" y="6845"/>
                  <a:pt x="3261" y="6586"/>
                </a:cubicBezTo>
                <a:lnTo>
                  <a:pt x="3254" y="6522"/>
                </a:lnTo>
                <a:lnTo>
                  <a:pt x="3249" y="6492"/>
                </a:lnTo>
                <a:lnTo>
                  <a:pt x="3249" y="6480"/>
                </a:lnTo>
                <a:cubicBezTo>
                  <a:pt x="3232" y="6258"/>
                  <a:pt x="3244" y="6216"/>
                  <a:pt x="3252" y="6148"/>
                </a:cubicBezTo>
                <a:lnTo>
                  <a:pt x="3252" y="6143"/>
                </a:lnTo>
                <a:cubicBezTo>
                  <a:pt x="3259" y="6075"/>
                  <a:pt x="3287" y="6020"/>
                  <a:pt x="3245" y="5961"/>
                </a:cubicBezTo>
                <a:cubicBezTo>
                  <a:pt x="3242" y="5956"/>
                  <a:pt x="3238" y="5948"/>
                  <a:pt x="3232" y="5948"/>
                </a:cubicBezTo>
                <a:cubicBezTo>
                  <a:pt x="3260" y="5812"/>
                  <a:pt x="3345" y="5778"/>
                  <a:pt x="3405" y="5888"/>
                </a:cubicBezTo>
                <a:close/>
                <a:moveTo>
                  <a:pt x="4491" y="0"/>
                </a:moveTo>
                <a:lnTo>
                  <a:pt x="4755" y="10721"/>
                </a:lnTo>
                <a:lnTo>
                  <a:pt x="4892" y="10619"/>
                </a:lnTo>
                <a:lnTo>
                  <a:pt x="4894" y="10615"/>
                </a:lnTo>
                <a:lnTo>
                  <a:pt x="5113" y="19060"/>
                </a:lnTo>
                <a:lnTo>
                  <a:pt x="2416" y="20336"/>
                </a:lnTo>
                <a:lnTo>
                  <a:pt x="2358" y="18690"/>
                </a:lnTo>
                <a:lnTo>
                  <a:pt x="2194" y="18784"/>
                </a:lnTo>
                <a:cubicBezTo>
                  <a:pt x="2208" y="19698"/>
                  <a:pt x="2153" y="20570"/>
                  <a:pt x="2051" y="20987"/>
                </a:cubicBezTo>
                <a:cubicBezTo>
                  <a:pt x="1931" y="21477"/>
                  <a:pt x="1756" y="21600"/>
                  <a:pt x="1571" y="21502"/>
                </a:cubicBezTo>
                <a:cubicBezTo>
                  <a:pt x="1446" y="21438"/>
                  <a:pt x="1353" y="21085"/>
                  <a:pt x="1285" y="20651"/>
                </a:cubicBezTo>
                <a:cubicBezTo>
                  <a:pt x="1541" y="21362"/>
                  <a:pt x="1858" y="21034"/>
                  <a:pt x="1966" y="20439"/>
                </a:cubicBezTo>
                <a:cubicBezTo>
                  <a:pt x="2119" y="19605"/>
                  <a:pt x="2079" y="18813"/>
                  <a:pt x="2023" y="18077"/>
                </a:cubicBezTo>
                <a:cubicBezTo>
                  <a:pt x="1978" y="17499"/>
                  <a:pt x="1858" y="16541"/>
                  <a:pt x="1709" y="16171"/>
                </a:cubicBezTo>
                <a:cubicBezTo>
                  <a:pt x="1558" y="15793"/>
                  <a:pt x="1410" y="15720"/>
                  <a:pt x="1284" y="15771"/>
                </a:cubicBezTo>
                <a:lnTo>
                  <a:pt x="1296" y="15720"/>
                </a:lnTo>
                <a:cubicBezTo>
                  <a:pt x="1477" y="15580"/>
                  <a:pt x="1665" y="15656"/>
                  <a:pt x="1801" y="16001"/>
                </a:cubicBezTo>
                <a:cubicBezTo>
                  <a:pt x="1955" y="16393"/>
                  <a:pt x="2097" y="17065"/>
                  <a:pt x="2171" y="18094"/>
                </a:cubicBezTo>
                <a:cubicBezTo>
                  <a:pt x="2255" y="18048"/>
                  <a:pt x="2267" y="18026"/>
                  <a:pt x="2344" y="17984"/>
                </a:cubicBezTo>
                <a:lnTo>
                  <a:pt x="2171" y="12683"/>
                </a:lnTo>
                <a:lnTo>
                  <a:pt x="2537" y="12525"/>
                </a:lnTo>
                <a:cubicBezTo>
                  <a:pt x="2365" y="12091"/>
                  <a:pt x="2188" y="11470"/>
                  <a:pt x="2110" y="11125"/>
                </a:cubicBezTo>
                <a:cubicBezTo>
                  <a:pt x="2097" y="11087"/>
                  <a:pt x="2099" y="10917"/>
                  <a:pt x="2099" y="10917"/>
                </a:cubicBezTo>
                <a:cubicBezTo>
                  <a:pt x="2170" y="11130"/>
                  <a:pt x="2460" y="11947"/>
                  <a:pt x="2767" y="12321"/>
                </a:cubicBezTo>
                <a:cubicBezTo>
                  <a:pt x="2875" y="12453"/>
                  <a:pt x="3042" y="12504"/>
                  <a:pt x="3187" y="12181"/>
                </a:cubicBezTo>
                <a:cubicBezTo>
                  <a:pt x="3297" y="11934"/>
                  <a:pt x="3430" y="11504"/>
                  <a:pt x="3509" y="11062"/>
                </a:cubicBezTo>
                <a:lnTo>
                  <a:pt x="3523" y="11160"/>
                </a:lnTo>
                <a:cubicBezTo>
                  <a:pt x="3523" y="11228"/>
                  <a:pt x="3486" y="11547"/>
                  <a:pt x="3468" y="11674"/>
                </a:cubicBezTo>
                <a:cubicBezTo>
                  <a:pt x="3501" y="11751"/>
                  <a:pt x="3526" y="11768"/>
                  <a:pt x="3564" y="11810"/>
                </a:cubicBezTo>
                <a:lnTo>
                  <a:pt x="3819" y="11653"/>
                </a:lnTo>
                <a:cubicBezTo>
                  <a:pt x="3910" y="11074"/>
                  <a:pt x="3976" y="10134"/>
                  <a:pt x="3906" y="9245"/>
                </a:cubicBezTo>
                <a:cubicBezTo>
                  <a:pt x="3866" y="8734"/>
                  <a:pt x="3658" y="7713"/>
                  <a:pt x="3643" y="7658"/>
                </a:cubicBezTo>
                <a:cubicBezTo>
                  <a:pt x="3590" y="7462"/>
                  <a:pt x="3652" y="6701"/>
                  <a:pt x="3548" y="5867"/>
                </a:cubicBezTo>
                <a:cubicBezTo>
                  <a:pt x="3439" y="4986"/>
                  <a:pt x="3154" y="4067"/>
                  <a:pt x="3030" y="3667"/>
                </a:cubicBezTo>
                <a:cubicBezTo>
                  <a:pt x="3067" y="3769"/>
                  <a:pt x="3290" y="4127"/>
                  <a:pt x="3395" y="4625"/>
                </a:cubicBezTo>
                <a:cubicBezTo>
                  <a:pt x="3405" y="4574"/>
                  <a:pt x="3409" y="4306"/>
                  <a:pt x="3418" y="4237"/>
                </a:cubicBezTo>
                <a:cubicBezTo>
                  <a:pt x="3328" y="3778"/>
                  <a:pt x="3321" y="2953"/>
                  <a:pt x="3321" y="2731"/>
                </a:cubicBezTo>
                <a:cubicBezTo>
                  <a:pt x="3321" y="2327"/>
                  <a:pt x="3269" y="1868"/>
                  <a:pt x="3269" y="1868"/>
                </a:cubicBezTo>
                <a:cubicBezTo>
                  <a:pt x="3269" y="1868"/>
                  <a:pt x="3360" y="2149"/>
                  <a:pt x="3382" y="2629"/>
                </a:cubicBezTo>
                <a:cubicBezTo>
                  <a:pt x="3409" y="3199"/>
                  <a:pt x="3468" y="3650"/>
                  <a:pt x="3546" y="4029"/>
                </a:cubicBezTo>
                <a:cubicBezTo>
                  <a:pt x="3693" y="4748"/>
                  <a:pt x="3824" y="5114"/>
                  <a:pt x="3892" y="4850"/>
                </a:cubicBezTo>
                <a:cubicBezTo>
                  <a:pt x="3971" y="4531"/>
                  <a:pt x="3812" y="3106"/>
                  <a:pt x="3605" y="2310"/>
                </a:cubicBezTo>
                <a:cubicBezTo>
                  <a:pt x="3365" y="1383"/>
                  <a:pt x="3301" y="1502"/>
                  <a:pt x="3161" y="1702"/>
                </a:cubicBezTo>
                <a:cubicBezTo>
                  <a:pt x="3048" y="1859"/>
                  <a:pt x="2988" y="3119"/>
                  <a:pt x="2695" y="3093"/>
                </a:cubicBezTo>
                <a:cubicBezTo>
                  <a:pt x="2645" y="3072"/>
                  <a:pt x="2517" y="3059"/>
                  <a:pt x="2454" y="3059"/>
                </a:cubicBezTo>
                <a:cubicBezTo>
                  <a:pt x="2487" y="2880"/>
                  <a:pt x="2515" y="2740"/>
                  <a:pt x="2515" y="2740"/>
                </a:cubicBezTo>
                <a:cubicBezTo>
                  <a:pt x="2515" y="2740"/>
                  <a:pt x="2417" y="2897"/>
                  <a:pt x="2334" y="3093"/>
                </a:cubicBezTo>
                <a:lnTo>
                  <a:pt x="2327" y="3055"/>
                </a:lnTo>
                <a:cubicBezTo>
                  <a:pt x="2355" y="2821"/>
                  <a:pt x="2386" y="2672"/>
                  <a:pt x="2386" y="2672"/>
                </a:cubicBezTo>
                <a:cubicBezTo>
                  <a:pt x="2386" y="2672"/>
                  <a:pt x="2307" y="2859"/>
                  <a:pt x="2235" y="3080"/>
                </a:cubicBezTo>
                <a:cubicBezTo>
                  <a:pt x="2248" y="2804"/>
                  <a:pt x="2298" y="2625"/>
                  <a:pt x="2298" y="2625"/>
                </a:cubicBezTo>
                <a:cubicBezTo>
                  <a:pt x="2298" y="2625"/>
                  <a:pt x="2199" y="2693"/>
                  <a:pt x="2072" y="3242"/>
                </a:cubicBezTo>
                <a:cubicBezTo>
                  <a:pt x="1928" y="3395"/>
                  <a:pt x="1894" y="3497"/>
                  <a:pt x="1779" y="3697"/>
                </a:cubicBezTo>
                <a:cubicBezTo>
                  <a:pt x="1593" y="3535"/>
                  <a:pt x="1505" y="3280"/>
                  <a:pt x="1421" y="2804"/>
                </a:cubicBezTo>
                <a:cubicBezTo>
                  <a:pt x="1358" y="2442"/>
                  <a:pt x="1244" y="2387"/>
                  <a:pt x="1129" y="2574"/>
                </a:cubicBezTo>
                <a:cubicBezTo>
                  <a:pt x="960" y="2846"/>
                  <a:pt x="746" y="3225"/>
                  <a:pt x="746" y="3225"/>
                </a:cubicBezTo>
                <a:cubicBezTo>
                  <a:pt x="746" y="3225"/>
                  <a:pt x="816" y="3212"/>
                  <a:pt x="889" y="3225"/>
                </a:cubicBezTo>
                <a:cubicBezTo>
                  <a:pt x="790" y="3374"/>
                  <a:pt x="694" y="3578"/>
                  <a:pt x="694" y="3578"/>
                </a:cubicBezTo>
                <a:cubicBezTo>
                  <a:pt x="694" y="3578"/>
                  <a:pt x="740" y="3578"/>
                  <a:pt x="798" y="3578"/>
                </a:cubicBezTo>
                <a:cubicBezTo>
                  <a:pt x="758" y="3706"/>
                  <a:pt x="736" y="3769"/>
                  <a:pt x="698" y="3867"/>
                </a:cubicBezTo>
                <a:cubicBezTo>
                  <a:pt x="608" y="4127"/>
                  <a:pt x="534" y="4429"/>
                  <a:pt x="534" y="4429"/>
                </a:cubicBezTo>
                <a:cubicBezTo>
                  <a:pt x="534" y="4429"/>
                  <a:pt x="596" y="4318"/>
                  <a:pt x="651" y="4254"/>
                </a:cubicBezTo>
                <a:cubicBezTo>
                  <a:pt x="612" y="4603"/>
                  <a:pt x="535" y="4859"/>
                  <a:pt x="549" y="5288"/>
                </a:cubicBezTo>
                <a:cubicBezTo>
                  <a:pt x="563" y="5680"/>
                  <a:pt x="684" y="6484"/>
                  <a:pt x="842" y="6977"/>
                </a:cubicBezTo>
                <a:cubicBezTo>
                  <a:pt x="855" y="7024"/>
                  <a:pt x="1070" y="7803"/>
                  <a:pt x="1232" y="7484"/>
                </a:cubicBezTo>
                <a:cubicBezTo>
                  <a:pt x="1394" y="7160"/>
                  <a:pt x="1458" y="6875"/>
                  <a:pt x="1485" y="6437"/>
                </a:cubicBezTo>
                <a:cubicBezTo>
                  <a:pt x="1517" y="5931"/>
                  <a:pt x="1499" y="5552"/>
                  <a:pt x="1432" y="4459"/>
                </a:cubicBezTo>
                <a:cubicBezTo>
                  <a:pt x="1411" y="4097"/>
                  <a:pt x="1353" y="3353"/>
                  <a:pt x="1325" y="2999"/>
                </a:cubicBezTo>
                <a:lnTo>
                  <a:pt x="1332" y="2982"/>
                </a:lnTo>
                <a:cubicBezTo>
                  <a:pt x="1385" y="3421"/>
                  <a:pt x="1520" y="4582"/>
                  <a:pt x="1575" y="5361"/>
                </a:cubicBezTo>
                <a:cubicBezTo>
                  <a:pt x="1660" y="6577"/>
                  <a:pt x="1633" y="7194"/>
                  <a:pt x="1594" y="7420"/>
                </a:cubicBezTo>
                <a:cubicBezTo>
                  <a:pt x="1477" y="8105"/>
                  <a:pt x="1175" y="8194"/>
                  <a:pt x="1038" y="7816"/>
                </a:cubicBezTo>
                <a:cubicBezTo>
                  <a:pt x="1016" y="9122"/>
                  <a:pt x="1091" y="9700"/>
                  <a:pt x="1116" y="9990"/>
                </a:cubicBezTo>
                <a:cubicBezTo>
                  <a:pt x="1103" y="10321"/>
                  <a:pt x="1158" y="10943"/>
                  <a:pt x="1158" y="10943"/>
                </a:cubicBezTo>
                <a:cubicBezTo>
                  <a:pt x="1158" y="10943"/>
                  <a:pt x="1164" y="10662"/>
                  <a:pt x="1189" y="10513"/>
                </a:cubicBezTo>
                <a:cubicBezTo>
                  <a:pt x="1196" y="10845"/>
                  <a:pt x="1238" y="11236"/>
                  <a:pt x="1238" y="11236"/>
                </a:cubicBezTo>
                <a:cubicBezTo>
                  <a:pt x="1238" y="11236"/>
                  <a:pt x="1234" y="10994"/>
                  <a:pt x="1254" y="10785"/>
                </a:cubicBezTo>
                <a:cubicBezTo>
                  <a:pt x="1281" y="10968"/>
                  <a:pt x="1300" y="11011"/>
                  <a:pt x="1326" y="11147"/>
                </a:cubicBezTo>
                <a:cubicBezTo>
                  <a:pt x="1351" y="11500"/>
                  <a:pt x="1403" y="11759"/>
                  <a:pt x="1403" y="11759"/>
                </a:cubicBezTo>
                <a:cubicBezTo>
                  <a:pt x="1403" y="11759"/>
                  <a:pt x="1394" y="11568"/>
                  <a:pt x="1399" y="11372"/>
                </a:cubicBezTo>
                <a:cubicBezTo>
                  <a:pt x="1524" y="11844"/>
                  <a:pt x="1546" y="12542"/>
                  <a:pt x="1559" y="13074"/>
                </a:cubicBezTo>
                <a:cubicBezTo>
                  <a:pt x="1594" y="14542"/>
                  <a:pt x="972" y="15708"/>
                  <a:pt x="851" y="16627"/>
                </a:cubicBezTo>
                <a:cubicBezTo>
                  <a:pt x="759" y="17171"/>
                  <a:pt x="705" y="18031"/>
                  <a:pt x="859" y="18537"/>
                </a:cubicBezTo>
                <a:cubicBezTo>
                  <a:pt x="972" y="18898"/>
                  <a:pt x="1037" y="19183"/>
                  <a:pt x="1079" y="19422"/>
                </a:cubicBezTo>
                <a:lnTo>
                  <a:pt x="553" y="19724"/>
                </a:lnTo>
                <a:lnTo>
                  <a:pt x="0" y="2051"/>
                </a:lnTo>
                <a:close/>
              </a:path>
            </a:pathLst>
          </a:custGeom>
          <a:solidFill>
            <a:srgbClr val="632CA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40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0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06" name="Body Level One…"/>
          <p:cNvSpPr txBox="1"/>
          <p:nvPr>
            <p:ph type="body" idx="1"/>
          </p:nvPr>
        </p:nvSpPr>
        <p:spPr>
          <a:xfrm>
            <a:off x="695325" y="1638300"/>
            <a:ext cx="10794901" cy="4638600"/>
          </a:xfrm>
          <a:prstGeom prst="rect">
            <a:avLst/>
          </a:prstGeom>
          <a:solidFill>
            <a:srgbClr val="FFFFFF"/>
          </a:solidFill>
          <a:effectLst>
            <a:outerShdw sx="100000" sy="100000" kx="0" ky="0" algn="b" rotWithShape="0" blurRad="101600" dist="0" dir="0">
              <a:srgbClr val="000000">
                <a:alpha val="9411"/>
              </a:srgbClr>
            </a:outerShdw>
          </a:effectLst>
        </p:spPr>
        <p:txBody>
          <a:bodyPr anchor="ctr"/>
          <a:lstStyle>
            <a:lvl1pPr algn="ctr">
              <a:defRPr sz="1400"/>
            </a:lvl1pPr>
            <a:lvl2pPr marL="228600" indent="457200" algn="ctr">
              <a:buSzTx/>
              <a:buNone/>
              <a:defRPr sz="1400"/>
            </a:lvl2pPr>
            <a:lvl3pPr marL="228600" indent="914400" algn="ctr">
              <a:buSzTx/>
              <a:buNone/>
              <a:defRPr sz="1400"/>
            </a:lvl3pPr>
            <a:lvl4pPr marL="228600" indent="1371600" algn="ctr">
              <a:buSzTx/>
              <a:buNone/>
              <a:defRPr sz="1400"/>
            </a:lvl4pPr>
            <a:lvl5pPr marL="228600" indent="1828800" algn="ctr">
              <a:buSz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+ Content_pink">
    <p:bg>
      <p:bgPr>
        <a:gradFill flip="none" rotWithShape="1">
          <a:gsLst>
            <a:gs pos="0">
              <a:srgbClr val="8000FF"/>
            </a:gs>
            <a:gs pos="90000">
              <a:schemeClr val="accent6"/>
            </a:gs>
            <a:gs pos="100000">
              <a:schemeClr val="accent6"/>
            </a:gs>
          </a:gsLst>
          <a:lin ang="2700005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415" name="Body Level One…"/>
          <p:cNvSpPr txBox="1"/>
          <p:nvPr>
            <p:ph type="body" idx="1"/>
          </p:nvPr>
        </p:nvSpPr>
        <p:spPr>
          <a:xfrm>
            <a:off x="684276" y="1399032"/>
            <a:ext cx="10782301" cy="48495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6" name="Google Shape;165;p29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+ Content_blue">
    <p:bg>
      <p:bgPr>
        <a:gradFill flip="none" rotWithShape="1">
          <a:gsLst>
            <a:gs pos="0">
              <a:schemeClr val="accent2"/>
            </a:gs>
            <a:gs pos="30000">
              <a:schemeClr val="accent2"/>
            </a:gs>
            <a:gs pos="90000">
              <a:schemeClr val="accent4"/>
            </a:gs>
            <a:gs pos="100000">
              <a:schemeClr val="accent4"/>
            </a:gs>
          </a:gsLst>
          <a:lin ang="27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425" name="Body Level One…"/>
          <p:cNvSpPr txBox="1"/>
          <p:nvPr>
            <p:ph type="body" idx="1"/>
          </p:nvPr>
        </p:nvSpPr>
        <p:spPr>
          <a:xfrm>
            <a:off x="684276" y="1399032"/>
            <a:ext cx="10782301" cy="48495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6" name="Google Shape;170;p30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+ Content_green">
    <p:bg>
      <p:bgPr>
        <a:gradFill flip="none" rotWithShape="1">
          <a:gsLst>
            <a:gs pos="0">
              <a:srgbClr val="00B765"/>
            </a:gs>
            <a:gs pos="30000">
              <a:srgbClr val="00B765"/>
            </a:gs>
            <a:gs pos="90000">
              <a:schemeClr val="accent4"/>
            </a:gs>
            <a:gs pos="100000">
              <a:schemeClr val="accent4"/>
            </a:gs>
          </a:gsLst>
          <a:lin ang="2698631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435" name="Body Level One…"/>
          <p:cNvSpPr txBox="1"/>
          <p:nvPr>
            <p:ph type="body" idx="1"/>
          </p:nvPr>
        </p:nvSpPr>
        <p:spPr>
          <a:xfrm>
            <a:off x="684276" y="1399032"/>
            <a:ext cx="10782301" cy="48495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6" name="Google Shape;175;p31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+ Content_orange">
    <p:bg>
      <p:bgPr>
        <a:gradFill flip="none" rotWithShape="1">
          <a:gsLst>
            <a:gs pos="0">
              <a:schemeClr val="accent3"/>
            </a:gs>
            <a:gs pos="30000">
              <a:schemeClr val="accent3"/>
            </a:gs>
            <a:gs pos="90000">
              <a:schemeClr val="accent5"/>
            </a:gs>
            <a:gs pos="100000">
              <a:schemeClr val="accent5"/>
            </a:gs>
          </a:gsLst>
          <a:lin ang="2698631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4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445" name="Body Level One…"/>
          <p:cNvSpPr txBox="1"/>
          <p:nvPr>
            <p:ph type="body" idx="1"/>
          </p:nvPr>
        </p:nvSpPr>
        <p:spPr>
          <a:xfrm>
            <a:off x="684276" y="1399032"/>
            <a:ext cx="10782301" cy="48495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46" name="Google Shape;181;p32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+ Content_orange_1">
    <p:bg>
      <p:bgPr>
        <a:gradFill flip="none" rotWithShape="1">
          <a:gsLst>
            <a:gs pos="0">
              <a:srgbClr val="5C00EF"/>
            </a:gs>
            <a:gs pos="30000">
              <a:srgbClr val="5C00EF"/>
            </a:gs>
            <a:gs pos="100000">
              <a:schemeClr val="accent2"/>
            </a:gs>
          </a:gsLst>
          <a:lin ang="2698631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Title Text"/>
          <p:cNvSpPr txBox="1"/>
          <p:nvPr>
            <p:ph type="title"/>
          </p:nvPr>
        </p:nvSpPr>
        <p:spPr>
          <a:xfrm>
            <a:off x="695323" y="357808"/>
            <a:ext cx="10794901" cy="8682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5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455" name="Body Level One…"/>
          <p:cNvSpPr txBox="1"/>
          <p:nvPr>
            <p:ph type="body" idx="1"/>
          </p:nvPr>
        </p:nvSpPr>
        <p:spPr>
          <a:xfrm>
            <a:off x="684276" y="1399032"/>
            <a:ext cx="10782301" cy="48495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6" name="Google Shape;187;p33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1/3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10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63" name="Google Shape;11;p1" descr="Google Shape;11;p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64" name="Google Shape;12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4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44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</p:grpSp>
      <p:grpSp>
        <p:nvGrpSpPr>
          <p:cNvPr id="473" name="Google Shape;17;p1"/>
          <p:cNvGrpSpPr/>
          <p:nvPr/>
        </p:nvGrpSpPr>
        <p:grpSpPr>
          <a:xfrm>
            <a:off x="0" y="-710591"/>
            <a:ext cx="4109466" cy="479101"/>
            <a:chOff x="0" y="0"/>
            <a:chExt cx="4109465" cy="479100"/>
          </a:xfrm>
        </p:grpSpPr>
        <p:sp>
          <p:nvSpPr>
            <p:cNvPr id="466" name="Google Shape;18;p1"/>
            <p:cNvSpPr/>
            <p:nvPr/>
          </p:nvSpPr>
          <p:spPr>
            <a:xfrm>
              <a:off x="0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90000">
                  <a:srgbClr val="9C43FE"/>
                </a:gs>
                <a:gs pos="100000">
                  <a:srgbClr val="9C43FE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67" name="Google Shape;19;p1"/>
            <p:cNvSpPr/>
            <p:nvPr/>
          </p:nvSpPr>
          <p:spPr>
            <a:xfrm>
              <a:off x="60506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100000">
                  <a:schemeClr val="accent2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468" name="Google Shape;20;p1"/>
            <p:cNvSpPr/>
            <p:nvPr/>
          </p:nvSpPr>
          <p:spPr>
            <a:xfrm>
              <a:off x="121012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30000">
                  <a:schemeClr val="accent2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469" name="Google Shape;21;p1"/>
            <p:cNvSpPr/>
            <p:nvPr/>
          </p:nvSpPr>
          <p:spPr>
            <a:xfrm>
              <a:off x="181518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00B765"/>
                </a:gs>
                <a:gs pos="30000">
                  <a:srgbClr val="00B765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70" name="Google Shape;22;p1"/>
            <p:cNvSpPr/>
            <p:nvPr/>
          </p:nvSpPr>
          <p:spPr>
            <a:xfrm>
              <a:off x="242024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8000FF"/>
                </a:gs>
                <a:gs pos="90000">
                  <a:schemeClr val="accent6"/>
                </a:gs>
                <a:gs pos="100000">
                  <a:schemeClr val="accent6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471" name="Google Shape;23;p1"/>
            <p:cNvSpPr/>
            <p:nvPr/>
          </p:nvSpPr>
          <p:spPr>
            <a:xfrm>
              <a:off x="3025304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6"/>
                </a:gs>
                <a:gs pos="30000">
                  <a:schemeClr val="accent6"/>
                </a:gs>
                <a:gs pos="90000">
                  <a:schemeClr val="accent3"/>
                </a:gs>
                <a:gs pos="100000">
                  <a:schemeClr val="accent3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72" name="Google Shape;24;p1"/>
            <p:cNvSpPr/>
            <p:nvPr/>
          </p:nvSpPr>
          <p:spPr>
            <a:xfrm>
              <a:off x="3630365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30000">
                  <a:schemeClr val="accent3"/>
                </a:gs>
                <a:gs pos="90000">
                  <a:schemeClr val="accent5"/>
                </a:gs>
                <a:gs pos="100000">
                  <a:schemeClr val="accent5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474" name="Google Shape;25;p1"/>
          <p:cNvSpPr/>
          <p:nvPr/>
        </p:nvSpPr>
        <p:spPr>
          <a:xfrm>
            <a:off x="10585766" y="6450774"/>
            <a:ext cx="1080115" cy="2747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33" fill="norm" stroke="1" extrusionOk="0">
                <a:moveTo>
                  <a:pt x="4627" y="12440"/>
                </a:moveTo>
                <a:lnTo>
                  <a:pt x="4750" y="17639"/>
                </a:lnTo>
                <a:lnTo>
                  <a:pt x="2635" y="19175"/>
                </a:lnTo>
                <a:lnTo>
                  <a:pt x="2616" y="18439"/>
                </a:lnTo>
                <a:lnTo>
                  <a:pt x="3005" y="16103"/>
                </a:lnTo>
                <a:lnTo>
                  <a:pt x="3447" y="16610"/>
                </a:lnTo>
                <a:lnTo>
                  <a:pt x="3827" y="14112"/>
                </a:lnTo>
                <a:lnTo>
                  <a:pt x="4281" y="15293"/>
                </a:lnTo>
                <a:lnTo>
                  <a:pt x="4281" y="15295"/>
                </a:lnTo>
                <a:lnTo>
                  <a:pt x="4282" y="15295"/>
                </a:lnTo>
                <a:lnTo>
                  <a:pt x="4281" y="15293"/>
                </a:lnTo>
                <a:close/>
                <a:moveTo>
                  <a:pt x="4755" y="11377"/>
                </a:moveTo>
                <a:lnTo>
                  <a:pt x="3365" y="12368"/>
                </a:lnTo>
                <a:cubicBezTo>
                  <a:pt x="3332" y="12542"/>
                  <a:pt x="3246" y="12849"/>
                  <a:pt x="3205" y="12929"/>
                </a:cubicBezTo>
                <a:cubicBezTo>
                  <a:pt x="3030" y="13274"/>
                  <a:pt x="2911" y="13176"/>
                  <a:pt x="2808" y="13070"/>
                </a:cubicBezTo>
                <a:cubicBezTo>
                  <a:pt x="2742" y="13006"/>
                  <a:pt x="2705" y="12968"/>
                  <a:pt x="2649" y="12870"/>
                </a:cubicBezTo>
                <a:lnTo>
                  <a:pt x="2310" y="13053"/>
                </a:lnTo>
                <a:lnTo>
                  <a:pt x="2310" y="13057"/>
                </a:lnTo>
                <a:lnTo>
                  <a:pt x="2515" y="19822"/>
                </a:lnTo>
                <a:lnTo>
                  <a:pt x="4897" y="18133"/>
                </a:lnTo>
                <a:close/>
                <a:moveTo>
                  <a:pt x="3698" y="9185"/>
                </a:moveTo>
                <a:cubicBezTo>
                  <a:pt x="3739" y="9275"/>
                  <a:pt x="3739" y="9551"/>
                  <a:pt x="3711" y="9811"/>
                </a:cubicBezTo>
                <a:cubicBezTo>
                  <a:pt x="3670" y="10185"/>
                  <a:pt x="3612" y="10598"/>
                  <a:pt x="3546" y="10632"/>
                </a:cubicBezTo>
                <a:cubicBezTo>
                  <a:pt x="3437" y="10692"/>
                  <a:pt x="3336" y="10462"/>
                  <a:pt x="3219" y="10117"/>
                </a:cubicBezTo>
                <a:cubicBezTo>
                  <a:pt x="3178" y="9994"/>
                  <a:pt x="3152" y="9696"/>
                  <a:pt x="3208" y="9526"/>
                </a:cubicBezTo>
                <a:cubicBezTo>
                  <a:pt x="3239" y="9428"/>
                  <a:pt x="3380" y="9249"/>
                  <a:pt x="3511" y="9190"/>
                </a:cubicBezTo>
                <a:cubicBezTo>
                  <a:pt x="3579" y="9160"/>
                  <a:pt x="3677" y="9139"/>
                  <a:pt x="3698" y="9185"/>
                </a:cubicBezTo>
                <a:close/>
                <a:moveTo>
                  <a:pt x="15082" y="7671"/>
                </a:moveTo>
                <a:lnTo>
                  <a:pt x="15082" y="13878"/>
                </a:lnTo>
                <a:lnTo>
                  <a:pt x="15595" y="13878"/>
                </a:lnTo>
                <a:cubicBezTo>
                  <a:pt x="16078" y="13878"/>
                  <a:pt x="16321" y="12759"/>
                  <a:pt x="16321" y="10526"/>
                </a:cubicBezTo>
                <a:cubicBezTo>
                  <a:pt x="16321" y="8624"/>
                  <a:pt x="16078" y="7671"/>
                  <a:pt x="15595" y="7671"/>
                </a:cubicBezTo>
                <a:close/>
                <a:moveTo>
                  <a:pt x="6458" y="7671"/>
                </a:moveTo>
                <a:lnTo>
                  <a:pt x="6458" y="13878"/>
                </a:lnTo>
                <a:lnTo>
                  <a:pt x="6971" y="13878"/>
                </a:lnTo>
                <a:cubicBezTo>
                  <a:pt x="7454" y="13878"/>
                  <a:pt x="7695" y="12759"/>
                  <a:pt x="7695" y="10526"/>
                </a:cubicBezTo>
                <a:cubicBezTo>
                  <a:pt x="7695" y="8624"/>
                  <a:pt x="7454" y="7671"/>
                  <a:pt x="6971" y="7671"/>
                </a:cubicBezTo>
                <a:close/>
                <a:moveTo>
                  <a:pt x="18214" y="7598"/>
                </a:moveTo>
                <a:cubicBezTo>
                  <a:pt x="17745" y="7598"/>
                  <a:pt x="17493" y="8645"/>
                  <a:pt x="17493" y="10743"/>
                </a:cubicBezTo>
                <a:cubicBezTo>
                  <a:pt x="17493" y="12840"/>
                  <a:pt x="17733" y="13933"/>
                  <a:pt x="18214" y="13933"/>
                </a:cubicBezTo>
                <a:cubicBezTo>
                  <a:pt x="18684" y="13933"/>
                  <a:pt x="18918" y="12870"/>
                  <a:pt x="18918" y="10743"/>
                </a:cubicBezTo>
                <a:cubicBezTo>
                  <a:pt x="18918" y="8615"/>
                  <a:pt x="18684" y="7598"/>
                  <a:pt x="18214" y="7598"/>
                </a:cubicBezTo>
                <a:close/>
                <a:moveTo>
                  <a:pt x="2441" y="6390"/>
                </a:moveTo>
                <a:cubicBezTo>
                  <a:pt x="2513" y="6396"/>
                  <a:pt x="2559" y="6475"/>
                  <a:pt x="2540" y="6543"/>
                </a:cubicBezTo>
                <a:cubicBezTo>
                  <a:pt x="2470" y="6807"/>
                  <a:pt x="2564" y="6731"/>
                  <a:pt x="2574" y="7216"/>
                </a:cubicBezTo>
                <a:cubicBezTo>
                  <a:pt x="2581" y="7573"/>
                  <a:pt x="2552" y="7773"/>
                  <a:pt x="2526" y="7884"/>
                </a:cubicBezTo>
                <a:cubicBezTo>
                  <a:pt x="2472" y="7909"/>
                  <a:pt x="2407" y="7964"/>
                  <a:pt x="2329" y="8062"/>
                </a:cubicBezTo>
                <a:cubicBezTo>
                  <a:pt x="2283" y="8122"/>
                  <a:pt x="2243" y="8190"/>
                  <a:pt x="2207" y="8254"/>
                </a:cubicBezTo>
                <a:cubicBezTo>
                  <a:pt x="2198" y="8228"/>
                  <a:pt x="2188" y="8203"/>
                  <a:pt x="2176" y="8160"/>
                </a:cubicBezTo>
                <a:cubicBezTo>
                  <a:pt x="2056" y="7747"/>
                  <a:pt x="2059" y="7024"/>
                  <a:pt x="2186" y="6684"/>
                </a:cubicBezTo>
                <a:cubicBezTo>
                  <a:pt x="2271" y="6454"/>
                  <a:pt x="2369" y="6385"/>
                  <a:pt x="2441" y="6390"/>
                </a:cubicBezTo>
                <a:close/>
                <a:moveTo>
                  <a:pt x="14650" y="6199"/>
                </a:moveTo>
                <a:lnTo>
                  <a:pt x="15660" y="6199"/>
                </a:lnTo>
                <a:cubicBezTo>
                  <a:pt x="16388" y="6199"/>
                  <a:pt x="16752" y="7641"/>
                  <a:pt x="16752" y="10526"/>
                </a:cubicBezTo>
                <a:cubicBezTo>
                  <a:pt x="16752" y="13742"/>
                  <a:pt x="16389" y="15350"/>
                  <a:pt x="15660" y="15350"/>
                </a:cubicBezTo>
                <a:lnTo>
                  <a:pt x="15660" y="15346"/>
                </a:lnTo>
                <a:lnTo>
                  <a:pt x="14650" y="15346"/>
                </a:lnTo>
                <a:close/>
                <a:moveTo>
                  <a:pt x="6026" y="6199"/>
                </a:moveTo>
                <a:lnTo>
                  <a:pt x="7036" y="6199"/>
                </a:lnTo>
                <a:cubicBezTo>
                  <a:pt x="7764" y="6199"/>
                  <a:pt x="8128" y="7641"/>
                  <a:pt x="8128" y="10526"/>
                </a:cubicBezTo>
                <a:cubicBezTo>
                  <a:pt x="8128" y="13742"/>
                  <a:pt x="7764" y="15350"/>
                  <a:pt x="7036" y="15350"/>
                </a:cubicBezTo>
                <a:lnTo>
                  <a:pt x="7036" y="15346"/>
                </a:lnTo>
                <a:lnTo>
                  <a:pt x="6026" y="15346"/>
                </a:lnTo>
                <a:close/>
                <a:moveTo>
                  <a:pt x="12890" y="6195"/>
                </a:moveTo>
                <a:lnTo>
                  <a:pt x="13354" y="6195"/>
                </a:lnTo>
                <a:lnTo>
                  <a:pt x="14364" y="15346"/>
                </a:lnTo>
                <a:lnTo>
                  <a:pt x="13899" y="15346"/>
                </a:lnTo>
                <a:lnTo>
                  <a:pt x="13606" y="12849"/>
                </a:lnTo>
                <a:lnTo>
                  <a:pt x="12860" y="12849"/>
                </a:lnTo>
                <a:lnTo>
                  <a:pt x="13008" y="11377"/>
                </a:lnTo>
                <a:lnTo>
                  <a:pt x="13493" y="11377"/>
                </a:lnTo>
                <a:lnTo>
                  <a:pt x="13111" y="7943"/>
                </a:lnTo>
                <a:lnTo>
                  <a:pt x="12345" y="15346"/>
                </a:lnTo>
                <a:lnTo>
                  <a:pt x="11902" y="15346"/>
                </a:lnTo>
                <a:close/>
                <a:moveTo>
                  <a:pt x="10356" y="6195"/>
                </a:moveTo>
                <a:lnTo>
                  <a:pt x="12123" y="6195"/>
                </a:lnTo>
                <a:lnTo>
                  <a:pt x="12123" y="7667"/>
                </a:lnTo>
                <a:lnTo>
                  <a:pt x="11455" y="7667"/>
                </a:lnTo>
                <a:lnTo>
                  <a:pt x="11455" y="15346"/>
                </a:lnTo>
                <a:lnTo>
                  <a:pt x="11024" y="15346"/>
                </a:lnTo>
                <a:lnTo>
                  <a:pt x="11024" y="7667"/>
                </a:lnTo>
                <a:lnTo>
                  <a:pt x="10356" y="7667"/>
                </a:lnTo>
                <a:close/>
                <a:moveTo>
                  <a:pt x="9124" y="6195"/>
                </a:moveTo>
                <a:lnTo>
                  <a:pt x="9589" y="6195"/>
                </a:lnTo>
                <a:lnTo>
                  <a:pt x="10599" y="15346"/>
                </a:lnTo>
                <a:lnTo>
                  <a:pt x="10135" y="15346"/>
                </a:lnTo>
                <a:lnTo>
                  <a:pt x="9842" y="12849"/>
                </a:lnTo>
                <a:lnTo>
                  <a:pt x="9096" y="12849"/>
                </a:lnTo>
                <a:lnTo>
                  <a:pt x="9244" y="11377"/>
                </a:lnTo>
                <a:lnTo>
                  <a:pt x="9728" y="11377"/>
                </a:lnTo>
                <a:lnTo>
                  <a:pt x="9347" y="7943"/>
                </a:lnTo>
                <a:lnTo>
                  <a:pt x="8580" y="15346"/>
                </a:lnTo>
                <a:lnTo>
                  <a:pt x="8136" y="15346"/>
                </a:lnTo>
                <a:close/>
                <a:moveTo>
                  <a:pt x="20915" y="6135"/>
                </a:moveTo>
                <a:cubicBezTo>
                  <a:pt x="21170" y="6135"/>
                  <a:pt x="21398" y="6284"/>
                  <a:pt x="21599" y="6582"/>
                </a:cubicBezTo>
                <a:lnTo>
                  <a:pt x="21599" y="8118"/>
                </a:lnTo>
                <a:cubicBezTo>
                  <a:pt x="21398" y="7773"/>
                  <a:pt x="21181" y="7603"/>
                  <a:pt x="20947" y="7603"/>
                </a:cubicBezTo>
                <a:cubicBezTo>
                  <a:pt x="20388" y="7603"/>
                  <a:pt x="20108" y="8615"/>
                  <a:pt x="20108" y="10645"/>
                </a:cubicBezTo>
                <a:cubicBezTo>
                  <a:pt x="20108" y="12840"/>
                  <a:pt x="20372" y="13938"/>
                  <a:pt x="20900" y="13938"/>
                </a:cubicBezTo>
                <a:cubicBezTo>
                  <a:pt x="20977" y="13938"/>
                  <a:pt x="21067" y="13887"/>
                  <a:pt x="21167" y="13785"/>
                </a:cubicBezTo>
                <a:lnTo>
                  <a:pt x="21167" y="11653"/>
                </a:lnTo>
                <a:lnTo>
                  <a:pt x="21169" y="11653"/>
                </a:lnTo>
                <a:lnTo>
                  <a:pt x="21167" y="11640"/>
                </a:lnTo>
                <a:lnTo>
                  <a:pt x="21167" y="11653"/>
                </a:lnTo>
                <a:lnTo>
                  <a:pt x="20757" y="11653"/>
                </a:lnTo>
                <a:lnTo>
                  <a:pt x="20903" y="10147"/>
                </a:lnTo>
                <a:lnTo>
                  <a:pt x="21600" y="10147"/>
                </a:lnTo>
                <a:lnTo>
                  <a:pt x="21600" y="14933"/>
                </a:lnTo>
                <a:cubicBezTo>
                  <a:pt x="21412" y="15257"/>
                  <a:pt x="21177" y="15418"/>
                  <a:pt x="20894" y="15418"/>
                </a:cubicBezTo>
                <a:cubicBezTo>
                  <a:pt x="20071" y="15418"/>
                  <a:pt x="19661" y="13827"/>
                  <a:pt x="19661" y="10649"/>
                </a:cubicBezTo>
                <a:cubicBezTo>
                  <a:pt x="19661" y="7637"/>
                  <a:pt x="20079" y="6135"/>
                  <a:pt x="20915" y="6135"/>
                </a:cubicBezTo>
                <a:close/>
                <a:moveTo>
                  <a:pt x="18214" y="6126"/>
                </a:moveTo>
                <a:cubicBezTo>
                  <a:pt x="18994" y="6126"/>
                  <a:pt x="19366" y="7675"/>
                  <a:pt x="19366" y="10781"/>
                </a:cubicBezTo>
                <a:cubicBezTo>
                  <a:pt x="19366" y="13887"/>
                  <a:pt x="18982" y="15410"/>
                  <a:pt x="18214" y="15410"/>
                </a:cubicBezTo>
                <a:cubicBezTo>
                  <a:pt x="17447" y="15410"/>
                  <a:pt x="17079" y="13865"/>
                  <a:pt x="17045" y="10781"/>
                </a:cubicBezTo>
                <a:cubicBezTo>
                  <a:pt x="17045" y="7679"/>
                  <a:pt x="17435" y="6126"/>
                  <a:pt x="18214" y="6126"/>
                </a:cubicBezTo>
                <a:close/>
                <a:moveTo>
                  <a:pt x="3405" y="5888"/>
                </a:moveTo>
                <a:cubicBezTo>
                  <a:pt x="3564" y="6182"/>
                  <a:pt x="3543" y="6735"/>
                  <a:pt x="3548" y="7062"/>
                </a:cubicBezTo>
                <a:cubicBezTo>
                  <a:pt x="3549" y="7156"/>
                  <a:pt x="3549" y="7220"/>
                  <a:pt x="3547" y="7262"/>
                </a:cubicBezTo>
                <a:cubicBezTo>
                  <a:pt x="3524" y="7216"/>
                  <a:pt x="3489" y="7182"/>
                  <a:pt x="3434" y="7190"/>
                </a:cubicBezTo>
                <a:cubicBezTo>
                  <a:pt x="3418" y="7194"/>
                  <a:pt x="3402" y="7203"/>
                  <a:pt x="3387" y="7211"/>
                </a:cubicBezTo>
                <a:cubicBezTo>
                  <a:pt x="3328" y="7088"/>
                  <a:pt x="3294" y="6845"/>
                  <a:pt x="3261" y="6586"/>
                </a:cubicBezTo>
                <a:lnTo>
                  <a:pt x="3254" y="6522"/>
                </a:lnTo>
                <a:lnTo>
                  <a:pt x="3249" y="6492"/>
                </a:lnTo>
                <a:lnTo>
                  <a:pt x="3249" y="6480"/>
                </a:lnTo>
                <a:cubicBezTo>
                  <a:pt x="3232" y="6258"/>
                  <a:pt x="3244" y="6216"/>
                  <a:pt x="3252" y="6148"/>
                </a:cubicBezTo>
                <a:lnTo>
                  <a:pt x="3252" y="6143"/>
                </a:lnTo>
                <a:cubicBezTo>
                  <a:pt x="3259" y="6075"/>
                  <a:pt x="3287" y="6020"/>
                  <a:pt x="3245" y="5961"/>
                </a:cubicBezTo>
                <a:cubicBezTo>
                  <a:pt x="3242" y="5956"/>
                  <a:pt x="3238" y="5948"/>
                  <a:pt x="3232" y="5948"/>
                </a:cubicBezTo>
                <a:cubicBezTo>
                  <a:pt x="3260" y="5812"/>
                  <a:pt x="3345" y="5778"/>
                  <a:pt x="3405" y="5888"/>
                </a:cubicBezTo>
                <a:close/>
                <a:moveTo>
                  <a:pt x="4491" y="0"/>
                </a:moveTo>
                <a:lnTo>
                  <a:pt x="4755" y="10721"/>
                </a:lnTo>
                <a:lnTo>
                  <a:pt x="4892" y="10619"/>
                </a:lnTo>
                <a:lnTo>
                  <a:pt x="4894" y="10615"/>
                </a:lnTo>
                <a:lnTo>
                  <a:pt x="5113" y="19060"/>
                </a:lnTo>
                <a:lnTo>
                  <a:pt x="2416" y="20336"/>
                </a:lnTo>
                <a:lnTo>
                  <a:pt x="2358" y="18690"/>
                </a:lnTo>
                <a:lnTo>
                  <a:pt x="2194" y="18784"/>
                </a:lnTo>
                <a:cubicBezTo>
                  <a:pt x="2208" y="19698"/>
                  <a:pt x="2153" y="20570"/>
                  <a:pt x="2051" y="20987"/>
                </a:cubicBezTo>
                <a:cubicBezTo>
                  <a:pt x="1931" y="21477"/>
                  <a:pt x="1756" y="21600"/>
                  <a:pt x="1571" y="21502"/>
                </a:cubicBezTo>
                <a:cubicBezTo>
                  <a:pt x="1446" y="21438"/>
                  <a:pt x="1353" y="21085"/>
                  <a:pt x="1285" y="20651"/>
                </a:cubicBezTo>
                <a:cubicBezTo>
                  <a:pt x="1541" y="21362"/>
                  <a:pt x="1858" y="21034"/>
                  <a:pt x="1966" y="20439"/>
                </a:cubicBezTo>
                <a:cubicBezTo>
                  <a:pt x="2119" y="19605"/>
                  <a:pt x="2079" y="18813"/>
                  <a:pt x="2023" y="18077"/>
                </a:cubicBezTo>
                <a:cubicBezTo>
                  <a:pt x="1978" y="17499"/>
                  <a:pt x="1858" y="16541"/>
                  <a:pt x="1709" y="16171"/>
                </a:cubicBezTo>
                <a:cubicBezTo>
                  <a:pt x="1558" y="15793"/>
                  <a:pt x="1410" y="15720"/>
                  <a:pt x="1284" y="15771"/>
                </a:cubicBezTo>
                <a:lnTo>
                  <a:pt x="1296" y="15720"/>
                </a:lnTo>
                <a:cubicBezTo>
                  <a:pt x="1477" y="15580"/>
                  <a:pt x="1665" y="15656"/>
                  <a:pt x="1801" y="16001"/>
                </a:cubicBezTo>
                <a:cubicBezTo>
                  <a:pt x="1955" y="16393"/>
                  <a:pt x="2097" y="17065"/>
                  <a:pt x="2171" y="18094"/>
                </a:cubicBezTo>
                <a:cubicBezTo>
                  <a:pt x="2255" y="18048"/>
                  <a:pt x="2267" y="18026"/>
                  <a:pt x="2344" y="17984"/>
                </a:cubicBezTo>
                <a:lnTo>
                  <a:pt x="2171" y="12683"/>
                </a:lnTo>
                <a:lnTo>
                  <a:pt x="2537" y="12525"/>
                </a:lnTo>
                <a:cubicBezTo>
                  <a:pt x="2365" y="12091"/>
                  <a:pt x="2188" y="11470"/>
                  <a:pt x="2110" y="11125"/>
                </a:cubicBezTo>
                <a:cubicBezTo>
                  <a:pt x="2097" y="11087"/>
                  <a:pt x="2099" y="10917"/>
                  <a:pt x="2099" y="10917"/>
                </a:cubicBezTo>
                <a:cubicBezTo>
                  <a:pt x="2170" y="11130"/>
                  <a:pt x="2460" y="11947"/>
                  <a:pt x="2767" y="12321"/>
                </a:cubicBezTo>
                <a:cubicBezTo>
                  <a:pt x="2875" y="12453"/>
                  <a:pt x="3042" y="12504"/>
                  <a:pt x="3187" y="12181"/>
                </a:cubicBezTo>
                <a:cubicBezTo>
                  <a:pt x="3297" y="11934"/>
                  <a:pt x="3430" y="11504"/>
                  <a:pt x="3509" y="11062"/>
                </a:cubicBezTo>
                <a:lnTo>
                  <a:pt x="3523" y="11160"/>
                </a:lnTo>
                <a:cubicBezTo>
                  <a:pt x="3523" y="11228"/>
                  <a:pt x="3486" y="11547"/>
                  <a:pt x="3468" y="11674"/>
                </a:cubicBezTo>
                <a:cubicBezTo>
                  <a:pt x="3501" y="11751"/>
                  <a:pt x="3526" y="11768"/>
                  <a:pt x="3564" y="11810"/>
                </a:cubicBezTo>
                <a:lnTo>
                  <a:pt x="3819" y="11653"/>
                </a:lnTo>
                <a:cubicBezTo>
                  <a:pt x="3910" y="11074"/>
                  <a:pt x="3976" y="10134"/>
                  <a:pt x="3906" y="9245"/>
                </a:cubicBezTo>
                <a:cubicBezTo>
                  <a:pt x="3866" y="8734"/>
                  <a:pt x="3658" y="7713"/>
                  <a:pt x="3643" y="7658"/>
                </a:cubicBezTo>
                <a:cubicBezTo>
                  <a:pt x="3590" y="7462"/>
                  <a:pt x="3652" y="6701"/>
                  <a:pt x="3548" y="5867"/>
                </a:cubicBezTo>
                <a:cubicBezTo>
                  <a:pt x="3439" y="4986"/>
                  <a:pt x="3154" y="4067"/>
                  <a:pt x="3030" y="3667"/>
                </a:cubicBezTo>
                <a:cubicBezTo>
                  <a:pt x="3067" y="3769"/>
                  <a:pt x="3290" y="4127"/>
                  <a:pt x="3395" y="4625"/>
                </a:cubicBezTo>
                <a:cubicBezTo>
                  <a:pt x="3405" y="4574"/>
                  <a:pt x="3409" y="4306"/>
                  <a:pt x="3418" y="4237"/>
                </a:cubicBezTo>
                <a:cubicBezTo>
                  <a:pt x="3328" y="3778"/>
                  <a:pt x="3321" y="2953"/>
                  <a:pt x="3321" y="2731"/>
                </a:cubicBezTo>
                <a:cubicBezTo>
                  <a:pt x="3321" y="2327"/>
                  <a:pt x="3269" y="1868"/>
                  <a:pt x="3269" y="1868"/>
                </a:cubicBezTo>
                <a:cubicBezTo>
                  <a:pt x="3269" y="1868"/>
                  <a:pt x="3360" y="2149"/>
                  <a:pt x="3382" y="2629"/>
                </a:cubicBezTo>
                <a:cubicBezTo>
                  <a:pt x="3409" y="3199"/>
                  <a:pt x="3468" y="3650"/>
                  <a:pt x="3546" y="4029"/>
                </a:cubicBezTo>
                <a:cubicBezTo>
                  <a:pt x="3693" y="4748"/>
                  <a:pt x="3824" y="5114"/>
                  <a:pt x="3892" y="4850"/>
                </a:cubicBezTo>
                <a:cubicBezTo>
                  <a:pt x="3971" y="4531"/>
                  <a:pt x="3812" y="3106"/>
                  <a:pt x="3605" y="2310"/>
                </a:cubicBezTo>
                <a:cubicBezTo>
                  <a:pt x="3365" y="1383"/>
                  <a:pt x="3301" y="1502"/>
                  <a:pt x="3161" y="1702"/>
                </a:cubicBezTo>
                <a:cubicBezTo>
                  <a:pt x="3048" y="1859"/>
                  <a:pt x="2988" y="3119"/>
                  <a:pt x="2695" y="3093"/>
                </a:cubicBezTo>
                <a:cubicBezTo>
                  <a:pt x="2645" y="3072"/>
                  <a:pt x="2517" y="3059"/>
                  <a:pt x="2454" y="3059"/>
                </a:cubicBezTo>
                <a:cubicBezTo>
                  <a:pt x="2487" y="2880"/>
                  <a:pt x="2515" y="2740"/>
                  <a:pt x="2515" y="2740"/>
                </a:cubicBezTo>
                <a:cubicBezTo>
                  <a:pt x="2515" y="2740"/>
                  <a:pt x="2417" y="2897"/>
                  <a:pt x="2334" y="3093"/>
                </a:cubicBezTo>
                <a:lnTo>
                  <a:pt x="2327" y="3055"/>
                </a:lnTo>
                <a:cubicBezTo>
                  <a:pt x="2355" y="2821"/>
                  <a:pt x="2386" y="2672"/>
                  <a:pt x="2386" y="2672"/>
                </a:cubicBezTo>
                <a:cubicBezTo>
                  <a:pt x="2386" y="2672"/>
                  <a:pt x="2307" y="2859"/>
                  <a:pt x="2235" y="3080"/>
                </a:cubicBezTo>
                <a:cubicBezTo>
                  <a:pt x="2248" y="2804"/>
                  <a:pt x="2298" y="2625"/>
                  <a:pt x="2298" y="2625"/>
                </a:cubicBezTo>
                <a:cubicBezTo>
                  <a:pt x="2298" y="2625"/>
                  <a:pt x="2199" y="2693"/>
                  <a:pt x="2072" y="3242"/>
                </a:cubicBezTo>
                <a:cubicBezTo>
                  <a:pt x="1928" y="3395"/>
                  <a:pt x="1894" y="3497"/>
                  <a:pt x="1779" y="3697"/>
                </a:cubicBezTo>
                <a:cubicBezTo>
                  <a:pt x="1593" y="3535"/>
                  <a:pt x="1505" y="3280"/>
                  <a:pt x="1421" y="2804"/>
                </a:cubicBezTo>
                <a:cubicBezTo>
                  <a:pt x="1358" y="2442"/>
                  <a:pt x="1244" y="2387"/>
                  <a:pt x="1129" y="2574"/>
                </a:cubicBezTo>
                <a:cubicBezTo>
                  <a:pt x="960" y="2846"/>
                  <a:pt x="746" y="3225"/>
                  <a:pt x="746" y="3225"/>
                </a:cubicBezTo>
                <a:cubicBezTo>
                  <a:pt x="746" y="3225"/>
                  <a:pt x="816" y="3212"/>
                  <a:pt x="889" y="3225"/>
                </a:cubicBezTo>
                <a:cubicBezTo>
                  <a:pt x="790" y="3374"/>
                  <a:pt x="694" y="3578"/>
                  <a:pt x="694" y="3578"/>
                </a:cubicBezTo>
                <a:cubicBezTo>
                  <a:pt x="694" y="3578"/>
                  <a:pt x="740" y="3578"/>
                  <a:pt x="798" y="3578"/>
                </a:cubicBezTo>
                <a:cubicBezTo>
                  <a:pt x="758" y="3706"/>
                  <a:pt x="736" y="3769"/>
                  <a:pt x="698" y="3867"/>
                </a:cubicBezTo>
                <a:cubicBezTo>
                  <a:pt x="608" y="4127"/>
                  <a:pt x="534" y="4429"/>
                  <a:pt x="534" y="4429"/>
                </a:cubicBezTo>
                <a:cubicBezTo>
                  <a:pt x="534" y="4429"/>
                  <a:pt x="596" y="4318"/>
                  <a:pt x="651" y="4254"/>
                </a:cubicBezTo>
                <a:cubicBezTo>
                  <a:pt x="612" y="4603"/>
                  <a:pt x="535" y="4859"/>
                  <a:pt x="549" y="5288"/>
                </a:cubicBezTo>
                <a:cubicBezTo>
                  <a:pt x="563" y="5680"/>
                  <a:pt x="684" y="6484"/>
                  <a:pt x="842" y="6977"/>
                </a:cubicBezTo>
                <a:cubicBezTo>
                  <a:pt x="855" y="7024"/>
                  <a:pt x="1070" y="7803"/>
                  <a:pt x="1232" y="7484"/>
                </a:cubicBezTo>
                <a:cubicBezTo>
                  <a:pt x="1394" y="7160"/>
                  <a:pt x="1458" y="6875"/>
                  <a:pt x="1485" y="6437"/>
                </a:cubicBezTo>
                <a:cubicBezTo>
                  <a:pt x="1517" y="5931"/>
                  <a:pt x="1499" y="5552"/>
                  <a:pt x="1432" y="4459"/>
                </a:cubicBezTo>
                <a:cubicBezTo>
                  <a:pt x="1411" y="4097"/>
                  <a:pt x="1353" y="3353"/>
                  <a:pt x="1325" y="2999"/>
                </a:cubicBezTo>
                <a:lnTo>
                  <a:pt x="1332" y="2982"/>
                </a:lnTo>
                <a:cubicBezTo>
                  <a:pt x="1385" y="3421"/>
                  <a:pt x="1520" y="4582"/>
                  <a:pt x="1575" y="5361"/>
                </a:cubicBezTo>
                <a:cubicBezTo>
                  <a:pt x="1660" y="6577"/>
                  <a:pt x="1633" y="7194"/>
                  <a:pt x="1594" y="7420"/>
                </a:cubicBezTo>
                <a:cubicBezTo>
                  <a:pt x="1477" y="8105"/>
                  <a:pt x="1175" y="8194"/>
                  <a:pt x="1038" y="7816"/>
                </a:cubicBezTo>
                <a:cubicBezTo>
                  <a:pt x="1016" y="9122"/>
                  <a:pt x="1091" y="9700"/>
                  <a:pt x="1116" y="9990"/>
                </a:cubicBezTo>
                <a:cubicBezTo>
                  <a:pt x="1103" y="10321"/>
                  <a:pt x="1158" y="10943"/>
                  <a:pt x="1158" y="10943"/>
                </a:cubicBezTo>
                <a:cubicBezTo>
                  <a:pt x="1158" y="10943"/>
                  <a:pt x="1164" y="10662"/>
                  <a:pt x="1189" y="10513"/>
                </a:cubicBezTo>
                <a:cubicBezTo>
                  <a:pt x="1196" y="10845"/>
                  <a:pt x="1238" y="11236"/>
                  <a:pt x="1238" y="11236"/>
                </a:cubicBezTo>
                <a:cubicBezTo>
                  <a:pt x="1238" y="11236"/>
                  <a:pt x="1234" y="10994"/>
                  <a:pt x="1254" y="10785"/>
                </a:cubicBezTo>
                <a:cubicBezTo>
                  <a:pt x="1281" y="10968"/>
                  <a:pt x="1300" y="11011"/>
                  <a:pt x="1326" y="11147"/>
                </a:cubicBezTo>
                <a:cubicBezTo>
                  <a:pt x="1351" y="11500"/>
                  <a:pt x="1403" y="11759"/>
                  <a:pt x="1403" y="11759"/>
                </a:cubicBezTo>
                <a:cubicBezTo>
                  <a:pt x="1403" y="11759"/>
                  <a:pt x="1394" y="11568"/>
                  <a:pt x="1399" y="11372"/>
                </a:cubicBezTo>
                <a:cubicBezTo>
                  <a:pt x="1524" y="11844"/>
                  <a:pt x="1546" y="12542"/>
                  <a:pt x="1559" y="13074"/>
                </a:cubicBezTo>
                <a:cubicBezTo>
                  <a:pt x="1594" y="14542"/>
                  <a:pt x="972" y="15708"/>
                  <a:pt x="851" y="16627"/>
                </a:cubicBezTo>
                <a:cubicBezTo>
                  <a:pt x="759" y="17171"/>
                  <a:pt x="705" y="18031"/>
                  <a:pt x="859" y="18537"/>
                </a:cubicBezTo>
                <a:cubicBezTo>
                  <a:pt x="972" y="18898"/>
                  <a:pt x="1037" y="19183"/>
                  <a:pt x="1079" y="19422"/>
                </a:cubicBezTo>
                <a:lnTo>
                  <a:pt x="553" y="19724"/>
                </a:lnTo>
                <a:lnTo>
                  <a:pt x="0" y="2051"/>
                </a:lnTo>
                <a:close/>
              </a:path>
            </a:pathLst>
          </a:custGeom>
          <a:solidFill>
            <a:srgbClr val="632CA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475" name="Google Shape;189;p34"/>
          <p:cNvSpPr/>
          <p:nvPr/>
        </p:nvSpPr>
        <p:spPr>
          <a:xfrm>
            <a:off x="0" y="0"/>
            <a:ext cx="4161003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100000">
                <a:schemeClr val="accent4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lnSpc>
                <a:spcPct val="114000"/>
              </a:lnSpc>
              <a:defRPr sz="100"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476" name="Title Text"/>
          <p:cNvSpPr txBox="1"/>
          <p:nvPr>
            <p:ph type="title"/>
          </p:nvPr>
        </p:nvSpPr>
        <p:spPr>
          <a:xfrm>
            <a:off x="685800" y="311150"/>
            <a:ext cx="2755900" cy="10656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78" name="Body Level One…"/>
          <p:cNvSpPr txBox="1"/>
          <p:nvPr>
            <p:ph type="body" sz="quarter" idx="1"/>
          </p:nvPr>
        </p:nvSpPr>
        <p:spPr>
          <a:xfrm>
            <a:off x="685800" y="1687922"/>
            <a:ext cx="2755801" cy="4560601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  <a:lvl2pPr marL="228600" indent="457200">
              <a:buSzTx/>
              <a:buNone/>
              <a:defRPr sz="1400">
                <a:solidFill>
                  <a:srgbClr val="FFFFFF"/>
                </a:solidFill>
              </a:defRPr>
            </a:lvl2pPr>
            <a:lvl3pPr marL="228600" indent="914400">
              <a:buSzTx/>
              <a:buNone/>
              <a:defRPr sz="1400">
                <a:solidFill>
                  <a:srgbClr val="FFFFFF"/>
                </a:solidFill>
              </a:defRPr>
            </a:lvl3pPr>
            <a:lvl4pPr marL="228600" indent="1371600">
              <a:buSzTx/>
              <a:buNone/>
              <a:defRPr sz="1400">
                <a:solidFill>
                  <a:srgbClr val="FFFFFF"/>
                </a:solidFill>
              </a:defRPr>
            </a:lvl4pPr>
            <a:lvl5pPr marL="228600" indent="1828800">
              <a:buSzTx/>
              <a:buNone/>
              <a:defRPr sz="1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9" name="Google Shape;194;p34"/>
          <p:cNvSpPr txBox="1"/>
          <p:nvPr>
            <p:ph type="body" idx="21"/>
          </p:nvPr>
        </p:nvSpPr>
        <p:spPr>
          <a:xfrm>
            <a:off x="4718951" y="801850"/>
            <a:ext cx="6769801" cy="5254200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1/3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10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86" name="Google Shape;11;p1" descr="Google Shape;11;p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87" name="Google Shape;12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4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44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</p:grpSp>
      <p:grpSp>
        <p:nvGrpSpPr>
          <p:cNvPr id="496" name="Google Shape;17;p1"/>
          <p:cNvGrpSpPr/>
          <p:nvPr/>
        </p:nvGrpSpPr>
        <p:grpSpPr>
          <a:xfrm>
            <a:off x="0" y="-710591"/>
            <a:ext cx="4109466" cy="479101"/>
            <a:chOff x="0" y="0"/>
            <a:chExt cx="4109465" cy="479100"/>
          </a:xfrm>
        </p:grpSpPr>
        <p:sp>
          <p:nvSpPr>
            <p:cNvPr id="489" name="Google Shape;18;p1"/>
            <p:cNvSpPr/>
            <p:nvPr/>
          </p:nvSpPr>
          <p:spPr>
            <a:xfrm>
              <a:off x="0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90000">
                  <a:srgbClr val="9C43FE"/>
                </a:gs>
                <a:gs pos="100000">
                  <a:srgbClr val="9C43FE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0" name="Google Shape;19;p1"/>
            <p:cNvSpPr/>
            <p:nvPr/>
          </p:nvSpPr>
          <p:spPr>
            <a:xfrm>
              <a:off x="60506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100000">
                  <a:schemeClr val="accent2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491" name="Google Shape;20;p1"/>
            <p:cNvSpPr/>
            <p:nvPr/>
          </p:nvSpPr>
          <p:spPr>
            <a:xfrm>
              <a:off x="121012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30000">
                  <a:schemeClr val="accent2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492" name="Google Shape;21;p1"/>
            <p:cNvSpPr/>
            <p:nvPr/>
          </p:nvSpPr>
          <p:spPr>
            <a:xfrm>
              <a:off x="181518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00B765"/>
                </a:gs>
                <a:gs pos="30000">
                  <a:srgbClr val="00B765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3" name="Google Shape;22;p1"/>
            <p:cNvSpPr/>
            <p:nvPr/>
          </p:nvSpPr>
          <p:spPr>
            <a:xfrm>
              <a:off x="242024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8000FF"/>
                </a:gs>
                <a:gs pos="90000">
                  <a:schemeClr val="accent6"/>
                </a:gs>
                <a:gs pos="100000">
                  <a:schemeClr val="accent6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494" name="Google Shape;23;p1"/>
            <p:cNvSpPr/>
            <p:nvPr/>
          </p:nvSpPr>
          <p:spPr>
            <a:xfrm>
              <a:off x="3025304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6"/>
                </a:gs>
                <a:gs pos="30000">
                  <a:schemeClr val="accent6"/>
                </a:gs>
                <a:gs pos="90000">
                  <a:schemeClr val="accent3"/>
                </a:gs>
                <a:gs pos="100000">
                  <a:schemeClr val="accent3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5" name="Google Shape;24;p1"/>
            <p:cNvSpPr/>
            <p:nvPr/>
          </p:nvSpPr>
          <p:spPr>
            <a:xfrm>
              <a:off x="3630365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30000">
                  <a:schemeClr val="accent3"/>
                </a:gs>
                <a:gs pos="90000">
                  <a:schemeClr val="accent5"/>
                </a:gs>
                <a:gs pos="100000">
                  <a:schemeClr val="accent5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497" name="Google Shape;25;p1"/>
          <p:cNvSpPr/>
          <p:nvPr/>
        </p:nvSpPr>
        <p:spPr>
          <a:xfrm>
            <a:off x="10585766" y="6450774"/>
            <a:ext cx="1080115" cy="2747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33" fill="norm" stroke="1" extrusionOk="0">
                <a:moveTo>
                  <a:pt x="4627" y="12440"/>
                </a:moveTo>
                <a:lnTo>
                  <a:pt x="4750" y="17639"/>
                </a:lnTo>
                <a:lnTo>
                  <a:pt x="2635" y="19175"/>
                </a:lnTo>
                <a:lnTo>
                  <a:pt x="2616" y="18439"/>
                </a:lnTo>
                <a:lnTo>
                  <a:pt x="3005" y="16103"/>
                </a:lnTo>
                <a:lnTo>
                  <a:pt x="3447" y="16610"/>
                </a:lnTo>
                <a:lnTo>
                  <a:pt x="3827" y="14112"/>
                </a:lnTo>
                <a:lnTo>
                  <a:pt x="4281" y="15293"/>
                </a:lnTo>
                <a:lnTo>
                  <a:pt x="4281" y="15295"/>
                </a:lnTo>
                <a:lnTo>
                  <a:pt x="4282" y="15295"/>
                </a:lnTo>
                <a:lnTo>
                  <a:pt x="4281" y="15293"/>
                </a:lnTo>
                <a:close/>
                <a:moveTo>
                  <a:pt x="4755" y="11377"/>
                </a:moveTo>
                <a:lnTo>
                  <a:pt x="3365" y="12368"/>
                </a:lnTo>
                <a:cubicBezTo>
                  <a:pt x="3332" y="12542"/>
                  <a:pt x="3246" y="12849"/>
                  <a:pt x="3205" y="12929"/>
                </a:cubicBezTo>
                <a:cubicBezTo>
                  <a:pt x="3030" y="13274"/>
                  <a:pt x="2911" y="13176"/>
                  <a:pt x="2808" y="13070"/>
                </a:cubicBezTo>
                <a:cubicBezTo>
                  <a:pt x="2742" y="13006"/>
                  <a:pt x="2705" y="12968"/>
                  <a:pt x="2649" y="12870"/>
                </a:cubicBezTo>
                <a:lnTo>
                  <a:pt x="2310" y="13053"/>
                </a:lnTo>
                <a:lnTo>
                  <a:pt x="2310" y="13057"/>
                </a:lnTo>
                <a:lnTo>
                  <a:pt x="2515" y="19822"/>
                </a:lnTo>
                <a:lnTo>
                  <a:pt x="4897" y="18133"/>
                </a:lnTo>
                <a:close/>
                <a:moveTo>
                  <a:pt x="3698" y="9185"/>
                </a:moveTo>
                <a:cubicBezTo>
                  <a:pt x="3739" y="9275"/>
                  <a:pt x="3739" y="9551"/>
                  <a:pt x="3711" y="9811"/>
                </a:cubicBezTo>
                <a:cubicBezTo>
                  <a:pt x="3670" y="10185"/>
                  <a:pt x="3612" y="10598"/>
                  <a:pt x="3546" y="10632"/>
                </a:cubicBezTo>
                <a:cubicBezTo>
                  <a:pt x="3437" y="10692"/>
                  <a:pt x="3336" y="10462"/>
                  <a:pt x="3219" y="10117"/>
                </a:cubicBezTo>
                <a:cubicBezTo>
                  <a:pt x="3178" y="9994"/>
                  <a:pt x="3152" y="9696"/>
                  <a:pt x="3208" y="9526"/>
                </a:cubicBezTo>
                <a:cubicBezTo>
                  <a:pt x="3239" y="9428"/>
                  <a:pt x="3380" y="9249"/>
                  <a:pt x="3511" y="9190"/>
                </a:cubicBezTo>
                <a:cubicBezTo>
                  <a:pt x="3579" y="9160"/>
                  <a:pt x="3677" y="9139"/>
                  <a:pt x="3698" y="9185"/>
                </a:cubicBezTo>
                <a:close/>
                <a:moveTo>
                  <a:pt x="15082" y="7671"/>
                </a:moveTo>
                <a:lnTo>
                  <a:pt x="15082" y="13878"/>
                </a:lnTo>
                <a:lnTo>
                  <a:pt x="15595" y="13878"/>
                </a:lnTo>
                <a:cubicBezTo>
                  <a:pt x="16078" y="13878"/>
                  <a:pt x="16321" y="12759"/>
                  <a:pt x="16321" y="10526"/>
                </a:cubicBezTo>
                <a:cubicBezTo>
                  <a:pt x="16321" y="8624"/>
                  <a:pt x="16078" y="7671"/>
                  <a:pt x="15595" y="7671"/>
                </a:cubicBezTo>
                <a:close/>
                <a:moveTo>
                  <a:pt x="6458" y="7671"/>
                </a:moveTo>
                <a:lnTo>
                  <a:pt x="6458" y="13878"/>
                </a:lnTo>
                <a:lnTo>
                  <a:pt x="6971" y="13878"/>
                </a:lnTo>
                <a:cubicBezTo>
                  <a:pt x="7454" y="13878"/>
                  <a:pt x="7695" y="12759"/>
                  <a:pt x="7695" y="10526"/>
                </a:cubicBezTo>
                <a:cubicBezTo>
                  <a:pt x="7695" y="8624"/>
                  <a:pt x="7454" y="7671"/>
                  <a:pt x="6971" y="7671"/>
                </a:cubicBezTo>
                <a:close/>
                <a:moveTo>
                  <a:pt x="18214" y="7598"/>
                </a:moveTo>
                <a:cubicBezTo>
                  <a:pt x="17745" y="7598"/>
                  <a:pt x="17493" y="8645"/>
                  <a:pt x="17493" y="10743"/>
                </a:cubicBezTo>
                <a:cubicBezTo>
                  <a:pt x="17493" y="12840"/>
                  <a:pt x="17733" y="13933"/>
                  <a:pt x="18214" y="13933"/>
                </a:cubicBezTo>
                <a:cubicBezTo>
                  <a:pt x="18684" y="13933"/>
                  <a:pt x="18918" y="12870"/>
                  <a:pt x="18918" y="10743"/>
                </a:cubicBezTo>
                <a:cubicBezTo>
                  <a:pt x="18918" y="8615"/>
                  <a:pt x="18684" y="7598"/>
                  <a:pt x="18214" y="7598"/>
                </a:cubicBezTo>
                <a:close/>
                <a:moveTo>
                  <a:pt x="2441" y="6390"/>
                </a:moveTo>
                <a:cubicBezTo>
                  <a:pt x="2513" y="6396"/>
                  <a:pt x="2559" y="6475"/>
                  <a:pt x="2540" y="6543"/>
                </a:cubicBezTo>
                <a:cubicBezTo>
                  <a:pt x="2470" y="6807"/>
                  <a:pt x="2564" y="6731"/>
                  <a:pt x="2574" y="7216"/>
                </a:cubicBezTo>
                <a:cubicBezTo>
                  <a:pt x="2581" y="7573"/>
                  <a:pt x="2552" y="7773"/>
                  <a:pt x="2526" y="7884"/>
                </a:cubicBezTo>
                <a:cubicBezTo>
                  <a:pt x="2472" y="7909"/>
                  <a:pt x="2407" y="7964"/>
                  <a:pt x="2329" y="8062"/>
                </a:cubicBezTo>
                <a:cubicBezTo>
                  <a:pt x="2283" y="8122"/>
                  <a:pt x="2243" y="8190"/>
                  <a:pt x="2207" y="8254"/>
                </a:cubicBezTo>
                <a:cubicBezTo>
                  <a:pt x="2198" y="8228"/>
                  <a:pt x="2188" y="8203"/>
                  <a:pt x="2176" y="8160"/>
                </a:cubicBezTo>
                <a:cubicBezTo>
                  <a:pt x="2056" y="7747"/>
                  <a:pt x="2059" y="7024"/>
                  <a:pt x="2186" y="6684"/>
                </a:cubicBezTo>
                <a:cubicBezTo>
                  <a:pt x="2271" y="6454"/>
                  <a:pt x="2369" y="6385"/>
                  <a:pt x="2441" y="6390"/>
                </a:cubicBezTo>
                <a:close/>
                <a:moveTo>
                  <a:pt x="14650" y="6199"/>
                </a:moveTo>
                <a:lnTo>
                  <a:pt x="15660" y="6199"/>
                </a:lnTo>
                <a:cubicBezTo>
                  <a:pt x="16388" y="6199"/>
                  <a:pt x="16752" y="7641"/>
                  <a:pt x="16752" y="10526"/>
                </a:cubicBezTo>
                <a:cubicBezTo>
                  <a:pt x="16752" y="13742"/>
                  <a:pt x="16389" y="15350"/>
                  <a:pt x="15660" y="15350"/>
                </a:cubicBezTo>
                <a:lnTo>
                  <a:pt x="15660" y="15346"/>
                </a:lnTo>
                <a:lnTo>
                  <a:pt x="14650" y="15346"/>
                </a:lnTo>
                <a:close/>
                <a:moveTo>
                  <a:pt x="6026" y="6199"/>
                </a:moveTo>
                <a:lnTo>
                  <a:pt x="7036" y="6199"/>
                </a:lnTo>
                <a:cubicBezTo>
                  <a:pt x="7764" y="6199"/>
                  <a:pt x="8128" y="7641"/>
                  <a:pt x="8128" y="10526"/>
                </a:cubicBezTo>
                <a:cubicBezTo>
                  <a:pt x="8128" y="13742"/>
                  <a:pt x="7764" y="15350"/>
                  <a:pt x="7036" y="15350"/>
                </a:cubicBezTo>
                <a:lnTo>
                  <a:pt x="7036" y="15346"/>
                </a:lnTo>
                <a:lnTo>
                  <a:pt x="6026" y="15346"/>
                </a:lnTo>
                <a:close/>
                <a:moveTo>
                  <a:pt x="12890" y="6195"/>
                </a:moveTo>
                <a:lnTo>
                  <a:pt x="13354" y="6195"/>
                </a:lnTo>
                <a:lnTo>
                  <a:pt x="14364" y="15346"/>
                </a:lnTo>
                <a:lnTo>
                  <a:pt x="13899" y="15346"/>
                </a:lnTo>
                <a:lnTo>
                  <a:pt x="13606" y="12849"/>
                </a:lnTo>
                <a:lnTo>
                  <a:pt x="12860" y="12849"/>
                </a:lnTo>
                <a:lnTo>
                  <a:pt x="13008" y="11377"/>
                </a:lnTo>
                <a:lnTo>
                  <a:pt x="13493" y="11377"/>
                </a:lnTo>
                <a:lnTo>
                  <a:pt x="13111" y="7943"/>
                </a:lnTo>
                <a:lnTo>
                  <a:pt x="12345" y="15346"/>
                </a:lnTo>
                <a:lnTo>
                  <a:pt x="11902" y="15346"/>
                </a:lnTo>
                <a:close/>
                <a:moveTo>
                  <a:pt x="10356" y="6195"/>
                </a:moveTo>
                <a:lnTo>
                  <a:pt x="12123" y="6195"/>
                </a:lnTo>
                <a:lnTo>
                  <a:pt x="12123" y="7667"/>
                </a:lnTo>
                <a:lnTo>
                  <a:pt x="11455" y="7667"/>
                </a:lnTo>
                <a:lnTo>
                  <a:pt x="11455" y="15346"/>
                </a:lnTo>
                <a:lnTo>
                  <a:pt x="11024" y="15346"/>
                </a:lnTo>
                <a:lnTo>
                  <a:pt x="11024" y="7667"/>
                </a:lnTo>
                <a:lnTo>
                  <a:pt x="10356" y="7667"/>
                </a:lnTo>
                <a:close/>
                <a:moveTo>
                  <a:pt x="9124" y="6195"/>
                </a:moveTo>
                <a:lnTo>
                  <a:pt x="9589" y="6195"/>
                </a:lnTo>
                <a:lnTo>
                  <a:pt x="10599" y="15346"/>
                </a:lnTo>
                <a:lnTo>
                  <a:pt x="10135" y="15346"/>
                </a:lnTo>
                <a:lnTo>
                  <a:pt x="9842" y="12849"/>
                </a:lnTo>
                <a:lnTo>
                  <a:pt x="9096" y="12849"/>
                </a:lnTo>
                <a:lnTo>
                  <a:pt x="9244" y="11377"/>
                </a:lnTo>
                <a:lnTo>
                  <a:pt x="9728" y="11377"/>
                </a:lnTo>
                <a:lnTo>
                  <a:pt x="9347" y="7943"/>
                </a:lnTo>
                <a:lnTo>
                  <a:pt x="8580" y="15346"/>
                </a:lnTo>
                <a:lnTo>
                  <a:pt x="8136" y="15346"/>
                </a:lnTo>
                <a:close/>
                <a:moveTo>
                  <a:pt x="20915" y="6135"/>
                </a:moveTo>
                <a:cubicBezTo>
                  <a:pt x="21170" y="6135"/>
                  <a:pt x="21398" y="6284"/>
                  <a:pt x="21599" y="6582"/>
                </a:cubicBezTo>
                <a:lnTo>
                  <a:pt x="21599" y="8118"/>
                </a:lnTo>
                <a:cubicBezTo>
                  <a:pt x="21398" y="7773"/>
                  <a:pt x="21181" y="7603"/>
                  <a:pt x="20947" y="7603"/>
                </a:cubicBezTo>
                <a:cubicBezTo>
                  <a:pt x="20388" y="7603"/>
                  <a:pt x="20108" y="8615"/>
                  <a:pt x="20108" y="10645"/>
                </a:cubicBezTo>
                <a:cubicBezTo>
                  <a:pt x="20108" y="12840"/>
                  <a:pt x="20372" y="13938"/>
                  <a:pt x="20900" y="13938"/>
                </a:cubicBezTo>
                <a:cubicBezTo>
                  <a:pt x="20977" y="13938"/>
                  <a:pt x="21067" y="13887"/>
                  <a:pt x="21167" y="13785"/>
                </a:cubicBezTo>
                <a:lnTo>
                  <a:pt x="21167" y="11653"/>
                </a:lnTo>
                <a:lnTo>
                  <a:pt x="21169" y="11653"/>
                </a:lnTo>
                <a:lnTo>
                  <a:pt x="21167" y="11640"/>
                </a:lnTo>
                <a:lnTo>
                  <a:pt x="21167" y="11653"/>
                </a:lnTo>
                <a:lnTo>
                  <a:pt x="20757" y="11653"/>
                </a:lnTo>
                <a:lnTo>
                  <a:pt x="20903" y="10147"/>
                </a:lnTo>
                <a:lnTo>
                  <a:pt x="21600" y="10147"/>
                </a:lnTo>
                <a:lnTo>
                  <a:pt x="21600" y="14933"/>
                </a:lnTo>
                <a:cubicBezTo>
                  <a:pt x="21412" y="15257"/>
                  <a:pt x="21177" y="15418"/>
                  <a:pt x="20894" y="15418"/>
                </a:cubicBezTo>
                <a:cubicBezTo>
                  <a:pt x="20071" y="15418"/>
                  <a:pt x="19661" y="13827"/>
                  <a:pt x="19661" y="10649"/>
                </a:cubicBezTo>
                <a:cubicBezTo>
                  <a:pt x="19661" y="7637"/>
                  <a:pt x="20079" y="6135"/>
                  <a:pt x="20915" y="6135"/>
                </a:cubicBezTo>
                <a:close/>
                <a:moveTo>
                  <a:pt x="18214" y="6126"/>
                </a:moveTo>
                <a:cubicBezTo>
                  <a:pt x="18994" y="6126"/>
                  <a:pt x="19366" y="7675"/>
                  <a:pt x="19366" y="10781"/>
                </a:cubicBezTo>
                <a:cubicBezTo>
                  <a:pt x="19366" y="13887"/>
                  <a:pt x="18982" y="15410"/>
                  <a:pt x="18214" y="15410"/>
                </a:cubicBezTo>
                <a:cubicBezTo>
                  <a:pt x="17447" y="15410"/>
                  <a:pt x="17079" y="13865"/>
                  <a:pt x="17045" y="10781"/>
                </a:cubicBezTo>
                <a:cubicBezTo>
                  <a:pt x="17045" y="7679"/>
                  <a:pt x="17435" y="6126"/>
                  <a:pt x="18214" y="6126"/>
                </a:cubicBezTo>
                <a:close/>
                <a:moveTo>
                  <a:pt x="3405" y="5888"/>
                </a:moveTo>
                <a:cubicBezTo>
                  <a:pt x="3564" y="6182"/>
                  <a:pt x="3543" y="6735"/>
                  <a:pt x="3548" y="7062"/>
                </a:cubicBezTo>
                <a:cubicBezTo>
                  <a:pt x="3549" y="7156"/>
                  <a:pt x="3549" y="7220"/>
                  <a:pt x="3547" y="7262"/>
                </a:cubicBezTo>
                <a:cubicBezTo>
                  <a:pt x="3524" y="7216"/>
                  <a:pt x="3489" y="7182"/>
                  <a:pt x="3434" y="7190"/>
                </a:cubicBezTo>
                <a:cubicBezTo>
                  <a:pt x="3418" y="7194"/>
                  <a:pt x="3402" y="7203"/>
                  <a:pt x="3387" y="7211"/>
                </a:cubicBezTo>
                <a:cubicBezTo>
                  <a:pt x="3328" y="7088"/>
                  <a:pt x="3294" y="6845"/>
                  <a:pt x="3261" y="6586"/>
                </a:cubicBezTo>
                <a:lnTo>
                  <a:pt x="3254" y="6522"/>
                </a:lnTo>
                <a:lnTo>
                  <a:pt x="3249" y="6492"/>
                </a:lnTo>
                <a:lnTo>
                  <a:pt x="3249" y="6480"/>
                </a:lnTo>
                <a:cubicBezTo>
                  <a:pt x="3232" y="6258"/>
                  <a:pt x="3244" y="6216"/>
                  <a:pt x="3252" y="6148"/>
                </a:cubicBezTo>
                <a:lnTo>
                  <a:pt x="3252" y="6143"/>
                </a:lnTo>
                <a:cubicBezTo>
                  <a:pt x="3259" y="6075"/>
                  <a:pt x="3287" y="6020"/>
                  <a:pt x="3245" y="5961"/>
                </a:cubicBezTo>
                <a:cubicBezTo>
                  <a:pt x="3242" y="5956"/>
                  <a:pt x="3238" y="5948"/>
                  <a:pt x="3232" y="5948"/>
                </a:cubicBezTo>
                <a:cubicBezTo>
                  <a:pt x="3260" y="5812"/>
                  <a:pt x="3345" y="5778"/>
                  <a:pt x="3405" y="5888"/>
                </a:cubicBezTo>
                <a:close/>
                <a:moveTo>
                  <a:pt x="4491" y="0"/>
                </a:moveTo>
                <a:lnTo>
                  <a:pt x="4755" y="10721"/>
                </a:lnTo>
                <a:lnTo>
                  <a:pt x="4892" y="10619"/>
                </a:lnTo>
                <a:lnTo>
                  <a:pt x="4894" y="10615"/>
                </a:lnTo>
                <a:lnTo>
                  <a:pt x="5113" y="19060"/>
                </a:lnTo>
                <a:lnTo>
                  <a:pt x="2416" y="20336"/>
                </a:lnTo>
                <a:lnTo>
                  <a:pt x="2358" y="18690"/>
                </a:lnTo>
                <a:lnTo>
                  <a:pt x="2194" y="18784"/>
                </a:lnTo>
                <a:cubicBezTo>
                  <a:pt x="2208" y="19698"/>
                  <a:pt x="2153" y="20570"/>
                  <a:pt x="2051" y="20987"/>
                </a:cubicBezTo>
                <a:cubicBezTo>
                  <a:pt x="1931" y="21477"/>
                  <a:pt x="1756" y="21600"/>
                  <a:pt x="1571" y="21502"/>
                </a:cubicBezTo>
                <a:cubicBezTo>
                  <a:pt x="1446" y="21438"/>
                  <a:pt x="1353" y="21085"/>
                  <a:pt x="1285" y="20651"/>
                </a:cubicBezTo>
                <a:cubicBezTo>
                  <a:pt x="1541" y="21362"/>
                  <a:pt x="1858" y="21034"/>
                  <a:pt x="1966" y="20439"/>
                </a:cubicBezTo>
                <a:cubicBezTo>
                  <a:pt x="2119" y="19605"/>
                  <a:pt x="2079" y="18813"/>
                  <a:pt x="2023" y="18077"/>
                </a:cubicBezTo>
                <a:cubicBezTo>
                  <a:pt x="1978" y="17499"/>
                  <a:pt x="1858" y="16541"/>
                  <a:pt x="1709" y="16171"/>
                </a:cubicBezTo>
                <a:cubicBezTo>
                  <a:pt x="1558" y="15793"/>
                  <a:pt x="1410" y="15720"/>
                  <a:pt x="1284" y="15771"/>
                </a:cubicBezTo>
                <a:lnTo>
                  <a:pt x="1296" y="15720"/>
                </a:lnTo>
                <a:cubicBezTo>
                  <a:pt x="1477" y="15580"/>
                  <a:pt x="1665" y="15656"/>
                  <a:pt x="1801" y="16001"/>
                </a:cubicBezTo>
                <a:cubicBezTo>
                  <a:pt x="1955" y="16393"/>
                  <a:pt x="2097" y="17065"/>
                  <a:pt x="2171" y="18094"/>
                </a:cubicBezTo>
                <a:cubicBezTo>
                  <a:pt x="2255" y="18048"/>
                  <a:pt x="2267" y="18026"/>
                  <a:pt x="2344" y="17984"/>
                </a:cubicBezTo>
                <a:lnTo>
                  <a:pt x="2171" y="12683"/>
                </a:lnTo>
                <a:lnTo>
                  <a:pt x="2537" y="12525"/>
                </a:lnTo>
                <a:cubicBezTo>
                  <a:pt x="2365" y="12091"/>
                  <a:pt x="2188" y="11470"/>
                  <a:pt x="2110" y="11125"/>
                </a:cubicBezTo>
                <a:cubicBezTo>
                  <a:pt x="2097" y="11087"/>
                  <a:pt x="2099" y="10917"/>
                  <a:pt x="2099" y="10917"/>
                </a:cubicBezTo>
                <a:cubicBezTo>
                  <a:pt x="2170" y="11130"/>
                  <a:pt x="2460" y="11947"/>
                  <a:pt x="2767" y="12321"/>
                </a:cubicBezTo>
                <a:cubicBezTo>
                  <a:pt x="2875" y="12453"/>
                  <a:pt x="3042" y="12504"/>
                  <a:pt x="3187" y="12181"/>
                </a:cubicBezTo>
                <a:cubicBezTo>
                  <a:pt x="3297" y="11934"/>
                  <a:pt x="3430" y="11504"/>
                  <a:pt x="3509" y="11062"/>
                </a:cubicBezTo>
                <a:lnTo>
                  <a:pt x="3523" y="11160"/>
                </a:lnTo>
                <a:cubicBezTo>
                  <a:pt x="3523" y="11228"/>
                  <a:pt x="3486" y="11547"/>
                  <a:pt x="3468" y="11674"/>
                </a:cubicBezTo>
                <a:cubicBezTo>
                  <a:pt x="3501" y="11751"/>
                  <a:pt x="3526" y="11768"/>
                  <a:pt x="3564" y="11810"/>
                </a:cubicBezTo>
                <a:lnTo>
                  <a:pt x="3819" y="11653"/>
                </a:lnTo>
                <a:cubicBezTo>
                  <a:pt x="3910" y="11074"/>
                  <a:pt x="3976" y="10134"/>
                  <a:pt x="3906" y="9245"/>
                </a:cubicBezTo>
                <a:cubicBezTo>
                  <a:pt x="3866" y="8734"/>
                  <a:pt x="3658" y="7713"/>
                  <a:pt x="3643" y="7658"/>
                </a:cubicBezTo>
                <a:cubicBezTo>
                  <a:pt x="3590" y="7462"/>
                  <a:pt x="3652" y="6701"/>
                  <a:pt x="3548" y="5867"/>
                </a:cubicBezTo>
                <a:cubicBezTo>
                  <a:pt x="3439" y="4986"/>
                  <a:pt x="3154" y="4067"/>
                  <a:pt x="3030" y="3667"/>
                </a:cubicBezTo>
                <a:cubicBezTo>
                  <a:pt x="3067" y="3769"/>
                  <a:pt x="3290" y="4127"/>
                  <a:pt x="3395" y="4625"/>
                </a:cubicBezTo>
                <a:cubicBezTo>
                  <a:pt x="3405" y="4574"/>
                  <a:pt x="3409" y="4306"/>
                  <a:pt x="3418" y="4237"/>
                </a:cubicBezTo>
                <a:cubicBezTo>
                  <a:pt x="3328" y="3778"/>
                  <a:pt x="3321" y="2953"/>
                  <a:pt x="3321" y="2731"/>
                </a:cubicBezTo>
                <a:cubicBezTo>
                  <a:pt x="3321" y="2327"/>
                  <a:pt x="3269" y="1868"/>
                  <a:pt x="3269" y="1868"/>
                </a:cubicBezTo>
                <a:cubicBezTo>
                  <a:pt x="3269" y="1868"/>
                  <a:pt x="3360" y="2149"/>
                  <a:pt x="3382" y="2629"/>
                </a:cubicBezTo>
                <a:cubicBezTo>
                  <a:pt x="3409" y="3199"/>
                  <a:pt x="3468" y="3650"/>
                  <a:pt x="3546" y="4029"/>
                </a:cubicBezTo>
                <a:cubicBezTo>
                  <a:pt x="3693" y="4748"/>
                  <a:pt x="3824" y="5114"/>
                  <a:pt x="3892" y="4850"/>
                </a:cubicBezTo>
                <a:cubicBezTo>
                  <a:pt x="3971" y="4531"/>
                  <a:pt x="3812" y="3106"/>
                  <a:pt x="3605" y="2310"/>
                </a:cubicBezTo>
                <a:cubicBezTo>
                  <a:pt x="3365" y="1383"/>
                  <a:pt x="3301" y="1502"/>
                  <a:pt x="3161" y="1702"/>
                </a:cubicBezTo>
                <a:cubicBezTo>
                  <a:pt x="3048" y="1859"/>
                  <a:pt x="2988" y="3119"/>
                  <a:pt x="2695" y="3093"/>
                </a:cubicBezTo>
                <a:cubicBezTo>
                  <a:pt x="2645" y="3072"/>
                  <a:pt x="2517" y="3059"/>
                  <a:pt x="2454" y="3059"/>
                </a:cubicBezTo>
                <a:cubicBezTo>
                  <a:pt x="2487" y="2880"/>
                  <a:pt x="2515" y="2740"/>
                  <a:pt x="2515" y="2740"/>
                </a:cubicBezTo>
                <a:cubicBezTo>
                  <a:pt x="2515" y="2740"/>
                  <a:pt x="2417" y="2897"/>
                  <a:pt x="2334" y="3093"/>
                </a:cubicBezTo>
                <a:lnTo>
                  <a:pt x="2327" y="3055"/>
                </a:lnTo>
                <a:cubicBezTo>
                  <a:pt x="2355" y="2821"/>
                  <a:pt x="2386" y="2672"/>
                  <a:pt x="2386" y="2672"/>
                </a:cubicBezTo>
                <a:cubicBezTo>
                  <a:pt x="2386" y="2672"/>
                  <a:pt x="2307" y="2859"/>
                  <a:pt x="2235" y="3080"/>
                </a:cubicBezTo>
                <a:cubicBezTo>
                  <a:pt x="2248" y="2804"/>
                  <a:pt x="2298" y="2625"/>
                  <a:pt x="2298" y="2625"/>
                </a:cubicBezTo>
                <a:cubicBezTo>
                  <a:pt x="2298" y="2625"/>
                  <a:pt x="2199" y="2693"/>
                  <a:pt x="2072" y="3242"/>
                </a:cubicBezTo>
                <a:cubicBezTo>
                  <a:pt x="1928" y="3395"/>
                  <a:pt x="1894" y="3497"/>
                  <a:pt x="1779" y="3697"/>
                </a:cubicBezTo>
                <a:cubicBezTo>
                  <a:pt x="1593" y="3535"/>
                  <a:pt x="1505" y="3280"/>
                  <a:pt x="1421" y="2804"/>
                </a:cubicBezTo>
                <a:cubicBezTo>
                  <a:pt x="1358" y="2442"/>
                  <a:pt x="1244" y="2387"/>
                  <a:pt x="1129" y="2574"/>
                </a:cubicBezTo>
                <a:cubicBezTo>
                  <a:pt x="960" y="2846"/>
                  <a:pt x="746" y="3225"/>
                  <a:pt x="746" y="3225"/>
                </a:cubicBezTo>
                <a:cubicBezTo>
                  <a:pt x="746" y="3225"/>
                  <a:pt x="816" y="3212"/>
                  <a:pt x="889" y="3225"/>
                </a:cubicBezTo>
                <a:cubicBezTo>
                  <a:pt x="790" y="3374"/>
                  <a:pt x="694" y="3578"/>
                  <a:pt x="694" y="3578"/>
                </a:cubicBezTo>
                <a:cubicBezTo>
                  <a:pt x="694" y="3578"/>
                  <a:pt x="740" y="3578"/>
                  <a:pt x="798" y="3578"/>
                </a:cubicBezTo>
                <a:cubicBezTo>
                  <a:pt x="758" y="3706"/>
                  <a:pt x="736" y="3769"/>
                  <a:pt x="698" y="3867"/>
                </a:cubicBezTo>
                <a:cubicBezTo>
                  <a:pt x="608" y="4127"/>
                  <a:pt x="534" y="4429"/>
                  <a:pt x="534" y="4429"/>
                </a:cubicBezTo>
                <a:cubicBezTo>
                  <a:pt x="534" y="4429"/>
                  <a:pt x="596" y="4318"/>
                  <a:pt x="651" y="4254"/>
                </a:cubicBezTo>
                <a:cubicBezTo>
                  <a:pt x="612" y="4603"/>
                  <a:pt x="535" y="4859"/>
                  <a:pt x="549" y="5288"/>
                </a:cubicBezTo>
                <a:cubicBezTo>
                  <a:pt x="563" y="5680"/>
                  <a:pt x="684" y="6484"/>
                  <a:pt x="842" y="6977"/>
                </a:cubicBezTo>
                <a:cubicBezTo>
                  <a:pt x="855" y="7024"/>
                  <a:pt x="1070" y="7803"/>
                  <a:pt x="1232" y="7484"/>
                </a:cubicBezTo>
                <a:cubicBezTo>
                  <a:pt x="1394" y="7160"/>
                  <a:pt x="1458" y="6875"/>
                  <a:pt x="1485" y="6437"/>
                </a:cubicBezTo>
                <a:cubicBezTo>
                  <a:pt x="1517" y="5931"/>
                  <a:pt x="1499" y="5552"/>
                  <a:pt x="1432" y="4459"/>
                </a:cubicBezTo>
                <a:cubicBezTo>
                  <a:pt x="1411" y="4097"/>
                  <a:pt x="1353" y="3353"/>
                  <a:pt x="1325" y="2999"/>
                </a:cubicBezTo>
                <a:lnTo>
                  <a:pt x="1332" y="2982"/>
                </a:lnTo>
                <a:cubicBezTo>
                  <a:pt x="1385" y="3421"/>
                  <a:pt x="1520" y="4582"/>
                  <a:pt x="1575" y="5361"/>
                </a:cubicBezTo>
                <a:cubicBezTo>
                  <a:pt x="1660" y="6577"/>
                  <a:pt x="1633" y="7194"/>
                  <a:pt x="1594" y="7420"/>
                </a:cubicBezTo>
                <a:cubicBezTo>
                  <a:pt x="1477" y="8105"/>
                  <a:pt x="1175" y="8194"/>
                  <a:pt x="1038" y="7816"/>
                </a:cubicBezTo>
                <a:cubicBezTo>
                  <a:pt x="1016" y="9122"/>
                  <a:pt x="1091" y="9700"/>
                  <a:pt x="1116" y="9990"/>
                </a:cubicBezTo>
                <a:cubicBezTo>
                  <a:pt x="1103" y="10321"/>
                  <a:pt x="1158" y="10943"/>
                  <a:pt x="1158" y="10943"/>
                </a:cubicBezTo>
                <a:cubicBezTo>
                  <a:pt x="1158" y="10943"/>
                  <a:pt x="1164" y="10662"/>
                  <a:pt x="1189" y="10513"/>
                </a:cubicBezTo>
                <a:cubicBezTo>
                  <a:pt x="1196" y="10845"/>
                  <a:pt x="1238" y="11236"/>
                  <a:pt x="1238" y="11236"/>
                </a:cubicBezTo>
                <a:cubicBezTo>
                  <a:pt x="1238" y="11236"/>
                  <a:pt x="1234" y="10994"/>
                  <a:pt x="1254" y="10785"/>
                </a:cubicBezTo>
                <a:cubicBezTo>
                  <a:pt x="1281" y="10968"/>
                  <a:pt x="1300" y="11011"/>
                  <a:pt x="1326" y="11147"/>
                </a:cubicBezTo>
                <a:cubicBezTo>
                  <a:pt x="1351" y="11500"/>
                  <a:pt x="1403" y="11759"/>
                  <a:pt x="1403" y="11759"/>
                </a:cubicBezTo>
                <a:cubicBezTo>
                  <a:pt x="1403" y="11759"/>
                  <a:pt x="1394" y="11568"/>
                  <a:pt x="1399" y="11372"/>
                </a:cubicBezTo>
                <a:cubicBezTo>
                  <a:pt x="1524" y="11844"/>
                  <a:pt x="1546" y="12542"/>
                  <a:pt x="1559" y="13074"/>
                </a:cubicBezTo>
                <a:cubicBezTo>
                  <a:pt x="1594" y="14542"/>
                  <a:pt x="972" y="15708"/>
                  <a:pt x="851" y="16627"/>
                </a:cubicBezTo>
                <a:cubicBezTo>
                  <a:pt x="759" y="17171"/>
                  <a:pt x="705" y="18031"/>
                  <a:pt x="859" y="18537"/>
                </a:cubicBezTo>
                <a:cubicBezTo>
                  <a:pt x="972" y="18898"/>
                  <a:pt x="1037" y="19183"/>
                  <a:pt x="1079" y="19422"/>
                </a:cubicBezTo>
                <a:lnTo>
                  <a:pt x="553" y="19724"/>
                </a:lnTo>
                <a:lnTo>
                  <a:pt x="0" y="2051"/>
                </a:lnTo>
                <a:close/>
              </a:path>
            </a:pathLst>
          </a:custGeom>
          <a:solidFill>
            <a:srgbClr val="632CA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498" name="Google Shape;196;p35"/>
          <p:cNvSpPr/>
          <p:nvPr/>
        </p:nvSpPr>
        <p:spPr>
          <a:xfrm>
            <a:off x="0" y="0"/>
            <a:ext cx="4161000" cy="6858000"/>
          </a:xfrm>
          <a:prstGeom prst="rect">
            <a:avLst/>
          </a:prstGeom>
          <a:gradFill>
            <a:gsLst>
              <a:gs pos="0">
                <a:srgbClr val="00B765"/>
              </a:gs>
              <a:gs pos="30000">
                <a:srgbClr val="00B765"/>
              </a:gs>
              <a:gs pos="90000">
                <a:schemeClr val="accent4"/>
              </a:gs>
              <a:gs pos="100000">
                <a:schemeClr val="accent4"/>
              </a:gs>
            </a:gsLst>
            <a:lin ang="2698631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2800">
                <a:solidFill>
                  <a:srgbClr val="FFFFFF"/>
                </a:solidFill>
              </a:defRPr>
            </a:pPr>
          </a:p>
        </p:txBody>
      </p:sp>
      <p:sp>
        <p:nvSpPr>
          <p:cNvPr id="499" name="Title Text"/>
          <p:cNvSpPr txBox="1"/>
          <p:nvPr>
            <p:ph type="title"/>
          </p:nvPr>
        </p:nvSpPr>
        <p:spPr>
          <a:xfrm>
            <a:off x="685800" y="311150"/>
            <a:ext cx="2755801" cy="1065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01" name="Body Level One…"/>
          <p:cNvSpPr txBox="1"/>
          <p:nvPr>
            <p:ph type="body" sz="quarter" idx="1"/>
          </p:nvPr>
        </p:nvSpPr>
        <p:spPr>
          <a:xfrm>
            <a:off x="685800" y="1687922"/>
            <a:ext cx="2755801" cy="4560601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  <a:lvl2pPr marL="228600" indent="457200">
              <a:buSzTx/>
              <a:buNone/>
              <a:defRPr sz="1400">
                <a:solidFill>
                  <a:srgbClr val="FFFFFF"/>
                </a:solidFill>
              </a:defRPr>
            </a:lvl2pPr>
            <a:lvl3pPr marL="228600" indent="914400">
              <a:buSzTx/>
              <a:buNone/>
              <a:defRPr sz="1400">
                <a:solidFill>
                  <a:srgbClr val="FFFFFF"/>
                </a:solidFill>
              </a:defRPr>
            </a:lvl3pPr>
            <a:lvl4pPr marL="228600" indent="1371600">
              <a:buSzTx/>
              <a:buNone/>
              <a:defRPr sz="1400">
                <a:solidFill>
                  <a:srgbClr val="FFFFFF"/>
                </a:solidFill>
              </a:defRPr>
            </a:lvl4pPr>
            <a:lvl5pPr marL="228600" indent="1828800">
              <a:buSzTx/>
              <a:buNone/>
              <a:defRPr sz="1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2" name="Google Shape;201;p35"/>
          <p:cNvSpPr txBox="1"/>
          <p:nvPr>
            <p:ph type="body" idx="21"/>
          </p:nvPr>
        </p:nvSpPr>
        <p:spPr>
          <a:xfrm>
            <a:off x="4718951" y="801850"/>
            <a:ext cx="6769801" cy="5254200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1/3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oogle Shape;10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09" name="Google Shape;11;p1" descr="Google Shape;11;p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10" name="Google Shape;12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4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44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</p:grpSp>
      <p:grpSp>
        <p:nvGrpSpPr>
          <p:cNvPr id="519" name="Google Shape;17;p1"/>
          <p:cNvGrpSpPr/>
          <p:nvPr/>
        </p:nvGrpSpPr>
        <p:grpSpPr>
          <a:xfrm>
            <a:off x="0" y="-710591"/>
            <a:ext cx="4109466" cy="479101"/>
            <a:chOff x="0" y="0"/>
            <a:chExt cx="4109465" cy="479100"/>
          </a:xfrm>
        </p:grpSpPr>
        <p:sp>
          <p:nvSpPr>
            <p:cNvPr id="512" name="Google Shape;18;p1"/>
            <p:cNvSpPr/>
            <p:nvPr/>
          </p:nvSpPr>
          <p:spPr>
            <a:xfrm>
              <a:off x="0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90000">
                  <a:srgbClr val="9C43FE"/>
                </a:gs>
                <a:gs pos="100000">
                  <a:srgbClr val="9C43FE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13" name="Google Shape;19;p1"/>
            <p:cNvSpPr/>
            <p:nvPr/>
          </p:nvSpPr>
          <p:spPr>
            <a:xfrm>
              <a:off x="60506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100000">
                  <a:schemeClr val="accent2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514" name="Google Shape;20;p1"/>
            <p:cNvSpPr/>
            <p:nvPr/>
          </p:nvSpPr>
          <p:spPr>
            <a:xfrm>
              <a:off x="121012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30000">
                  <a:schemeClr val="accent2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515" name="Google Shape;21;p1"/>
            <p:cNvSpPr/>
            <p:nvPr/>
          </p:nvSpPr>
          <p:spPr>
            <a:xfrm>
              <a:off x="181518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00B765"/>
                </a:gs>
                <a:gs pos="30000">
                  <a:srgbClr val="00B765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16" name="Google Shape;22;p1"/>
            <p:cNvSpPr/>
            <p:nvPr/>
          </p:nvSpPr>
          <p:spPr>
            <a:xfrm>
              <a:off x="242024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8000FF"/>
                </a:gs>
                <a:gs pos="90000">
                  <a:schemeClr val="accent6"/>
                </a:gs>
                <a:gs pos="100000">
                  <a:schemeClr val="accent6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517" name="Google Shape;23;p1"/>
            <p:cNvSpPr/>
            <p:nvPr/>
          </p:nvSpPr>
          <p:spPr>
            <a:xfrm>
              <a:off x="3025304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6"/>
                </a:gs>
                <a:gs pos="30000">
                  <a:schemeClr val="accent6"/>
                </a:gs>
                <a:gs pos="90000">
                  <a:schemeClr val="accent3"/>
                </a:gs>
                <a:gs pos="100000">
                  <a:schemeClr val="accent3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18" name="Google Shape;24;p1"/>
            <p:cNvSpPr/>
            <p:nvPr/>
          </p:nvSpPr>
          <p:spPr>
            <a:xfrm>
              <a:off x="3630365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30000">
                  <a:schemeClr val="accent3"/>
                </a:gs>
                <a:gs pos="90000">
                  <a:schemeClr val="accent5"/>
                </a:gs>
                <a:gs pos="100000">
                  <a:schemeClr val="accent5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520" name="Google Shape;25;p1"/>
          <p:cNvSpPr/>
          <p:nvPr/>
        </p:nvSpPr>
        <p:spPr>
          <a:xfrm>
            <a:off x="10585766" y="6450774"/>
            <a:ext cx="1080115" cy="2747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33" fill="norm" stroke="1" extrusionOk="0">
                <a:moveTo>
                  <a:pt x="4627" y="12440"/>
                </a:moveTo>
                <a:lnTo>
                  <a:pt x="4750" y="17639"/>
                </a:lnTo>
                <a:lnTo>
                  <a:pt x="2635" y="19175"/>
                </a:lnTo>
                <a:lnTo>
                  <a:pt x="2616" y="18439"/>
                </a:lnTo>
                <a:lnTo>
                  <a:pt x="3005" y="16103"/>
                </a:lnTo>
                <a:lnTo>
                  <a:pt x="3447" y="16610"/>
                </a:lnTo>
                <a:lnTo>
                  <a:pt x="3827" y="14112"/>
                </a:lnTo>
                <a:lnTo>
                  <a:pt x="4281" y="15293"/>
                </a:lnTo>
                <a:lnTo>
                  <a:pt x="4281" y="15295"/>
                </a:lnTo>
                <a:lnTo>
                  <a:pt x="4282" y="15295"/>
                </a:lnTo>
                <a:lnTo>
                  <a:pt x="4281" y="15293"/>
                </a:lnTo>
                <a:close/>
                <a:moveTo>
                  <a:pt x="4755" y="11377"/>
                </a:moveTo>
                <a:lnTo>
                  <a:pt x="3365" y="12368"/>
                </a:lnTo>
                <a:cubicBezTo>
                  <a:pt x="3332" y="12542"/>
                  <a:pt x="3246" y="12849"/>
                  <a:pt x="3205" y="12929"/>
                </a:cubicBezTo>
                <a:cubicBezTo>
                  <a:pt x="3030" y="13274"/>
                  <a:pt x="2911" y="13176"/>
                  <a:pt x="2808" y="13070"/>
                </a:cubicBezTo>
                <a:cubicBezTo>
                  <a:pt x="2742" y="13006"/>
                  <a:pt x="2705" y="12968"/>
                  <a:pt x="2649" y="12870"/>
                </a:cubicBezTo>
                <a:lnTo>
                  <a:pt x="2310" y="13053"/>
                </a:lnTo>
                <a:lnTo>
                  <a:pt x="2310" y="13057"/>
                </a:lnTo>
                <a:lnTo>
                  <a:pt x="2515" y="19822"/>
                </a:lnTo>
                <a:lnTo>
                  <a:pt x="4897" y="18133"/>
                </a:lnTo>
                <a:close/>
                <a:moveTo>
                  <a:pt x="3698" y="9185"/>
                </a:moveTo>
                <a:cubicBezTo>
                  <a:pt x="3739" y="9275"/>
                  <a:pt x="3739" y="9551"/>
                  <a:pt x="3711" y="9811"/>
                </a:cubicBezTo>
                <a:cubicBezTo>
                  <a:pt x="3670" y="10185"/>
                  <a:pt x="3612" y="10598"/>
                  <a:pt x="3546" y="10632"/>
                </a:cubicBezTo>
                <a:cubicBezTo>
                  <a:pt x="3437" y="10692"/>
                  <a:pt x="3336" y="10462"/>
                  <a:pt x="3219" y="10117"/>
                </a:cubicBezTo>
                <a:cubicBezTo>
                  <a:pt x="3178" y="9994"/>
                  <a:pt x="3152" y="9696"/>
                  <a:pt x="3208" y="9526"/>
                </a:cubicBezTo>
                <a:cubicBezTo>
                  <a:pt x="3239" y="9428"/>
                  <a:pt x="3380" y="9249"/>
                  <a:pt x="3511" y="9190"/>
                </a:cubicBezTo>
                <a:cubicBezTo>
                  <a:pt x="3579" y="9160"/>
                  <a:pt x="3677" y="9139"/>
                  <a:pt x="3698" y="9185"/>
                </a:cubicBezTo>
                <a:close/>
                <a:moveTo>
                  <a:pt x="15082" y="7671"/>
                </a:moveTo>
                <a:lnTo>
                  <a:pt x="15082" y="13878"/>
                </a:lnTo>
                <a:lnTo>
                  <a:pt x="15595" y="13878"/>
                </a:lnTo>
                <a:cubicBezTo>
                  <a:pt x="16078" y="13878"/>
                  <a:pt x="16321" y="12759"/>
                  <a:pt x="16321" y="10526"/>
                </a:cubicBezTo>
                <a:cubicBezTo>
                  <a:pt x="16321" y="8624"/>
                  <a:pt x="16078" y="7671"/>
                  <a:pt x="15595" y="7671"/>
                </a:cubicBezTo>
                <a:close/>
                <a:moveTo>
                  <a:pt x="6458" y="7671"/>
                </a:moveTo>
                <a:lnTo>
                  <a:pt x="6458" y="13878"/>
                </a:lnTo>
                <a:lnTo>
                  <a:pt x="6971" y="13878"/>
                </a:lnTo>
                <a:cubicBezTo>
                  <a:pt x="7454" y="13878"/>
                  <a:pt x="7695" y="12759"/>
                  <a:pt x="7695" y="10526"/>
                </a:cubicBezTo>
                <a:cubicBezTo>
                  <a:pt x="7695" y="8624"/>
                  <a:pt x="7454" y="7671"/>
                  <a:pt x="6971" y="7671"/>
                </a:cubicBezTo>
                <a:close/>
                <a:moveTo>
                  <a:pt x="18214" y="7598"/>
                </a:moveTo>
                <a:cubicBezTo>
                  <a:pt x="17745" y="7598"/>
                  <a:pt x="17493" y="8645"/>
                  <a:pt x="17493" y="10743"/>
                </a:cubicBezTo>
                <a:cubicBezTo>
                  <a:pt x="17493" y="12840"/>
                  <a:pt x="17733" y="13933"/>
                  <a:pt x="18214" y="13933"/>
                </a:cubicBezTo>
                <a:cubicBezTo>
                  <a:pt x="18684" y="13933"/>
                  <a:pt x="18918" y="12870"/>
                  <a:pt x="18918" y="10743"/>
                </a:cubicBezTo>
                <a:cubicBezTo>
                  <a:pt x="18918" y="8615"/>
                  <a:pt x="18684" y="7598"/>
                  <a:pt x="18214" y="7598"/>
                </a:cubicBezTo>
                <a:close/>
                <a:moveTo>
                  <a:pt x="2441" y="6390"/>
                </a:moveTo>
                <a:cubicBezTo>
                  <a:pt x="2513" y="6396"/>
                  <a:pt x="2559" y="6475"/>
                  <a:pt x="2540" y="6543"/>
                </a:cubicBezTo>
                <a:cubicBezTo>
                  <a:pt x="2470" y="6807"/>
                  <a:pt x="2564" y="6731"/>
                  <a:pt x="2574" y="7216"/>
                </a:cubicBezTo>
                <a:cubicBezTo>
                  <a:pt x="2581" y="7573"/>
                  <a:pt x="2552" y="7773"/>
                  <a:pt x="2526" y="7884"/>
                </a:cubicBezTo>
                <a:cubicBezTo>
                  <a:pt x="2472" y="7909"/>
                  <a:pt x="2407" y="7964"/>
                  <a:pt x="2329" y="8062"/>
                </a:cubicBezTo>
                <a:cubicBezTo>
                  <a:pt x="2283" y="8122"/>
                  <a:pt x="2243" y="8190"/>
                  <a:pt x="2207" y="8254"/>
                </a:cubicBezTo>
                <a:cubicBezTo>
                  <a:pt x="2198" y="8228"/>
                  <a:pt x="2188" y="8203"/>
                  <a:pt x="2176" y="8160"/>
                </a:cubicBezTo>
                <a:cubicBezTo>
                  <a:pt x="2056" y="7747"/>
                  <a:pt x="2059" y="7024"/>
                  <a:pt x="2186" y="6684"/>
                </a:cubicBezTo>
                <a:cubicBezTo>
                  <a:pt x="2271" y="6454"/>
                  <a:pt x="2369" y="6385"/>
                  <a:pt x="2441" y="6390"/>
                </a:cubicBezTo>
                <a:close/>
                <a:moveTo>
                  <a:pt x="14650" y="6199"/>
                </a:moveTo>
                <a:lnTo>
                  <a:pt x="15660" y="6199"/>
                </a:lnTo>
                <a:cubicBezTo>
                  <a:pt x="16388" y="6199"/>
                  <a:pt x="16752" y="7641"/>
                  <a:pt x="16752" y="10526"/>
                </a:cubicBezTo>
                <a:cubicBezTo>
                  <a:pt x="16752" y="13742"/>
                  <a:pt x="16389" y="15350"/>
                  <a:pt x="15660" y="15350"/>
                </a:cubicBezTo>
                <a:lnTo>
                  <a:pt x="15660" y="15346"/>
                </a:lnTo>
                <a:lnTo>
                  <a:pt x="14650" y="15346"/>
                </a:lnTo>
                <a:close/>
                <a:moveTo>
                  <a:pt x="6026" y="6199"/>
                </a:moveTo>
                <a:lnTo>
                  <a:pt x="7036" y="6199"/>
                </a:lnTo>
                <a:cubicBezTo>
                  <a:pt x="7764" y="6199"/>
                  <a:pt x="8128" y="7641"/>
                  <a:pt x="8128" y="10526"/>
                </a:cubicBezTo>
                <a:cubicBezTo>
                  <a:pt x="8128" y="13742"/>
                  <a:pt x="7764" y="15350"/>
                  <a:pt x="7036" y="15350"/>
                </a:cubicBezTo>
                <a:lnTo>
                  <a:pt x="7036" y="15346"/>
                </a:lnTo>
                <a:lnTo>
                  <a:pt x="6026" y="15346"/>
                </a:lnTo>
                <a:close/>
                <a:moveTo>
                  <a:pt x="12890" y="6195"/>
                </a:moveTo>
                <a:lnTo>
                  <a:pt x="13354" y="6195"/>
                </a:lnTo>
                <a:lnTo>
                  <a:pt x="14364" y="15346"/>
                </a:lnTo>
                <a:lnTo>
                  <a:pt x="13899" y="15346"/>
                </a:lnTo>
                <a:lnTo>
                  <a:pt x="13606" y="12849"/>
                </a:lnTo>
                <a:lnTo>
                  <a:pt x="12860" y="12849"/>
                </a:lnTo>
                <a:lnTo>
                  <a:pt x="13008" y="11377"/>
                </a:lnTo>
                <a:lnTo>
                  <a:pt x="13493" y="11377"/>
                </a:lnTo>
                <a:lnTo>
                  <a:pt x="13111" y="7943"/>
                </a:lnTo>
                <a:lnTo>
                  <a:pt x="12345" y="15346"/>
                </a:lnTo>
                <a:lnTo>
                  <a:pt x="11902" y="15346"/>
                </a:lnTo>
                <a:close/>
                <a:moveTo>
                  <a:pt x="10356" y="6195"/>
                </a:moveTo>
                <a:lnTo>
                  <a:pt x="12123" y="6195"/>
                </a:lnTo>
                <a:lnTo>
                  <a:pt x="12123" y="7667"/>
                </a:lnTo>
                <a:lnTo>
                  <a:pt x="11455" y="7667"/>
                </a:lnTo>
                <a:lnTo>
                  <a:pt x="11455" y="15346"/>
                </a:lnTo>
                <a:lnTo>
                  <a:pt x="11024" y="15346"/>
                </a:lnTo>
                <a:lnTo>
                  <a:pt x="11024" y="7667"/>
                </a:lnTo>
                <a:lnTo>
                  <a:pt x="10356" y="7667"/>
                </a:lnTo>
                <a:close/>
                <a:moveTo>
                  <a:pt x="9124" y="6195"/>
                </a:moveTo>
                <a:lnTo>
                  <a:pt x="9589" y="6195"/>
                </a:lnTo>
                <a:lnTo>
                  <a:pt x="10599" y="15346"/>
                </a:lnTo>
                <a:lnTo>
                  <a:pt x="10135" y="15346"/>
                </a:lnTo>
                <a:lnTo>
                  <a:pt x="9842" y="12849"/>
                </a:lnTo>
                <a:lnTo>
                  <a:pt x="9096" y="12849"/>
                </a:lnTo>
                <a:lnTo>
                  <a:pt x="9244" y="11377"/>
                </a:lnTo>
                <a:lnTo>
                  <a:pt x="9728" y="11377"/>
                </a:lnTo>
                <a:lnTo>
                  <a:pt x="9347" y="7943"/>
                </a:lnTo>
                <a:lnTo>
                  <a:pt x="8580" y="15346"/>
                </a:lnTo>
                <a:lnTo>
                  <a:pt x="8136" y="15346"/>
                </a:lnTo>
                <a:close/>
                <a:moveTo>
                  <a:pt x="20915" y="6135"/>
                </a:moveTo>
                <a:cubicBezTo>
                  <a:pt x="21170" y="6135"/>
                  <a:pt x="21398" y="6284"/>
                  <a:pt x="21599" y="6582"/>
                </a:cubicBezTo>
                <a:lnTo>
                  <a:pt x="21599" y="8118"/>
                </a:lnTo>
                <a:cubicBezTo>
                  <a:pt x="21398" y="7773"/>
                  <a:pt x="21181" y="7603"/>
                  <a:pt x="20947" y="7603"/>
                </a:cubicBezTo>
                <a:cubicBezTo>
                  <a:pt x="20388" y="7603"/>
                  <a:pt x="20108" y="8615"/>
                  <a:pt x="20108" y="10645"/>
                </a:cubicBezTo>
                <a:cubicBezTo>
                  <a:pt x="20108" y="12840"/>
                  <a:pt x="20372" y="13938"/>
                  <a:pt x="20900" y="13938"/>
                </a:cubicBezTo>
                <a:cubicBezTo>
                  <a:pt x="20977" y="13938"/>
                  <a:pt x="21067" y="13887"/>
                  <a:pt x="21167" y="13785"/>
                </a:cubicBezTo>
                <a:lnTo>
                  <a:pt x="21167" y="11653"/>
                </a:lnTo>
                <a:lnTo>
                  <a:pt x="21169" y="11653"/>
                </a:lnTo>
                <a:lnTo>
                  <a:pt x="21167" y="11640"/>
                </a:lnTo>
                <a:lnTo>
                  <a:pt x="21167" y="11653"/>
                </a:lnTo>
                <a:lnTo>
                  <a:pt x="20757" y="11653"/>
                </a:lnTo>
                <a:lnTo>
                  <a:pt x="20903" y="10147"/>
                </a:lnTo>
                <a:lnTo>
                  <a:pt x="21600" y="10147"/>
                </a:lnTo>
                <a:lnTo>
                  <a:pt x="21600" y="14933"/>
                </a:lnTo>
                <a:cubicBezTo>
                  <a:pt x="21412" y="15257"/>
                  <a:pt x="21177" y="15418"/>
                  <a:pt x="20894" y="15418"/>
                </a:cubicBezTo>
                <a:cubicBezTo>
                  <a:pt x="20071" y="15418"/>
                  <a:pt x="19661" y="13827"/>
                  <a:pt x="19661" y="10649"/>
                </a:cubicBezTo>
                <a:cubicBezTo>
                  <a:pt x="19661" y="7637"/>
                  <a:pt x="20079" y="6135"/>
                  <a:pt x="20915" y="6135"/>
                </a:cubicBezTo>
                <a:close/>
                <a:moveTo>
                  <a:pt x="18214" y="6126"/>
                </a:moveTo>
                <a:cubicBezTo>
                  <a:pt x="18994" y="6126"/>
                  <a:pt x="19366" y="7675"/>
                  <a:pt x="19366" y="10781"/>
                </a:cubicBezTo>
                <a:cubicBezTo>
                  <a:pt x="19366" y="13887"/>
                  <a:pt x="18982" y="15410"/>
                  <a:pt x="18214" y="15410"/>
                </a:cubicBezTo>
                <a:cubicBezTo>
                  <a:pt x="17447" y="15410"/>
                  <a:pt x="17079" y="13865"/>
                  <a:pt x="17045" y="10781"/>
                </a:cubicBezTo>
                <a:cubicBezTo>
                  <a:pt x="17045" y="7679"/>
                  <a:pt x="17435" y="6126"/>
                  <a:pt x="18214" y="6126"/>
                </a:cubicBezTo>
                <a:close/>
                <a:moveTo>
                  <a:pt x="3405" y="5888"/>
                </a:moveTo>
                <a:cubicBezTo>
                  <a:pt x="3564" y="6182"/>
                  <a:pt x="3543" y="6735"/>
                  <a:pt x="3548" y="7062"/>
                </a:cubicBezTo>
                <a:cubicBezTo>
                  <a:pt x="3549" y="7156"/>
                  <a:pt x="3549" y="7220"/>
                  <a:pt x="3547" y="7262"/>
                </a:cubicBezTo>
                <a:cubicBezTo>
                  <a:pt x="3524" y="7216"/>
                  <a:pt x="3489" y="7182"/>
                  <a:pt x="3434" y="7190"/>
                </a:cubicBezTo>
                <a:cubicBezTo>
                  <a:pt x="3418" y="7194"/>
                  <a:pt x="3402" y="7203"/>
                  <a:pt x="3387" y="7211"/>
                </a:cubicBezTo>
                <a:cubicBezTo>
                  <a:pt x="3328" y="7088"/>
                  <a:pt x="3294" y="6845"/>
                  <a:pt x="3261" y="6586"/>
                </a:cubicBezTo>
                <a:lnTo>
                  <a:pt x="3254" y="6522"/>
                </a:lnTo>
                <a:lnTo>
                  <a:pt x="3249" y="6492"/>
                </a:lnTo>
                <a:lnTo>
                  <a:pt x="3249" y="6480"/>
                </a:lnTo>
                <a:cubicBezTo>
                  <a:pt x="3232" y="6258"/>
                  <a:pt x="3244" y="6216"/>
                  <a:pt x="3252" y="6148"/>
                </a:cubicBezTo>
                <a:lnTo>
                  <a:pt x="3252" y="6143"/>
                </a:lnTo>
                <a:cubicBezTo>
                  <a:pt x="3259" y="6075"/>
                  <a:pt x="3287" y="6020"/>
                  <a:pt x="3245" y="5961"/>
                </a:cubicBezTo>
                <a:cubicBezTo>
                  <a:pt x="3242" y="5956"/>
                  <a:pt x="3238" y="5948"/>
                  <a:pt x="3232" y="5948"/>
                </a:cubicBezTo>
                <a:cubicBezTo>
                  <a:pt x="3260" y="5812"/>
                  <a:pt x="3345" y="5778"/>
                  <a:pt x="3405" y="5888"/>
                </a:cubicBezTo>
                <a:close/>
                <a:moveTo>
                  <a:pt x="4491" y="0"/>
                </a:moveTo>
                <a:lnTo>
                  <a:pt x="4755" y="10721"/>
                </a:lnTo>
                <a:lnTo>
                  <a:pt x="4892" y="10619"/>
                </a:lnTo>
                <a:lnTo>
                  <a:pt x="4894" y="10615"/>
                </a:lnTo>
                <a:lnTo>
                  <a:pt x="5113" y="19060"/>
                </a:lnTo>
                <a:lnTo>
                  <a:pt x="2416" y="20336"/>
                </a:lnTo>
                <a:lnTo>
                  <a:pt x="2358" y="18690"/>
                </a:lnTo>
                <a:lnTo>
                  <a:pt x="2194" y="18784"/>
                </a:lnTo>
                <a:cubicBezTo>
                  <a:pt x="2208" y="19698"/>
                  <a:pt x="2153" y="20570"/>
                  <a:pt x="2051" y="20987"/>
                </a:cubicBezTo>
                <a:cubicBezTo>
                  <a:pt x="1931" y="21477"/>
                  <a:pt x="1756" y="21600"/>
                  <a:pt x="1571" y="21502"/>
                </a:cubicBezTo>
                <a:cubicBezTo>
                  <a:pt x="1446" y="21438"/>
                  <a:pt x="1353" y="21085"/>
                  <a:pt x="1285" y="20651"/>
                </a:cubicBezTo>
                <a:cubicBezTo>
                  <a:pt x="1541" y="21362"/>
                  <a:pt x="1858" y="21034"/>
                  <a:pt x="1966" y="20439"/>
                </a:cubicBezTo>
                <a:cubicBezTo>
                  <a:pt x="2119" y="19605"/>
                  <a:pt x="2079" y="18813"/>
                  <a:pt x="2023" y="18077"/>
                </a:cubicBezTo>
                <a:cubicBezTo>
                  <a:pt x="1978" y="17499"/>
                  <a:pt x="1858" y="16541"/>
                  <a:pt x="1709" y="16171"/>
                </a:cubicBezTo>
                <a:cubicBezTo>
                  <a:pt x="1558" y="15793"/>
                  <a:pt x="1410" y="15720"/>
                  <a:pt x="1284" y="15771"/>
                </a:cubicBezTo>
                <a:lnTo>
                  <a:pt x="1296" y="15720"/>
                </a:lnTo>
                <a:cubicBezTo>
                  <a:pt x="1477" y="15580"/>
                  <a:pt x="1665" y="15656"/>
                  <a:pt x="1801" y="16001"/>
                </a:cubicBezTo>
                <a:cubicBezTo>
                  <a:pt x="1955" y="16393"/>
                  <a:pt x="2097" y="17065"/>
                  <a:pt x="2171" y="18094"/>
                </a:cubicBezTo>
                <a:cubicBezTo>
                  <a:pt x="2255" y="18048"/>
                  <a:pt x="2267" y="18026"/>
                  <a:pt x="2344" y="17984"/>
                </a:cubicBezTo>
                <a:lnTo>
                  <a:pt x="2171" y="12683"/>
                </a:lnTo>
                <a:lnTo>
                  <a:pt x="2537" y="12525"/>
                </a:lnTo>
                <a:cubicBezTo>
                  <a:pt x="2365" y="12091"/>
                  <a:pt x="2188" y="11470"/>
                  <a:pt x="2110" y="11125"/>
                </a:cubicBezTo>
                <a:cubicBezTo>
                  <a:pt x="2097" y="11087"/>
                  <a:pt x="2099" y="10917"/>
                  <a:pt x="2099" y="10917"/>
                </a:cubicBezTo>
                <a:cubicBezTo>
                  <a:pt x="2170" y="11130"/>
                  <a:pt x="2460" y="11947"/>
                  <a:pt x="2767" y="12321"/>
                </a:cubicBezTo>
                <a:cubicBezTo>
                  <a:pt x="2875" y="12453"/>
                  <a:pt x="3042" y="12504"/>
                  <a:pt x="3187" y="12181"/>
                </a:cubicBezTo>
                <a:cubicBezTo>
                  <a:pt x="3297" y="11934"/>
                  <a:pt x="3430" y="11504"/>
                  <a:pt x="3509" y="11062"/>
                </a:cubicBezTo>
                <a:lnTo>
                  <a:pt x="3523" y="11160"/>
                </a:lnTo>
                <a:cubicBezTo>
                  <a:pt x="3523" y="11228"/>
                  <a:pt x="3486" y="11547"/>
                  <a:pt x="3468" y="11674"/>
                </a:cubicBezTo>
                <a:cubicBezTo>
                  <a:pt x="3501" y="11751"/>
                  <a:pt x="3526" y="11768"/>
                  <a:pt x="3564" y="11810"/>
                </a:cubicBezTo>
                <a:lnTo>
                  <a:pt x="3819" y="11653"/>
                </a:lnTo>
                <a:cubicBezTo>
                  <a:pt x="3910" y="11074"/>
                  <a:pt x="3976" y="10134"/>
                  <a:pt x="3906" y="9245"/>
                </a:cubicBezTo>
                <a:cubicBezTo>
                  <a:pt x="3866" y="8734"/>
                  <a:pt x="3658" y="7713"/>
                  <a:pt x="3643" y="7658"/>
                </a:cubicBezTo>
                <a:cubicBezTo>
                  <a:pt x="3590" y="7462"/>
                  <a:pt x="3652" y="6701"/>
                  <a:pt x="3548" y="5867"/>
                </a:cubicBezTo>
                <a:cubicBezTo>
                  <a:pt x="3439" y="4986"/>
                  <a:pt x="3154" y="4067"/>
                  <a:pt x="3030" y="3667"/>
                </a:cubicBezTo>
                <a:cubicBezTo>
                  <a:pt x="3067" y="3769"/>
                  <a:pt x="3290" y="4127"/>
                  <a:pt x="3395" y="4625"/>
                </a:cubicBezTo>
                <a:cubicBezTo>
                  <a:pt x="3405" y="4574"/>
                  <a:pt x="3409" y="4306"/>
                  <a:pt x="3418" y="4237"/>
                </a:cubicBezTo>
                <a:cubicBezTo>
                  <a:pt x="3328" y="3778"/>
                  <a:pt x="3321" y="2953"/>
                  <a:pt x="3321" y="2731"/>
                </a:cubicBezTo>
                <a:cubicBezTo>
                  <a:pt x="3321" y="2327"/>
                  <a:pt x="3269" y="1868"/>
                  <a:pt x="3269" y="1868"/>
                </a:cubicBezTo>
                <a:cubicBezTo>
                  <a:pt x="3269" y="1868"/>
                  <a:pt x="3360" y="2149"/>
                  <a:pt x="3382" y="2629"/>
                </a:cubicBezTo>
                <a:cubicBezTo>
                  <a:pt x="3409" y="3199"/>
                  <a:pt x="3468" y="3650"/>
                  <a:pt x="3546" y="4029"/>
                </a:cubicBezTo>
                <a:cubicBezTo>
                  <a:pt x="3693" y="4748"/>
                  <a:pt x="3824" y="5114"/>
                  <a:pt x="3892" y="4850"/>
                </a:cubicBezTo>
                <a:cubicBezTo>
                  <a:pt x="3971" y="4531"/>
                  <a:pt x="3812" y="3106"/>
                  <a:pt x="3605" y="2310"/>
                </a:cubicBezTo>
                <a:cubicBezTo>
                  <a:pt x="3365" y="1383"/>
                  <a:pt x="3301" y="1502"/>
                  <a:pt x="3161" y="1702"/>
                </a:cubicBezTo>
                <a:cubicBezTo>
                  <a:pt x="3048" y="1859"/>
                  <a:pt x="2988" y="3119"/>
                  <a:pt x="2695" y="3093"/>
                </a:cubicBezTo>
                <a:cubicBezTo>
                  <a:pt x="2645" y="3072"/>
                  <a:pt x="2517" y="3059"/>
                  <a:pt x="2454" y="3059"/>
                </a:cubicBezTo>
                <a:cubicBezTo>
                  <a:pt x="2487" y="2880"/>
                  <a:pt x="2515" y="2740"/>
                  <a:pt x="2515" y="2740"/>
                </a:cubicBezTo>
                <a:cubicBezTo>
                  <a:pt x="2515" y="2740"/>
                  <a:pt x="2417" y="2897"/>
                  <a:pt x="2334" y="3093"/>
                </a:cubicBezTo>
                <a:lnTo>
                  <a:pt x="2327" y="3055"/>
                </a:lnTo>
                <a:cubicBezTo>
                  <a:pt x="2355" y="2821"/>
                  <a:pt x="2386" y="2672"/>
                  <a:pt x="2386" y="2672"/>
                </a:cubicBezTo>
                <a:cubicBezTo>
                  <a:pt x="2386" y="2672"/>
                  <a:pt x="2307" y="2859"/>
                  <a:pt x="2235" y="3080"/>
                </a:cubicBezTo>
                <a:cubicBezTo>
                  <a:pt x="2248" y="2804"/>
                  <a:pt x="2298" y="2625"/>
                  <a:pt x="2298" y="2625"/>
                </a:cubicBezTo>
                <a:cubicBezTo>
                  <a:pt x="2298" y="2625"/>
                  <a:pt x="2199" y="2693"/>
                  <a:pt x="2072" y="3242"/>
                </a:cubicBezTo>
                <a:cubicBezTo>
                  <a:pt x="1928" y="3395"/>
                  <a:pt x="1894" y="3497"/>
                  <a:pt x="1779" y="3697"/>
                </a:cubicBezTo>
                <a:cubicBezTo>
                  <a:pt x="1593" y="3535"/>
                  <a:pt x="1505" y="3280"/>
                  <a:pt x="1421" y="2804"/>
                </a:cubicBezTo>
                <a:cubicBezTo>
                  <a:pt x="1358" y="2442"/>
                  <a:pt x="1244" y="2387"/>
                  <a:pt x="1129" y="2574"/>
                </a:cubicBezTo>
                <a:cubicBezTo>
                  <a:pt x="960" y="2846"/>
                  <a:pt x="746" y="3225"/>
                  <a:pt x="746" y="3225"/>
                </a:cubicBezTo>
                <a:cubicBezTo>
                  <a:pt x="746" y="3225"/>
                  <a:pt x="816" y="3212"/>
                  <a:pt x="889" y="3225"/>
                </a:cubicBezTo>
                <a:cubicBezTo>
                  <a:pt x="790" y="3374"/>
                  <a:pt x="694" y="3578"/>
                  <a:pt x="694" y="3578"/>
                </a:cubicBezTo>
                <a:cubicBezTo>
                  <a:pt x="694" y="3578"/>
                  <a:pt x="740" y="3578"/>
                  <a:pt x="798" y="3578"/>
                </a:cubicBezTo>
                <a:cubicBezTo>
                  <a:pt x="758" y="3706"/>
                  <a:pt x="736" y="3769"/>
                  <a:pt x="698" y="3867"/>
                </a:cubicBezTo>
                <a:cubicBezTo>
                  <a:pt x="608" y="4127"/>
                  <a:pt x="534" y="4429"/>
                  <a:pt x="534" y="4429"/>
                </a:cubicBezTo>
                <a:cubicBezTo>
                  <a:pt x="534" y="4429"/>
                  <a:pt x="596" y="4318"/>
                  <a:pt x="651" y="4254"/>
                </a:cubicBezTo>
                <a:cubicBezTo>
                  <a:pt x="612" y="4603"/>
                  <a:pt x="535" y="4859"/>
                  <a:pt x="549" y="5288"/>
                </a:cubicBezTo>
                <a:cubicBezTo>
                  <a:pt x="563" y="5680"/>
                  <a:pt x="684" y="6484"/>
                  <a:pt x="842" y="6977"/>
                </a:cubicBezTo>
                <a:cubicBezTo>
                  <a:pt x="855" y="7024"/>
                  <a:pt x="1070" y="7803"/>
                  <a:pt x="1232" y="7484"/>
                </a:cubicBezTo>
                <a:cubicBezTo>
                  <a:pt x="1394" y="7160"/>
                  <a:pt x="1458" y="6875"/>
                  <a:pt x="1485" y="6437"/>
                </a:cubicBezTo>
                <a:cubicBezTo>
                  <a:pt x="1517" y="5931"/>
                  <a:pt x="1499" y="5552"/>
                  <a:pt x="1432" y="4459"/>
                </a:cubicBezTo>
                <a:cubicBezTo>
                  <a:pt x="1411" y="4097"/>
                  <a:pt x="1353" y="3353"/>
                  <a:pt x="1325" y="2999"/>
                </a:cubicBezTo>
                <a:lnTo>
                  <a:pt x="1332" y="2982"/>
                </a:lnTo>
                <a:cubicBezTo>
                  <a:pt x="1385" y="3421"/>
                  <a:pt x="1520" y="4582"/>
                  <a:pt x="1575" y="5361"/>
                </a:cubicBezTo>
                <a:cubicBezTo>
                  <a:pt x="1660" y="6577"/>
                  <a:pt x="1633" y="7194"/>
                  <a:pt x="1594" y="7420"/>
                </a:cubicBezTo>
                <a:cubicBezTo>
                  <a:pt x="1477" y="8105"/>
                  <a:pt x="1175" y="8194"/>
                  <a:pt x="1038" y="7816"/>
                </a:cubicBezTo>
                <a:cubicBezTo>
                  <a:pt x="1016" y="9122"/>
                  <a:pt x="1091" y="9700"/>
                  <a:pt x="1116" y="9990"/>
                </a:cubicBezTo>
                <a:cubicBezTo>
                  <a:pt x="1103" y="10321"/>
                  <a:pt x="1158" y="10943"/>
                  <a:pt x="1158" y="10943"/>
                </a:cubicBezTo>
                <a:cubicBezTo>
                  <a:pt x="1158" y="10943"/>
                  <a:pt x="1164" y="10662"/>
                  <a:pt x="1189" y="10513"/>
                </a:cubicBezTo>
                <a:cubicBezTo>
                  <a:pt x="1196" y="10845"/>
                  <a:pt x="1238" y="11236"/>
                  <a:pt x="1238" y="11236"/>
                </a:cubicBezTo>
                <a:cubicBezTo>
                  <a:pt x="1238" y="11236"/>
                  <a:pt x="1234" y="10994"/>
                  <a:pt x="1254" y="10785"/>
                </a:cubicBezTo>
                <a:cubicBezTo>
                  <a:pt x="1281" y="10968"/>
                  <a:pt x="1300" y="11011"/>
                  <a:pt x="1326" y="11147"/>
                </a:cubicBezTo>
                <a:cubicBezTo>
                  <a:pt x="1351" y="11500"/>
                  <a:pt x="1403" y="11759"/>
                  <a:pt x="1403" y="11759"/>
                </a:cubicBezTo>
                <a:cubicBezTo>
                  <a:pt x="1403" y="11759"/>
                  <a:pt x="1394" y="11568"/>
                  <a:pt x="1399" y="11372"/>
                </a:cubicBezTo>
                <a:cubicBezTo>
                  <a:pt x="1524" y="11844"/>
                  <a:pt x="1546" y="12542"/>
                  <a:pt x="1559" y="13074"/>
                </a:cubicBezTo>
                <a:cubicBezTo>
                  <a:pt x="1594" y="14542"/>
                  <a:pt x="972" y="15708"/>
                  <a:pt x="851" y="16627"/>
                </a:cubicBezTo>
                <a:cubicBezTo>
                  <a:pt x="759" y="17171"/>
                  <a:pt x="705" y="18031"/>
                  <a:pt x="859" y="18537"/>
                </a:cubicBezTo>
                <a:cubicBezTo>
                  <a:pt x="972" y="18898"/>
                  <a:pt x="1037" y="19183"/>
                  <a:pt x="1079" y="19422"/>
                </a:cubicBezTo>
                <a:lnTo>
                  <a:pt x="553" y="19724"/>
                </a:lnTo>
                <a:lnTo>
                  <a:pt x="0" y="2051"/>
                </a:lnTo>
                <a:close/>
              </a:path>
            </a:pathLst>
          </a:custGeom>
          <a:solidFill>
            <a:srgbClr val="632CA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521" name="Google Shape;203;p36"/>
          <p:cNvSpPr/>
          <p:nvPr/>
        </p:nvSpPr>
        <p:spPr>
          <a:xfrm>
            <a:off x="0" y="0"/>
            <a:ext cx="4161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30000">
                <a:schemeClr val="accent3"/>
              </a:gs>
              <a:gs pos="90000">
                <a:schemeClr val="accent5"/>
              </a:gs>
              <a:gs pos="100000">
                <a:schemeClr val="accent5"/>
              </a:gs>
            </a:gsLst>
            <a:lin ang="2698631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</a:p>
        </p:txBody>
      </p:sp>
      <p:sp>
        <p:nvSpPr>
          <p:cNvPr id="522" name="Title Text"/>
          <p:cNvSpPr txBox="1"/>
          <p:nvPr>
            <p:ph type="title"/>
          </p:nvPr>
        </p:nvSpPr>
        <p:spPr>
          <a:xfrm>
            <a:off x="685800" y="311150"/>
            <a:ext cx="2755900" cy="10656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24" name="Body Level One…"/>
          <p:cNvSpPr txBox="1"/>
          <p:nvPr>
            <p:ph type="body" sz="quarter" idx="1"/>
          </p:nvPr>
        </p:nvSpPr>
        <p:spPr>
          <a:xfrm>
            <a:off x="685800" y="1687922"/>
            <a:ext cx="2755801" cy="4560601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  <a:lvl2pPr marL="228600" indent="457200">
              <a:buSzTx/>
              <a:buNone/>
              <a:defRPr sz="1400">
                <a:solidFill>
                  <a:srgbClr val="FFFFFF"/>
                </a:solidFill>
              </a:defRPr>
            </a:lvl2pPr>
            <a:lvl3pPr marL="228600" indent="914400">
              <a:buSzTx/>
              <a:buNone/>
              <a:defRPr sz="1400">
                <a:solidFill>
                  <a:srgbClr val="FFFFFF"/>
                </a:solidFill>
              </a:defRPr>
            </a:lvl3pPr>
            <a:lvl4pPr marL="228600" indent="1371600">
              <a:buSzTx/>
              <a:buNone/>
              <a:defRPr sz="1400">
                <a:solidFill>
                  <a:srgbClr val="FFFFFF"/>
                </a:solidFill>
              </a:defRPr>
            </a:lvl4pPr>
            <a:lvl5pPr marL="228600" indent="1828800">
              <a:buSzTx/>
              <a:buNone/>
              <a:defRPr sz="1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5" name="Google Shape;208;p36"/>
          <p:cNvSpPr txBox="1"/>
          <p:nvPr>
            <p:ph type="body" idx="21"/>
          </p:nvPr>
        </p:nvSpPr>
        <p:spPr>
          <a:xfrm>
            <a:off x="4718949" y="801850"/>
            <a:ext cx="6769801" cy="5254200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1/3_orang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210;p37"/>
          <p:cNvSpPr/>
          <p:nvPr/>
        </p:nvSpPr>
        <p:spPr>
          <a:xfrm>
            <a:off x="0" y="0"/>
            <a:ext cx="4161000" cy="68580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100000">
                <a:schemeClr val="accent2"/>
              </a:gs>
            </a:gsLst>
            <a:lin ang="2698631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lnSpc>
                <a:spcPct val="114000"/>
              </a:lnSpc>
              <a:defRPr sz="100"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533" name="Title Text"/>
          <p:cNvSpPr txBox="1"/>
          <p:nvPr>
            <p:ph type="title"/>
          </p:nvPr>
        </p:nvSpPr>
        <p:spPr>
          <a:xfrm>
            <a:off x="685800" y="311150"/>
            <a:ext cx="2755801" cy="1065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35" name="Body Level One…"/>
          <p:cNvSpPr txBox="1"/>
          <p:nvPr>
            <p:ph type="body" sz="quarter" idx="1"/>
          </p:nvPr>
        </p:nvSpPr>
        <p:spPr>
          <a:xfrm>
            <a:off x="685800" y="1687922"/>
            <a:ext cx="2755801" cy="4560601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  <a:lvl2pPr marL="228600" indent="457200">
              <a:buSzTx/>
              <a:buNone/>
              <a:defRPr sz="1400">
                <a:solidFill>
                  <a:srgbClr val="FFFFFF"/>
                </a:solidFill>
              </a:defRPr>
            </a:lvl2pPr>
            <a:lvl3pPr marL="228600" indent="914400">
              <a:buSzTx/>
              <a:buNone/>
              <a:defRPr sz="1400">
                <a:solidFill>
                  <a:srgbClr val="FFFFFF"/>
                </a:solidFill>
              </a:defRPr>
            </a:lvl3pPr>
            <a:lvl4pPr marL="228600" indent="1371600">
              <a:buSzTx/>
              <a:buNone/>
              <a:defRPr sz="1400">
                <a:solidFill>
                  <a:srgbClr val="FFFFFF"/>
                </a:solidFill>
              </a:defRPr>
            </a:lvl4pPr>
            <a:lvl5pPr marL="228600" indent="1828800">
              <a:buSzTx/>
              <a:buNone/>
              <a:defRPr sz="1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36" name="Google Shape;215;p37"/>
          <p:cNvSpPr txBox="1"/>
          <p:nvPr>
            <p:ph type="body" idx="21"/>
          </p:nvPr>
        </p:nvSpPr>
        <p:spPr>
          <a:xfrm>
            <a:off x="4718951" y="801850"/>
            <a:ext cx="6771300" cy="5254200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rom_To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217;p38" descr="Google Shape;217;p38"/>
          <p:cNvPicPr>
            <a:picLocks noChangeAspect="1"/>
          </p:cNvPicPr>
          <p:nvPr/>
        </p:nvPicPr>
        <p:blipFill>
          <a:blip r:embed="rId2">
            <a:alphaModFix amt="35000"/>
            <a:extLst/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544" name="Google Shape;218;p38"/>
          <p:cNvSpPr/>
          <p:nvPr/>
        </p:nvSpPr>
        <p:spPr>
          <a:xfrm>
            <a:off x="6096001" y="0"/>
            <a:ext cx="6096001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90000">
                <a:schemeClr val="accent4"/>
              </a:gs>
              <a:gs pos="100000">
                <a:schemeClr val="accent4"/>
              </a:gs>
            </a:gsLst>
            <a:lin ang="2698631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lnSpc>
                <a:spcPct val="114000"/>
              </a:lnSpc>
              <a:defRPr sz="100"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5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546" name="Google Shape;220;p38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rom_To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222;p39"/>
          <p:cNvSpPr/>
          <p:nvPr/>
        </p:nvSpPr>
        <p:spPr>
          <a:xfrm>
            <a:off x="6096001" y="0"/>
            <a:ext cx="6096001" cy="6858000"/>
          </a:xfrm>
          <a:prstGeom prst="rect">
            <a:avLst/>
          </a:prstGeom>
          <a:gradFill>
            <a:gsLst>
              <a:gs pos="0">
                <a:srgbClr val="8000FF"/>
              </a:gs>
              <a:gs pos="90000">
                <a:schemeClr val="accent6"/>
              </a:gs>
              <a:gs pos="100000">
                <a:schemeClr val="accent6"/>
              </a:gs>
            </a:gsLst>
            <a:lin ang="2700005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lnSpc>
                <a:spcPct val="114000"/>
              </a:lnSpc>
              <a:defRPr sz="100"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554" name="Google Shape;223;p39" descr="Google Shape;223;p39"/>
          <p:cNvPicPr>
            <a:picLocks noChangeAspect="1"/>
          </p:cNvPicPr>
          <p:nvPr/>
        </p:nvPicPr>
        <p:blipFill>
          <a:blip r:embed="rId2">
            <a:alphaModFix amt="35000"/>
            <a:extLst/>
          </a:blip>
          <a:stretch>
            <a:fillRect/>
          </a:stretch>
        </p:blipFill>
        <p:spPr>
          <a:xfrm>
            <a:off x="0" y="0"/>
            <a:ext cx="6095999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5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556" name="Google Shape;225;p39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rom_To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227;p40"/>
          <p:cNvSpPr/>
          <p:nvPr/>
        </p:nvSpPr>
        <p:spPr>
          <a:xfrm>
            <a:off x="6096001" y="0"/>
            <a:ext cx="6096001" cy="6858000"/>
          </a:xfrm>
          <a:prstGeom prst="rect">
            <a:avLst/>
          </a:prstGeom>
          <a:gradFill>
            <a:gsLst>
              <a:gs pos="0">
                <a:srgbClr val="00B765"/>
              </a:gs>
              <a:gs pos="30000">
                <a:srgbClr val="00B765"/>
              </a:gs>
              <a:gs pos="90000">
                <a:schemeClr val="accent4"/>
              </a:gs>
              <a:gs pos="100000">
                <a:schemeClr val="accent4"/>
              </a:gs>
            </a:gsLst>
            <a:lin ang="2698631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2800">
                <a:solidFill>
                  <a:srgbClr val="FFFFFF"/>
                </a:solidFill>
              </a:defRPr>
            </a:pPr>
          </a:p>
        </p:txBody>
      </p:sp>
      <p:sp>
        <p:nvSpPr>
          <p:cNvPr id="5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565" name="Google Shape;229;p40" descr="Google Shape;229;p40"/>
          <p:cNvPicPr>
            <a:picLocks noChangeAspect="1"/>
          </p:cNvPicPr>
          <p:nvPr/>
        </p:nvPicPr>
        <p:blipFill>
          <a:blip r:embed="rId2">
            <a:alphaModFix amt="35000"/>
            <a:extLst/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566" name="Google Shape;230;p40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rom_To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232;p41"/>
          <p:cNvSpPr/>
          <p:nvPr/>
        </p:nvSpPr>
        <p:spPr>
          <a:xfrm>
            <a:off x="6096001" y="0"/>
            <a:ext cx="6096001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30000">
                <a:schemeClr val="accent3"/>
              </a:gs>
              <a:gs pos="90000">
                <a:schemeClr val="accent5"/>
              </a:gs>
              <a:gs pos="100000">
                <a:schemeClr val="accent5"/>
              </a:gs>
            </a:gsLst>
            <a:lin ang="2698631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</a:p>
        </p:txBody>
      </p:sp>
      <p:pic>
        <p:nvPicPr>
          <p:cNvPr id="574" name="Google Shape;233;p41" descr="Google Shape;233;p41"/>
          <p:cNvPicPr>
            <a:picLocks noChangeAspect="1"/>
          </p:cNvPicPr>
          <p:nvPr/>
        </p:nvPicPr>
        <p:blipFill>
          <a:blip r:embed="rId2">
            <a:alphaModFix amt="35000"/>
            <a:extLst/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5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576" name="Google Shape;235;p41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rom_To_orang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237;p42"/>
          <p:cNvSpPr/>
          <p:nvPr/>
        </p:nvSpPr>
        <p:spPr>
          <a:xfrm>
            <a:off x="6096001" y="0"/>
            <a:ext cx="6096001" cy="68580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100000">
                <a:schemeClr val="accent2"/>
              </a:gs>
            </a:gsLst>
            <a:lin ang="2698631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lnSpc>
                <a:spcPct val="114000"/>
              </a:lnSpc>
              <a:defRPr sz="100"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584" name="Google Shape;238;p42" descr="Google Shape;238;p42"/>
          <p:cNvPicPr>
            <a:picLocks noChangeAspect="1"/>
          </p:cNvPicPr>
          <p:nvPr/>
        </p:nvPicPr>
        <p:blipFill>
          <a:blip r:embed="rId2">
            <a:alphaModFix amt="35000"/>
            <a:extLst/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5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586" name="Google Shape;240;p42"/>
          <p:cNvSpPr/>
          <p:nvPr/>
        </p:nvSpPr>
        <p:spPr>
          <a:xfrm>
            <a:off x="10613297" y="6457087"/>
            <a:ext cx="1048043" cy="256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5" fill="norm" stroke="1" extrusionOk="0">
                <a:moveTo>
                  <a:pt x="4373" y="11831"/>
                </a:moveTo>
                <a:lnTo>
                  <a:pt x="4004" y="14940"/>
                </a:lnTo>
                <a:lnTo>
                  <a:pt x="3518" y="13654"/>
                </a:lnTo>
                <a:lnTo>
                  <a:pt x="3113" y="16373"/>
                </a:lnTo>
                <a:lnTo>
                  <a:pt x="2641" y="15818"/>
                </a:lnTo>
                <a:lnTo>
                  <a:pt x="2226" y="18359"/>
                </a:lnTo>
                <a:lnTo>
                  <a:pt x="2247" y="19162"/>
                </a:lnTo>
                <a:lnTo>
                  <a:pt x="2248" y="19162"/>
                </a:lnTo>
                <a:lnTo>
                  <a:pt x="4504" y="17495"/>
                </a:lnTo>
                <a:close/>
                <a:moveTo>
                  <a:pt x="4509" y="10669"/>
                </a:moveTo>
                <a:lnTo>
                  <a:pt x="4660" y="18022"/>
                </a:lnTo>
                <a:lnTo>
                  <a:pt x="2119" y="19863"/>
                </a:lnTo>
                <a:lnTo>
                  <a:pt x="1899" y="12501"/>
                </a:lnTo>
                <a:lnTo>
                  <a:pt x="2261" y="12301"/>
                </a:lnTo>
                <a:cubicBezTo>
                  <a:pt x="2320" y="12408"/>
                  <a:pt x="2361" y="12448"/>
                  <a:pt x="2432" y="12519"/>
                </a:cubicBezTo>
                <a:cubicBezTo>
                  <a:pt x="2541" y="12634"/>
                  <a:pt x="2667" y="12740"/>
                  <a:pt x="2854" y="12364"/>
                </a:cubicBezTo>
                <a:cubicBezTo>
                  <a:pt x="2899" y="12275"/>
                  <a:pt x="2989" y="11942"/>
                  <a:pt x="3026" y="11752"/>
                </a:cubicBezTo>
                <a:lnTo>
                  <a:pt x="4509" y="10674"/>
                </a:lnTo>
                <a:close/>
                <a:moveTo>
                  <a:pt x="3380" y="8297"/>
                </a:moveTo>
                <a:cubicBezTo>
                  <a:pt x="3358" y="8248"/>
                  <a:pt x="3253" y="8266"/>
                  <a:pt x="3180" y="8301"/>
                </a:cubicBezTo>
                <a:cubicBezTo>
                  <a:pt x="3040" y="8368"/>
                  <a:pt x="2890" y="8563"/>
                  <a:pt x="2857" y="8665"/>
                </a:cubicBezTo>
                <a:lnTo>
                  <a:pt x="2858" y="8669"/>
                </a:lnTo>
                <a:cubicBezTo>
                  <a:pt x="2798" y="8856"/>
                  <a:pt x="2826" y="9179"/>
                  <a:pt x="2870" y="9312"/>
                </a:cubicBezTo>
                <a:cubicBezTo>
                  <a:pt x="2994" y="9685"/>
                  <a:pt x="3103" y="9938"/>
                  <a:pt x="3218" y="9876"/>
                </a:cubicBezTo>
                <a:cubicBezTo>
                  <a:pt x="3288" y="9836"/>
                  <a:pt x="3350" y="9388"/>
                  <a:pt x="3394" y="8980"/>
                </a:cubicBezTo>
                <a:cubicBezTo>
                  <a:pt x="3424" y="8696"/>
                  <a:pt x="3424" y="8394"/>
                  <a:pt x="3380" y="8297"/>
                </a:cubicBezTo>
                <a:close/>
                <a:moveTo>
                  <a:pt x="14943" y="7379"/>
                </a:moveTo>
                <a:lnTo>
                  <a:pt x="14943" y="13849"/>
                </a:lnTo>
                <a:lnTo>
                  <a:pt x="15467" y="13849"/>
                </a:lnTo>
                <a:cubicBezTo>
                  <a:pt x="15961" y="13849"/>
                  <a:pt x="16208" y="12683"/>
                  <a:pt x="16208" y="10355"/>
                </a:cubicBezTo>
                <a:cubicBezTo>
                  <a:pt x="16208" y="8372"/>
                  <a:pt x="15961" y="7379"/>
                  <a:pt x="15467" y="7379"/>
                </a:cubicBezTo>
                <a:close/>
                <a:moveTo>
                  <a:pt x="6132" y="7379"/>
                </a:moveTo>
                <a:lnTo>
                  <a:pt x="6132" y="13849"/>
                </a:lnTo>
                <a:lnTo>
                  <a:pt x="6656" y="13849"/>
                </a:lnTo>
                <a:cubicBezTo>
                  <a:pt x="7150" y="13849"/>
                  <a:pt x="7396" y="12683"/>
                  <a:pt x="7396" y="10355"/>
                </a:cubicBezTo>
                <a:cubicBezTo>
                  <a:pt x="7396" y="8372"/>
                  <a:pt x="7150" y="7379"/>
                  <a:pt x="6656" y="7379"/>
                </a:cubicBezTo>
                <a:close/>
                <a:moveTo>
                  <a:pt x="18142" y="7308"/>
                </a:moveTo>
                <a:cubicBezTo>
                  <a:pt x="17662" y="7308"/>
                  <a:pt x="17405" y="8399"/>
                  <a:pt x="17405" y="10585"/>
                </a:cubicBezTo>
                <a:cubicBezTo>
                  <a:pt x="17405" y="12772"/>
                  <a:pt x="17650" y="13911"/>
                  <a:pt x="18142" y="13911"/>
                </a:cubicBezTo>
                <a:cubicBezTo>
                  <a:pt x="18621" y="13911"/>
                  <a:pt x="18860" y="12803"/>
                  <a:pt x="18860" y="10585"/>
                </a:cubicBezTo>
                <a:cubicBezTo>
                  <a:pt x="18860" y="8368"/>
                  <a:pt x="18621" y="7308"/>
                  <a:pt x="18142" y="7308"/>
                </a:cubicBezTo>
                <a:close/>
                <a:moveTo>
                  <a:pt x="14502" y="5844"/>
                </a:moveTo>
                <a:lnTo>
                  <a:pt x="15533" y="5844"/>
                </a:lnTo>
                <a:cubicBezTo>
                  <a:pt x="16276" y="5844"/>
                  <a:pt x="16649" y="7348"/>
                  <a:pt x="16649" y="10355"/>
                </a:cubicBezTo>
                <a:cubicBezTo>
                  <a:pt x="16649" y="13707"/>
                  <a:pt x="16278" y="15384"/>
                  <a:pt x="15533" y="15384"/>
                </a:cubicBezTo>
                <a:lnTo>
                  <a:pt x="14502" y="15384"/>
                </a:lnTo>
                <a:close/>
                <a:moveTo>
                  <a:pt x="12703" y="5844"/>
                </a:moveTo>
                <a:lnTo>
                  <a:pt x="13177" y="5844"/>
                </a:lnTo>
                <a:lnTo>
                  <a:pt x="14209" y="15384"/>
                </a:lnTo>
                <a:lnTo>
                  <a:pt x="13735" y="15384"/>
                </a:lnTo>
                <a:lnTo>
                  <a:pt x="13435" y="12780"/>
                </a:lnTo>
                <a:lnTo>
                  <a:pt x="12673" y="12780"/>
                </a:lnTo>
                <a:lnTo>
                  <a:pt x="12825" y="11246"/>
                </a:lnTo>
                <a:lnTo>
                  <a:pt x="13318" y="11246"/>
                </a:lnTo>
                <a:lnTo>
                  <a:pt x="12930" y="7667"/>
                </a:lnTo>
                <a:lnTo>
                  <a:pt x="12146" y="15384"/>
                </a:lnTo>
                <a:lnTo>
                  <a:pt x="11693" y="15384"/>
                </a:lnTo>
                <a:close/>
                <a:moveTo>
                  <a:pt x="10114" y="5844"/>
                </a:moveTo>
                <a:lnTo>
                  <a:pt x="11919" y="5844"/>
                </a:lnTo>
                <a:lnTo>
                  <a:pt x="11919" y="7379"/>
                </a:lnTo>
                <a:lnTo>
                  <a:pt x="11237" y="7379"/>
                </a:lnTo>
                <a:lnTo>
                  <a:pt x="11237" y="15384"/>
                </a:lnTo>
                <a:lnTo>
                  <a:pt x="10796" y="15384"/>
                </a:lnTo>
                <a:lnTo>
                  <a:pt x="10796" y="7379"/>
                </a:lnTo>
                <a:lnTo>
                  <a:pt x="10114" y="7379"/>
                </a:lnTo>
                <a:close/>
                <a:moveTo>
                  <a:pt x="8857" y="5844"/>
                </a:moveTo>
                <a:lnTo>
                  <a:pt x="9331" y="5844"/>
                </a:lnTo>
                <a:lnTo>
                  <a:pt x="10363" y="15384"/>
                </a:lnTo>
                <a:lnTo>
                  <a:pt x="9888" y="15384"/>
                </a:lnTo>
                <a:lnTo>
                  <a:pt x="9589" y="12780"/>
                </a:lnTo>
                <a:lnTo>
                  <a:pt x="8827" y="12780"/>
                </a:lnTo>
                <a:lnTo>
                  <a:pt x="8979" y="11246"/>
                </a:lnTo>
                <a:lnTo>
                  <a:pt x="9473" y="11246"/>
                </a:lnTo>
                <a:lnTo>
                  <a:pt x="9083" y="7667"/>
                </a:lnTo>
                <a:lnTo>
                  <a:pt x="8299" y="15384"/>
                </a:lnTo>
                <a:lnTo>
                  <a:pt x="7847" y="15384"/>
                </a:lnTo>
                <a:close/>
                <a:moveTo>
                  <a:pt x="5691" y="5844"/>
                </a:moveTo>
                <a:lnTo>
                  <a:pt x="6723" y="5844"/>
                </a:lnTo>
                <a:cubicBezTo>
                  <a:pt x="7466" y="5844"/>
                  <a:pt x="7838" y="7348"/>
                  <a:pt x="7838" y="10355"/>
                </a:cubicBezTo>
                <a:cubicBezTo>
                  <a:pt x="7838" y="13707"/>
                  <a:pt x="7466" y="15384"/>
                  <a:pt x="6723" y="15384"/>
                </a:cubicBezTo>
                <a:lnTo>
                  <a:pt x="5691" y="15384"/>
                </a:lnTo>
                <a:close/>
                <a:moveTo>
                  <a:pt x="20900" y="5773"/>
                </a:moveTo>
                <a:cubicBezTo>
                  <a:pt x="21161" y="5773"/>
                  <a:pt x="21394" y="5929"/>
                  <a:pt x="21599" y="6239"/>
                </a:cubicBezTo>
                <a:lnTo>
                  <a:pt x="21599" y="7840"/>
                </a:lnTo>
                <a:cubicBezTo>
                  <a:pt x="21394" y="7485"/>
                  <a:pt x="21172" y="7308"/>
                  <a:pt x="20933" y="7308"/>
                </a:cubicBezTo>
                <a:cubicBezTo>
                  <a:pt x="20362" y="7308"/>
                  <a:pt x="20076" y="8363"/>
                  <a:pt x="20076" y="10479"/>
                </a:cubicBezTo>
                <a:cubicBezTo>
                  <a:pt x="20076" y="12772"/>
                  <a:pt x="20346" y="13916"/>
                  <a:pt x="20884" y="13916"/>
                </a:cubicBezTo>
                <a:cubicBezTo>
                  <a:pt x="20964" y="13916"/>
                  <a:pt x="21056" y="13862"/>
                  <a:pt x="21157" y="13756"/>
                </a:cubicBezTo>
                <a:lnTo>
                  <a:pt x="21157" y="11525"/>
                </a:lnTo>
                <a:lnTo>
                  <a:pt x="21159" y="11525"/>
                </a:lnTo>
                <a:lnTo>
                  <a:pt x="21157" y="11521"/>
                </a:lnTo>
                <a:lnTo>
                  <a:pt x="21157" y="11525"/>
                </a:lnTo>
                <a:lnTo>
                  <a:pt x="20739" y="11525"/>
                </a:lnTo>
                <a:lnTo>
                  <a:pt x="20888" y="9955"/>
                </a:lnTo>
                <a:lnTo>
                  <a:pt x="21600" y="9955"/>
                </a:lnTo>
                <a:lnTo>
                  <a:pt x="21600" y="14945"/>
                </a:lnTo>
                <a:cubicBezTo>
                  <a:pt x="21408" y="15282"/>
                  <a:pt x="21168" y="15450"/>
                  <a:pt x="20879" y="15450"/>
                </a:cubicBezTo>
                <a:cubicBezTo>
                  <a:pt x="20039" y="15450"/>
                  <a:pt x="19619" y="13792"/>
                  <a:pt x="19619" y="10479"/>
                </a:cubicBezTo>
                <a:cubicBezTo>
                  <a:pt x="19619" y="7339"/>
                  <a:pt x="20046" y="5773"/>
                  <a:pt x="20900" y="5773"/>
                </a:cubicBezTo>
                <a:close/>
                <a:moveTo>
                  <a:pt x="18142" y="5773"/>
                </a:moveTo>
                <a:cubicBezTo>
                  <a:pt x="18938" y="5773"/>
                  <a:pt x="19318" y="7392"/>
                  <a:pt x="19318" y="10625"/>
                </a:cubicBezTo>
                <a:cubicBezTo>
                  <a:pt x="19318" y="13858"/>
                  <a:pt x="18926" y="15450"/>
                  <a:pt x="18142" y="15450"/>
                </a:cubicBezTo>
                <a:cubicBezTo>
                  <a:pt x="17358" y="15450"/>
                  <a:pt x="16982" y="13840"/>
                  <a:pt x="16947" y="10625"/>
                </a:cubicBezTo>
                <a:cubicBezTo>
                  <a:pt x="16947" y="7392"/>
                  <a:pt x="17345" y="5773"/>
                  <a:pt x="18142" y="5773"/>
                </a:cubicBezTo>
                <a:close/>
                <a:moveTo>
                  <a:pt x="2039" y="5258"/>
                </a:moveTo>
                <a:cubicBezTo>
                  <a:pt x="1963" y="5252"/>
                  <a:pt x="1858" y="5328"/>
                  <a:pt x="1767" y="5578"/>
                </a:cubicBezTo>
                <a:cubicBezTo>
                  <a:pt x="1632" y="5946"/>
                  <a:pt x="1628" y="6736"/>
                  <a:pt x="1757" y="7184"/>
                </a:cubicBezTo>
                <a:cubicBezTo>
                  <a:pt x="1769" y="7228"/>
                  <a:pt x="1780" y="7259"/>
                  <a:pt x="1790" y="7286"/>
                </a:cubicBezTo>
                <a:cubicBezTo>
                  <a:pt x="1828" y="7215"/>
                  <a:pt x="1871" y="7144"/>
                  <a:pt x="1920" y="7077"/>
                </a:cubicBezTo>
                <a:cubicBezTo>
                  <a:pt x="2004" y="6966"/>
                  <a:pt x="2073" y="6913"/>
                  <a:pt x="2130" y="6882"/>
                </a:cubicBezTo>
                <a:cubicBezTo>
                  <a:pt x="2158" y="6758"/>
                  <a:pt x="2189" y="6545"/>
                  <a:pt x="2181" y="6155"/>
                </a:cubicBezTo>
                <a:cubicBezTo>
                  <a:pt x="2171" y="5627"/>
                  <a:pt x="2070" y="5711"/>
                  <a:pt x="2146" y="5423"/>
                </a:cubicBezTo>
                <a:cubicBezTo>
                  <a:pt x="2165" y="5350"/>
                  <a:pt x="2116" y="5263"/>
                  <a:pt x="2039" y="5258"/>
                </a:cubicBezTo>
                <a:close/>
                <a:moveTo>
                  <a:pt x="3066" y="4705"/>
                </a:moveTo>
                <a:cubicBezTo>
                  <a:pt x="3002" y="4585"/>
                  <a:pt x="2912" y="4620"/>
                  <a:pt x="2882" y="4771"/>
                </a:cubicBezTo>
                <a:cubicBezTo>
                  <a:pt x="2888" y="4775"/>
                  <a:pt x="2892" y="4780"/>
                  <a:pt x="2896" y="4784"/>
                </a:cubicBezTo>
                <a:cubicBezTo>
                  <a:pt x="2942" y="4846"/>
                  <a:pt x="2911" y="4908"/>
                  <a:pt x="2903" y="4984"/>
                </a:cubicBezTo>
                <a:cubicBezTo>
                  <a:pt x="2895" y="5059"/>
                  <a:pt x="2883" y="5108"/>
                  <a:pt x="2903" y="5348"/>
                </a:cubicBezTo>
                <a:lnTo>
                  <a:pt x="2903" y="5361"/>
                </a:lnTo>
                <a:cubicBezTo>
                  <a:pt x="2904" y="5370"/>
                  <a:pt x="2906" y="5383"/>
                  <a:pt x="2906" y="5392"/>
                </a:cubicBezTo>
                <a:cubicBezTo>
                  <a:pt x="2909" y="5414"/>
                  <a:pt x="2911" y="5436"/>
                  <a:pt x="2914" y="5463"/>
                </a:cubicBezTo>
                <a:cubicBezTo>
                  <a:pt x="2948" y="5742"/>
                  <a:pt x="2986" y="6008"/>
                  <a:pt x="3049" y="6141"/>
                </a:cubicBezTo>
                <a:cubicBezTo>
                  <a:pt x="3065" y="6128"/>
                  <a:pt x="3082" y="6119"/>
                  <a:pt x="3100" y="6119"/>
                </a:cubicBezTo>
                <a:cubicBezTo>
                  <a:pt x="3158" y="6110"/>
                  <a:pt x="3196" y="6146"/>
                  <a:pt x="3219" y="6199"/>
                </a:cubicBezTo>
                <a:cubicBezTo>
                  <a:pt x="3220" y="6155"/>
                  <a:pt x="3221" y="6084"/>
                  <a:pt x="3220" y="5982"/>
                </a:cubicBezTo>
                <a:cubicBezTo>
                  <a:pt x="3216" y="5627"/>
                  <a:pt x="3238" y="5019"/>
                  <a:pt x="3068" y="4705"/>
                </a:cubicBezTo>
                <a:close/>
                <a:moveTo>
                  <a:pt x="3001" y="24"/>
                </a:moveTo>
                <a:cubicBezTo>
                  <a:pt x="3068" y="90"/>
                  <a:pt x="3149" y="310"/>
                  <a:pt x="3277" y="815"/>
                </a:cubicBezTo>
                <a:cubicBezTo>
                  <a:pt x="3497" y="1684"/>
                  <a:pt x="3668" y="3237"/>
                  <a:pt x="3583" y="3583"/>
                </a:cubicBezTo>
                <a:cubicBezTo>
                  <a:pt x="3511" y="3871"/>
                  <a:pt x="3371" y="3467"/>
                  <a:pt x="3214" y="2687"/>
                </a:cubicBezTo>
                <a:cubicBezTo>
                  <a:pt x="3132" y="2274"/>
                  <a:pt x="3069" y="1782"/>
                  <a:pt x="3040" y="1161"/>
                </a:cubicBezTo>
                <a:cubicBezTo>
                  <a:pt x="3016" y="638"/>
                  <a:pt x="2920" y="332"/>
                  <a:pt x="2920" y="332"/>
                </a:cubicBezTo>
                <a:cubicBezTo>
                  <a:pt x="2920" y="332"/>
                  <a:pt x="2976" y="833"/>
                  <a:pt x="2976" y="1272"/>
                </a:cubicBezTo>
                <a:cubicBezTo>
                  <a:pt x="2976" y="1511"/>
                  <a:pt x="2984" y="2407"/>
                  <a:pt x="3080" y="2913"/>
                </a:cubicBezTo>
                <a:cubicBezTo>
                  <a:pt x="3070" y="2988"/>
                  <a:pt x="3065" y="3276"/>
                  <a:pt x="3055" y="3334"/>
                </a:cubicBezTo>
                <a:cubicBezTo>
                  <a:pt x="2944" y="2793"/>
                  <a:pt x="2704" y="2407"/>
                  <a:pt x="2666" y="2292"/>
                </a:cubicBezTo>
                <a:cubicBezTo>
                  <a:pt x="2798" y="2727"/>
                  <a:pt x="3102" y="3724"/>
                  <a:pt x="3219" y="4682"/>
                </a:cubicBezTo>
                <a:cubicBezTo>
                  <a:pt x="3329" y="5587"/>
                  <a:pt x="3264" y="6416"/>
                  <a:pt x="3320" y="6634"/>
                </a:cubicBezTo>
                <a:cubicBezTo>
                  <a:pt x="3337" y="6691"/>
                  <a:pt x="3558" y="7800"/>
                  <a:pt x="3601" y="8359"/>
                </a:cubicBezTo>
                <a:cubicBezTo>
                  <a:pt x="3676" y="9326"/>
                  <a:pt x="3605" y="10346"/>
                  <a:pt x="3508" y="10980"/>
                </a:cubicBezTo>
                <a:lnTo>
                  <a:pt x="3237" y="11148"/>
                </a:lnTo>
                <a:cubicBezTo>
                  <a:pt x="3197" y="11104"/>
                  <a:pt x="3169" y="11082"/>
                  <a:pt x="3134" y="10998"/>
                </a:cubicBezTo>
                <a:cubicBezTo>
                  <a:pt x="3154" y="10860"/>
                  <a:pt x="3193" y="10510"/>
                  <a:pt x="3193" y="10439"/>
                </a:cubicBezTo>
                <a:lnTo>
                  <a:pt x="3178" y="10332"/>
                </a:lnTo>
                <a:cubicBezTo>
                  <a:pt x="3094" y="10811"/>
                  <a:pt x="2953" y="11277"/>
                  <a:pt x="2835" y="11548"/>
                </a:cubicBezTo>
                <a:cubicBezTo>
                  <a:pt x="2681" y="11902"/>
                  <a:pt x="2503" y="11845"/>
                  <a:pt x="2387" y="11703"/>
                </a:cubicBezTo>
                <a:cubicBezTo>
                  <a:pt x="2059" y="11295"/>
                  <a:pt x="1749" y="10408"/>
                  <a:pt x="1674" y="10173"/>
                </a:cubicBezTo>
                <a:cubicBezTo>
                  <a:pt x="1674" y="10173"/>
                  <a:pt x="1672" y="10359"/>
                  <a:pt x="1686" y="10403"/>
                </a:cubicBezTo>
                <a:cubicBezTo>
                  <a:pt x="1769" y="10780"/>
                  <a:pt x="1958" y="11454"/>
                  <a:pt x="2141" y="11929"/>
                </a:cubicBezTo>
                <a:lnTo>
                  <a:pt x="2139" y="11924"/>
                </a:lnTo>
                <a:lnTo>
                  <a:pt x="1748" y="12097"/>
                </a:lnTo>
                <a:lnTo>
                  <a:pt x="1932" y="17867"/>
                </a:lnTo>
                <a:cubicBezTo>
                  <a:pt x="1851" y="17912"/>
                  <a:pt x="1837" y="17934"/>
                  <a:pt x="1748" y="17987"/>
                </a:cubicBezTo>
                <a:cubicBezTo>
                  <a:pt x="1669" y="16869"/>
                  <a:pt x="1517" y="16138"/>
                  <a:pt x="1353" y="15712"/>
                </a:cubicBezTo>
                <a:cubicBezTo>
                  <a:pt x="1207" y="15339"/>
                  <a:pt x="1006" y="15251"/>
                  <a:pt x="814" y="15406"/>
                </a:cubicBezTo>
                <a:lnTo>
                  <a:pt x="802" y="15463"/>
                </a:lnTo>
                <a:cubicBezTo>
                  <a:pt x="935" y="15410"/>
                  <a:pt x="1093" y="15486"/>
                  <a:pt x="1256" y="15898"/>
                </a:cubicBezTo>
                <a:cubicBezTo>
                  <a:pt x="1415" y="16302"/>
                  <a:pt x="1543" y="17348"/>
                  <a:pt x="1590" y="17974"/>
                </a:cubicBezTo>
                <a:cubicBezTo>
                  <a:pt x="1650" y="18776"/>
                  <a:pt x="1692" y="19637"/>
                  <a:pt x="1529" y="20546"/>
                </a:cubicBezTo>
                <a:cubicBezTo>
                  <a:pt x="1412" y="21198"/>
                  <a:pt x="1069" y="21557"/>
                  <a:pt x="795" y="20754"/>
                </a:cubicBezTo>
                <a:cubicBezTo>
                  <a:pt x="595" y="20169"/>
                  <a:pt x="749" y="19801"/>
                  <a:pt x="349" y="18470"/>
                </a:cubicBezTo>
                <a:cubicBezTo>
                  <a:pt x="184" y="17916"/>
                  <a:pt x="243" y="16980"/>
                  <a:pt x="340" y="16390"/>
                </a:cubicBezTo>
                <a:cubicBezTo>
                  <a:pt x="469" y="15393"/>
                  <a:pt x="1133" y="14124"/>
                  <a:pt x="1095" y="12528"/>
                </a:cubicBezTo>
                <a:cubicBezTo>
                  <a:pt x="1081" y="11947"/>
                  <a:pt x="1059" y="11193"/>
                  <a:pt x="924" y="10674"/>
                </a:cubicBezTo>
                <a:cubicBezTo>
                  <a:pt x="920" y="10887"/>
                  <a:pt x="929" y="11095"/>
                  <a:pt x="929" y="11095"/>
                </a:cubicBezTo>
                <a:cubicBezTo>
                  <a:pt x="929" y="11095"/>
                  <a:pt x="873" y="10816"/>
                  <a:pt x="846" y="10430"/>
                </a:cubicBezTo>
                <a:cubicBezTo>
                  <a:pt x="819" y="10284"/>
                  <a:pt x="797" y="10235"/>
                  <a:pt x="769" y="10040"/>
                </a:cubicBezTo>
                <a:cubicBezTo>
                  <a:pt x="749" y="10266"/>
                  <a:pt x="751" y="10532"/>
                  <a:pt x="751" y="10532"/>
                </a:cubicBezTo>
                <a:cubicBezTo>
                  <a:pt x="751" y="10532"/>
                  <a:pt x="706" y="10102"/>
                  <a:pt x="699" y="9743"/>
                </a:cubicBezTo>
                <a:cubicBezTo>
                  <a:pt x="672" y="9907"/>
                  <a:pt x="666" y="10213"/>
                  <a:pt x="666" y="10213"/>
                </a:cubicBezTo>
                <a:cubicBezTo>
                  <a:pt x="666" y="10213"/>
                  <a:pt x="607" y="9538"/>
                  <a:pt x="621" y="9175"/>
                </a:cubicBezTo>
                <a:cubicBezTo>
                  <a:pt x="593" y="8860"/>
                  <a:pt x="515" y="8230"/>
                  <a:pt x="537" y="6807"/>
                </a:cubicBezTo>
                <a:cubicBezTo>
                  <a:pt x="684" y="7215"/>
                  <a:pt x="1005" y="7117"/>
                  <a:pt x="1131" y="6376"/>
                </a:cubicBezTo>
                <a:cubicBezTo>
                  <a:pt x="1173" y="6133"/>
                  <a:pt x="1201" y="5458"/>
                  <a:pt x="1110" y="4137"/>
                </a:cubicBezTo>
                <a:cubicBezTo>
                  <a:pt x="1051" y="3290"/>
                  <a:pt x="907" y="2026"/>
                  <a:pt x="850" y="1547"/>
                </a:cubicBezTo>
                <a:lnTo>
                  <a:pt x="844" y="1565"/>
                </a:lnTo>
                <a:cubicBezTo>
                  <a:pt x="873" y="1950"/>
                  <a:pt x="935" y="2758"/>
                  <a:pt x="958" y="3152"/>
                </a:cubicBezTo>
                <a:cubicBezTo>
                  <a:pt x="1029" y="4341"/>
                  <a:pt x="1048" y="4753"/>
                  <a:pt x="1015" y="5303"/>
                </a:cubicBezTo>
                <a:cubicBezTo>
                  <a:pt x="986" y="5782"/>
                  <a:pt x="919" y="6093"/>
                  <a:pt x="745" y="6443"/>
                </a:cubicBezTo>
                <a:cubicBezTo>
                  <a:pt x="573" y="6793"/>
                  <a:pt x="343" y="5942"/>
                  <a:pt x="329" y="5893"/>
                </a:cubicBezTo>
                <a:cubicBezTo>
                  <a:pt x="161" y="5352"/>
                  <a:pt x="31" y="4478"/>
                  <a:pt x="17" y="4053"/>
                </a:cubicBezTo>
                <a:cubicBezTo>
                  <a:pt x="1" y="3587"/>
                  <a:pt x="84" y="3308"/>
                  <a:pt x="125" y="2926"/>
                </a:cubicBezTo>
                <a:cubicBezTo>
                  <a:pt x="66" y="2993"/>
                  <a:pt x="0" y="3112"/>
                  <a:pt x="0" y="3112"/>
                </a:cubicBezTo>
                <a:cubicBezTo>
                  <a:pt x="0" y="3112"/>
                  <a:pt x="78" y="2789"/>
                  <a:pt x="176" y="2505"/>
                </a:cubicBezTo>
                <a:cubicBezTo>
                  <a:pt x="215" y="2398"/>
                  <a:pt x="240" y="2332"/>
                  <a:pt x="282" y="2190"/>
                </a:cubicBezTo>
                <a:cubicBezTo>
                  <a:pt x="220" y="2181"/>
                  <a:pt x="170" y="2190"/>
                  <a:pt x="170" y="2190"/>
                </a:cubicBezTo>
                <a:cubicBezTo>
                  <a:pt x="170" y="2190"/>
                  <a:pt x="272" y="1964"/>
                  <a:pt x="378" y="1804"/>
                </a:cubicBezTo>
                <a:cubicBezTo>
                  <a:pt x="299" y="1791"/>
                  <a:pt x="225" y="1804"/>
                  <a:pt x="225" y="1804"/>
                </a:cubicBezTo>
                <a:cubicBezTo>
                  <a:pt x="225" y="1804"/>
                  <a:pt x="454" y="1396"/>
                  <a:pt x="634" y="1095"/>
                </a:cubicBezTo>
                <a:cubicBezTo>
                  <a:pt x="758" y="895"/>
                  <a:pt x="878" y="953"/>
                  <a:pt x="946" y="1347"/>
                </a:cubicBezTo>
                <a:cubicBezTo>
                  <a:pt x="1036" y="1862"/>
                  <a:pt x="1130" y="2146"/>
                  <a:pt x="1328" y="2319"/>
                </a:cubicBezTo>
                <a:cubicBezTo>
                  <a:pt x="1451" y="2101"/>
                  <a:pt x="1487" y="1990"/>
                  <a:pt x="1641" y="1822"/>
                </a:cubicBezTo>
                <a:cubicBezTo>
                  <a:pt x="1776" y="1223"/>
                  <a:pt x="1882" y="1148"/>
                  <a:pt x="1882" y="1148"/>
                </a:cubicBezTo>
                <a:cubicBezTo>
                  <a:pt x="1882" y="1148"/>
                  <a:pt x="1830" y="1338"/>
                  <a:pt x="1815" y="1644"/>
                </a:cubicBezTo>
                <a:cubicBezTo>
                  <a:pt x="1892" y="1405"/>
                  <a:pt x="1975" y="1201"/>
                  <a:pt x="1975" y="1201"/>
                </a:cubicBezTo>
                <a:cubicBezTo>
                  <a:pt x="1975" y="1201"/>
                  <a:pt x="1942" y="1361"/>
                  <a:pt x="1913" y="1618"/>
                </a:cubicBezTo>
                <a:lnTo>
                  <a:pt x="1919" y="1662"/>
                </a:lnTo>
                <a:cubicBezTo>
                  <a:pt x="2009" y="1445"/>
                  <a:pt x="2114" y="1276"/>
                  <a:pt x="2114" y="1276"/>
                </a:cubicBezTo>
                <a:cubicBezTo>
                  <a:pt x="2114" y="1276"/>
                  <a:pt x="2084" y="1432"/>
                  <a:pt x="2048" y="1627"/>
                </a:cubicBezTo>
                <a:cubicBezTo>
                  <a:pt x="2116" y="1622"/>
                  <a:pt x="2253" y="1636"/>
                  <a:pt x="2306" y="1662"/>
                </a:cubicBezTo>
                <a:cubicBezTo>
                  <a:pt x="2619" y="1689"/>
                  <a:pt x="2683" y="323"/>
                  <a:pt x="2804" y="150"/>
                </a:cubicBezTo>
                <a:cubicBezTo>
                  <a:pt x="2879" y="43"/>
                  <a:pt x="2933" y="-43"/>
                  <a:pt x="3001" y="2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28.xml"/><Relationship Id="rId31" Type="http://schemas.openxmlformats.org/officeDocument/2006/relationships/slideLayout" Target="../slideLayouts/slideLayout29.xml"/><Relationship Id="rId32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1.xml"/><Relationship Id="rId34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3.xml"/><Relationship Id="rId36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5.xml"/><Relationship Id="rId38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38.xml"/><Relationship Id="rId41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0.xml"/><Relationship Id="rId43" Type="http://schemas.openxmlformats.org/officeDocument/2006/relationships/slideLayout" Target="../slideLayouts/slideLayout4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0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Google Shape;11;p1" descr="Google Shape;11;p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" name="Google Shape;12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4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44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</p:grpSp>
      <p:grpSp>
        <p:nvGrpSpPr>
          <p:cNvPr id="12" name="Google Shape;17;p1"/>
          <p:cNvGrpSpPr/>
          <p:nvPr/>
        </p:nvGrpSpPr>
        <p:grpSpPr>
          <a:xfrm>
            <a:off x="0" y="-710591"/>
            <a:ext cx="4109466" cy="479101"/>
            <a:chOff x="0" y="0"/>
            <a:chExt cx="4109465" cy="479100"/>
          </a:xfrm>
        </p:grpSpPr>
        <p:sp>
          <p:nvSpPr>
            <p:cNvPr id="5" name="Google Shape;18;p1"/>
            <p:cNvSpPr/>
            <p:nvPr/>
          </p:nvSpPr>
          <p:spPr>
            <a:xfrm>
              <a:off x="0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90000">
                  <a:srgbClr val="9C43FE"/>
                </a:gs>
                <a:gs pos="100000">
                  <a:srgbClr val="9C43FE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" name="Google Shape;19;p1"/>
            <p:cNvSpPr/>
            <p:nvPr/>
          </p:nvSpPr>
          <p:spPr>
            <a:xfrm>
              <a:off x="60506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5C00EF"/>
                </a:gs>
                <a:gs pos="30000">
                  <a:srgbClr val="5C00EF"/>
                </a:gs>
                <a:gs pos="100000">
                  <a:schemeClr val="accent2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7" name="Google Shape;20;p1"/>
            <p:cNvSpPr/>
            <p:nvPr/>
          </p:nvSpPr>
          <p:spPr>
            <a:xfrm>
              <a:off x="1210121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30000">
                  <a:schemeClr val="accent2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8" name="Google Shape;21;p1"/>
            <p:cNvSpPr/>
            <p:nvPr/>
          </p:nvSpPr>
          <p:spPr>
            <a:xfrm>
              <a:off x="181518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00B765"/>
                </a:gs>
                <a:gs pos="30000">
                  <a:srgbClr val="00B765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" name="Google Shape;22;p1"/>
            <p:cNvSpPr/>
            <p:nvPr/>
          </p:nvSpPr>
          <p:spPr>
            <a:xfrm>
              <a:off x="2420243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rgbClr val="8000FF"/>
                </a:gs>
                <a:gs pos="90000">
                  <a:schemeClr val="accent6"/>
                </a:gs>
                <a:gs pos="100000">
                  <a:schemeClr val="accent6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14000"/>
                </a:lnSpc>
                <a:defRPr sz="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0" name="Google Shape;23;p1"/>
            <p:cNvSpPr/>
            <p:nvPr/>
          </p:nvSpPr>
          <p:spPr>
            <a:xfrm>
              <a:off x="3025304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6"/>
                </a:gs>
                <a:gs pos="30000">
                  <a:schemeClr val="accent6"/>
                </a:gs>
                <a:gs pos="90000">
                  <a:schemeClr val="accent3"/>
                </a:gs>
                <a:gs pos="100000">
                  <a:schemeClr val="accent3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" name="Google Shape;24;p1"/>
            <p:cNvSpPr/>
            <p:nvPr/>
          </p:nvSpPr>
          <p:spPr>
            <a:xfrm>
              <a:off x="3630365" y="-1"/>
              <a:ext cx="479101" cy="479102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30000">
                  <a:schemeClr val="accent3"/>
                </a:gs>
                <a:gs pos="90000">
                  <a:schemeClr val="accent5"/>
                </a:gs>
                <a:gs pos="100000">
                  <a:schemeClr val="accent5"/>
                </a:gs>
              </a:gsLst>
              <a:lin ang="2698631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3" name="Google Shape;25;p1"/>
          <p:cNvSpPr/>
          <p:nvPr/>
        </p:nvSpPr>
        <p:spPr>
          <a:xfrm>
            <a:off x="10585766" y="6450774"/>
            <a:ext cx="1080115" cy="2747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33" fill="norm" stroke="1" extrusionOk="0">
                <a:moveTo>
                  <a:pt x="4627" y="12440"/>
                </a:moveTo>
                <a:lnTo>
                  <a:pt x="4750" y="17639"/>
                </a:lnTo>
                <a:lnTo>
                  <a:pt x="2635" y="19175"/>
                </a:lnTo>
                <a:lnTo>
                  <a:pt x="2616" y="18439"/>
                </a:lnTo>
                <a:lnTo>
                  <a:pt x="3005" y="16103"/>
                </a:lnTo>
                <a:lnTo>
                  <a:pt x="3447" y="16610"/>
                </a:lnTo>
                <a:lnTo>
                  <a:pt x="3827" y="14112"/>
                </a:lnTo>
                <a:lnTo>
                  <a:pt x="4281" y="15293"/>
                </a:lnTo>
                <a:lnTo>
                  <a:pt x="4281" y="15295"/>
                </a:lnTo>
                <a:lnTo>
                  <a:pt x="4282" y="15295"/>
                </a:lnTo>
                <a:lnTo>
                  <a:pt x="4281" y="15293"/>
                </a:lnTo>
                <a:close/>
                <a:moveTo>
                  <a:pt x="4755" y="11377"/>
                </a:moveTo>
                <a:lnTo>
                  <a:pt x="3365" y="12368"/>
                </a:lnTo>
                <a:cubicBezTo>
                  <a:pt x="3332" y="12542"/>
                  <a:pt x="3246" y="12849"/>
                  <a:pt x="3205" y="12929"/>
                </a:cubicBezTo>
                <a:cubicBezTo>
                  <a:pt x="3030" y="13274"/>
                  <a:pt x="2911" y="13176"/>
                  <a:pt x="2808" y="13070"/>
                </a:cubicBezTo>
                <a:cubicBezTo>
                  <a:pt x="2742" y="13006"/>
                  <a:pt x="2705" y="12968"/>
                  <a:pt x="2649" y="12870"/>
                </a:cubicBezTo>
                <a:lnTo>
                  <a:pt x="2310" y="13053"/>
                </a:lnTo>
                <a:lnTo>
                  <a:pt x="2310" y="13057"/>
                </a:lnTo>
                <a:lnTo>
                  <a:pt x="2515" y="19822"/>
                </a:lnTo>
                <a:lnTo>
                  <a:pt x="4897" y="18133"/>
                </a:lnTo>
                <a:close/>
                <a:moveTo>
                  <a:pt x="3698" y="9185"/>
                </a:moveTo>
                <a:cubicBezTo>
                  <a:pt x="3739" y="9275"/>
                  <a:pt x="3739" y="9551"/>
                  <a:pt x="3711" y="9811"/>
                </a:cubicBezTo>
                <a:cubicBezTo>
                  <a:pt x="3670" y="10185"/>
                  <a:pt x="3612" y="10598"/>
                  <a:pt x="3546" y="10632"/>
                </a:cubicBezTo>
                <a:cubicBezTo>
                  <a:pt x="3437" y="10692"/>
                  <a:pt x="3336" y="10462"/>
                  <a:pt x="3219" y="10117"/>
                </a:cubicBezTo>
                <a:cubicBezTo>
                  <a:pt x="3178" y="9994"/>
                  <a:pt x="3152" y="9696"/>
                  <a:pt x="3208" y="9526"/>
                </a:cubicBezTo>
                <a:cubicBezTo>
                  <a:pt x="3239" y="9428"/>
                  <a:pt x="3380" y="9249"/>
                  <a:pt x="3511" y="9190"/>
                </a:cubicBezTo>
                <a:cubicBezTo>
                  <a:pt x="3579" y="9160"/>
                  <a:pt x="3677" y="9139"/>
                  <a:pt x="3698" y="9185"/>
                </a:cubicBezTo>
                <a:close/>
                <a:moveTo>
                  <a:pt x="15082" y="7671"/>
                </a:moveTo>
                <a:lnTo>
                  <a:pt x="15082" y="13878"/>
                </a:lnTo>
                <a:lnTo>
                  <a:pt x="15595" y="13878"/>
                </a:lnTo>
                <a:cubicBezTo>
                  <a:pt x="16078" y="13878"/>
                  <a:pt x="16321" y="12759"/>
                  <a:pt x="16321" y="10526"/>
                </a:cubicBezTo>
                <a:cubicBezTo>
                  <a:pt x="16321" y="8624"/>
                  <a:pt x="16078" y="7671"/>
                  <a:pt x="15595" y="7671"/>
                </a:cubicBezTo>
                <a:close/>
                <a:moveTo>
                  <a:pt x="6458" y="7671"/>
                </a:moveTo>
                <a:lnTo>
                  <a:pt x="6458" y="13878"/>
                </a:lnTo>
                <a:lnTo>
                  <a:pt x="6971" y="13878"/>
                </a:lnTo>
                <a:cubicBezTo>
                  <a:pt x="7454" y="13878"/>
                  <a:pt x="7695" y="12759"/>
                  <a:pt x="7695" y="10526"/>
                </a:cubicBezTo>
                <a:cubicBezTo>
                  <a:pt x="7695" y="8624"/>
                  <a:pt x="7454" y="7671"/>
                  <a:pt x="6971" y="7671"/>
                </a:cubicBezTo>
                <a:close/>
                <a:moveTo>
                  <a:pt x="18214" y="7598"/>
                </a:moveTo>
                <a:cubicBezTo>
                  <a:pt x="17745" y="7598"/>
                  <a:pt x="17493" y="8645"/>
                  <a:pt x="17493" y="10743"/>
                </a:cubicBezTo>
                <a:cubicBezTo>
                  <a:pt x="17493" y="12840"/>
                  <a:pt x="17733" y="13933"/>
                  <a:pt x="18214" y="13933"/>
                </a:cubicBezTo>
                <a:cubicBezTo>
                  <a:pt x="18684" y="13933"/>
                  <a:pt x="18918" y="12870"/>
                  <a:pt x="18918" y="10743"/>
                </a:cubicBezTo>
                <a:cubicBezTo>
                  <a:pt x="18918" y="8615"/>
                  <a:pt x="18684" y="7598"/>
                  <a:pt x="18214" y="7598"/>
                </a:cubicBezTo>
                <a:close/>
                <a:moveTo>
                  <a:pt x="2441" y="6390"/>
                </a:moveTo>
                <a:cubicBezTo>
                  <a:pt x="2513" y="6396"/>
                  <a:pt x="2559" y="6475"/>
                  <a:pt x="2540" y="6543"/>
                </a:cubicBezTo>
                <a:cubicBezTo>
                  <a:pt x="2470" y="6807"/>
                  <a:pt x="2564" y="6731"/>
                  <a:pt x="2574" y="7216"/>
                </a:cubicBezTo>
                <a:cubicBezTo>
                  <a:pt x="2581" y="7573"/>
                  <a:pt x="2552" y="7773"/>
                  <a:pt x="2526" y="7884"/>
                </a:cubicBezTo>
                <a:cubicBezTo>
                  <a:pt x="2472" y="7909"/>
                  <a:pt x="2407" y="7964"/>
                  <a:pt x="2329" y="8062"/>
                </a:cubicBezTo>
                <a:cubicBezTo>
                  <a:pt x="2283" y="8122"/>
                  <a:pt x="2243" y="8190"/>
                  <a:pt x="2207" y="8254"/>
                </a:cubicBezTo>
                <a:cubicBezTo>
                  <a:pt x="2198" y="8228"/>
                  <a:pt x="2188" y="8203"/>
                  <a:pt x="2176" y="8160"/>
                </a:cubicBezTo>
                <a:cubicBezTo>
                  <a:pt x="2056" y="7747"/>
                  <a:pt x="2059" y="7024"/>
                  <a:pt x="2186" y="6684"/>
                </a:cubicBezTo>
                <a:cubicBezTo>
                  <a:pt x="2271" y="6454"/>
                  <a:pt x="2369" y="6385"/>
                  <a:pt x="2441" y="6390"/>
                </a:cubicBezTo>
                <a:close/>
                <a:moveTo>
                  <a:pt x="14650" y="6199"/>
                </a:moveTo>
                <a:lnTo>
                  <a:pt x="15660" y="6199"/>
                </a:lnTo>
                <a:cubicBezTo>
                  <a:pt x="16388" y="6199"/>
                  <a:pt x="16752" y="7641"/>
                  <a:pt x="16752" y="10526"/>
                </a:cubicBezTo>
                <a:cubicBezTo>
                  <a:pt x="16752" y="13742"/>
                  <a:pt x="16389" y="15350"/>
                  <a:pt x="15660" y="15350"/>
                </a:cubicBezTo>
                <a:lnTo>
                  <a:pt x="15660" y="15346"/>
                </a:lnTo>
                <a:lnTo>
                  <a:pt x="14650" y="15346"/>
                </a:lnTo>
                <a:close/>
                <a:moveTo>
                  <a:pt x="6026" y="6199"/>
                </a:moveTo>
                <a:lnTo>
                  <a:pt x="7036" y="6199"/>
                </a:lnTo>
                <a:cubicBezTo>
                  <a:pt x="7764" y="6199"/>
                  <a:pt x="8128" y="7641"/>
                  <a:pt x="8128" y="10526"/>
                </a:cubicBezTo>
                <a:cubicBezTo>
                  <a:pt x="8128" y="13742"/>
                  <a:pt x="7764" y="15350"/>
                  <a:pt x="7036" y="15350"/>
                </a:cubicBezTo>
                <a:lnTo>
                  <a:pt x="7036" y="15346"/>
                </a:lnTo>
                <a:lnTo>
                  <a:pt x="6026" y="15346"/>
                </a:lnTo>
                <a:close/>
                <a:moveTo>
                  <a:pt x="12890" y="6195"/>
                </a:moveTo>
                <a:lnTo>
                  <a:pt x="13354" y="6195"/>
                </a:lnTo>
                <a:lnTo>
                  <a:pt x="14364" y="15346"/>
                </a:lnTo>
                <a:lnTo>
                  <a:pt x="13899" y="15346"/>
                </a:lnTo>
                <a:lnTo>
                  <a:pt x="13606" y="12849"/>
                </a:lnTo>
                <a:lnTo>
                  <a:pt x="12860" y="12849"/>
                </a:lnTo>
                <a:lnTo>
                  <a:pt x="13008" y="11377"/>
                </a:lnTo>
                <a:lnTo>
                  <a:pt x="13493" y="11377"/>
                </a:lnTo>
                <a:lnTo>
                  <a:pt x="13111" y="7943"/>
                </a:lnTo>
                <a:lnTo>
                  <a:pt x="12345" y="15346"/>
                </a:lnTo>
                <a:lnTo>
                  <a:pt x="11902" y="15346"/>
                </a:lnTo>
                <a:close/>
                <a:moveTo>
                  <a:pt x="10356" y="6195"/>
                </a:moveTo>
                <a:lnTo>
                  <a:pt x="12123" y="6195"/>
                </a:lnTo>
                <a:lnTo>
                  <a:pt x="12123" y="7667"/>
                </a:lnTo>
                <a:lnTo>
                  <a:pt x="11455" y="7667"/>
                </a:lnTo>
                <a:lnTo>
                  <a:pt x="11455" y="15346"/>
                </a:lnTo>
                <a:lnTo>
                  <a:pt x="11024" y="15346"/>
                </a:lnTo>
                <a:lnTo>
                  <a:pt x="11024" y="7667"/>
                </a:lnTo>
                <a:lnTo>
                  <a:pt x="10356" y="7667"/>
                </a:lnTo>
                <a:close/>
                <a:moveTo>
                  <a:pt x="9124" y="6195"/>
                </a:moveTo>
                <a:lnTo>
                  <a:pt x="9589" y="6195"/>
                </a:lnTo>
                <a:lnTo>
                  <a:pt x="10599" y="15346"/>
                </a:lnTo>
                <a:lnTo>
                  <a:pt x="10135" y="15346"/>
                </a:lnTo>
                <a:lnTo>
                  <a:pt x="9842" y="12849"/>
                </a:lnTo>
                <a:lnTo>
                  <a:pt x="9096" y="12849"/>
                </a:lnTo>
                <a:lnTo>
                  <a:pt x="9244" y="11377"/>
                </a:lnTo>
                <a:lnTo>
                  <a:pt x="9728" y="11377"/>
                </a:lnTo>
                <a:lnTo>
                  <a:pt x="9347" y="7943"/>
                </a:lnTo>
                <a:lnTo>
                  <a:pt x="8580" y="15346"/>
                </a:lnTo>
                <a:lnTo>
                  <a:pt x="8136" y="15346"/>
                </a:lnTo>
                <a:close/>
                <a:moveTo>
                  <a:pt x="20915" y="6135"/>
                </a:moveTo>
                <a:cubicBezTo>
                  <a:pt x="21170" y="6135"/>
                  <a:pt x="21398" y="6284"/>
                  <a:pt x="21599" y="6582"/>
                </a:cubicBezTo>
                <a:lnTo>
                  <a:pt x="21599" y="8118"/>
                </a:lnTo>
                <a:cubicBezTo>
                  <a:pt x="21398" y="7773"/>
                  <a:pt x="21181" y="7603"/>
                  <a:pt x="20947" y="7603"/>
                </a:cubicBezTo>
                <a:cubicBezTo>
                  <a:pt x="20388" y="7603"/>
                  <a:pt x="20108" y="8615"/>
                  <a:pt x="20108" y="10645"/>
                </a:cubicBezTo>
                <a:cubicBezTo>
                  <a:pt x="20108" y="12840"/>
                  <a:pt x="20372" y="13938"/>
                  <a:pt x="20900" y="13938"/>
                </a:cubicBezTo>
                <a:cubicBezTo>
                  <a:pt x="20977" y="13938"/>
                  <a:pt x="21067" y="13887"/>
                  <a:pt x="21167" y="13785"/>
                </a:cubicBezTo>
                <a:lnTo>
                  <a:pt x="21167" y="11653"/>
                </a:lnTo>
                <a:lnTo>
                  <a:pt x="21169" y="11653"/>
                </a:lnTo>
                <a:lnTo>
                  <a:pt x="21167" y="11640"/>
                </a:lnTo>
                <a:lnTo>
                  <a:pt x="21167" y="11653"/>
                </a:lnTo>
                <a:lnTo>
                  <a:pt x="20757" y="11653"/>
                </a:lnTo>
                <a:lnTo>
                  <a:pt x="20903" y="10147"/>
                </a:lnTo>
                <a:lnTo>
                  <a:pt x="21600" y="10147"/>
                </a:lnTo>
                <a:lnTo>
                  <a:pt x="21600" y="14933"/>
                </a:lnTo>
                <a:cubicBezTo>
                  <a:pt x="21412" y="15257"/>
                  <a:pt x="21177" y="15418"/>
                  <a:pt x="20894" y="15418"/>
                </a:cubicBezTo>
                <a:cubicBezTo>
                  <a:pt x="20071" y="15418"/>
                  <a:pt x="19661" y="13827"/>
                  <a:pt x="19661" y="10649"/>
                </a:cubicBezTo>
                <a:cubicBezTo>
                  <a:pt x="19661" y="7637"/>
                  <a:pt x="20079" y="6135"/>
                  <a:pt x="20915" y="6135"/>
                </a:cubicBezTo>
                <a:close/>
                <a:moveTo>
                  <a:pt x="18214" y="6126"/>
                </a:moveTo>
                <a:cubicBezTo>
                  <a:pt x="18994" y="6126"/>
                  <a:pt x="19366" y="7675"/>
                  <a:pt x="19366" y="10781"/>
                </a:cubicBezTo>
                <a:cubicBezTo>
                  <a:pt x="19366" y="13887"/>
                  <a:pt x="18982" y="15410"/>
                  <a:pt x="18214" y="15410"/>
                </a:cubicBezTo>
                <a:cubicBezTo>
                  <a:pt x="17447" y="15410"/>
                  <a:pt x="17079" y="13865"/>
                  <a:pt x="17045" y="10781"/>
                </a:cubicBezTo>
                <a:cubicBezTo>
                  <a:pt x="17045" y="7679"/>
                  <a:pt x="17435" y="6126"/>
                  <a:pt x="18214" y="6126"/>
                </a:cubicBezTo>
                <a:close/>
                <a:moveTo>
                  <a:pt x="3405" y="5888"/>
                </a:moveTo>
                <a:cubicBezTo>
                  <a:pt x="3564" y="6182"/>
                  <a:pt x="3543" y="6735"/>
                  <a:pt x="3548" y="7062"/>
                </a:cubicBezTo>
                <a:cubicBezTo>
                  <a:pt x="3549" y="7156"/>
                  <a:pt x="3549" y="7220"/>
                  <a:pt x="3547" y="7262"/>
                </a:cubicBezTo>
                <a:cubicBezTo>
                  <a:pt x="3524" y="7216"/>
                  <a:pt x="3489" y="7182"/>
                  <a:pt x="3434" y="7190"/>
                </a:cubicBezTo>
                <a:cubicBezTo>
                  <a:pt x="3418" y="7194"/>
                  <a:pt x="3402" y="7203"/>
                  <a:pt x="3387" y="7211"/>
                </a:cubicBezTo>
                <a:cubicBezTo>
                  <a:pt x="3328" y="7088"/>
                  <a:pt x="3294" y="6845"/>
                  <a:pt x="3261" y="6586"/>
                </a:cubicBezTo>
                <a:lnTo>
                  <a:pt x="3254" y="6522"/>
                </a:lnTo>
                <a:lnTo>
                  <a:pt x="3249" y="6492"/>
                </a:lnTo>
                <a:lnTo>
                  <a:pt x="3249" y="6480"/>
                </a:lnTo>
                <a:cubicBezTo>
                  <a:pt x="3232" y="6258"/>
                  <a:pt x="3244" y="6216"/>
                  <a:pt x="3252" y="6148"/>
                </a:cubicBezTo>
                <a:lnTo>
                  <a:pt x="3252" y="6143"/>
                </a:lnTo>
                <a:cubicBezTo>
                  <a:pt x="3259" y="6075"/>
                  <a:pt x="3287" y="6020"/>
                  <a:pt x="3245" y="5961"/>
                </a:cubicBezTo>
                <a:cubicBezTo>
                  <a:pt x="3242" y="5956"/>
                  <a:pt x="3238" y="5948"/>
                  <a:pt x="3232" y="5948"/>
                </a:cubicBezTo>
                <a:cubicBezTo>
                  <a:pt x="3260" y="5812"/>
                  <a:pt x="3345" y="5778"/>
                  <a:pt x="3405" y="5888"/>
                </a:cubicBezTo>
                <a:close/>
                <a:moveTo>
                  <a:pt x="4491" y="0"/>
                </a:moveTo>
                <a:lnTo>
                  <a:pt x="4755" y="10721"/>
                </a:lnTo>
                <a:lnTo>
                  <a:pt x="4892" y="10619"/>
                </a:lnTo>
                <a:lnTo>
                  <a:pt x="4894" y="10615"/>
                </a:lnTo>
                <a:lnTo>
                  <a:pt x="5113" y="19060"/>
                </a:lnTo>
                <a:lnTo>
                  <a:pt x="2416" y="20336"/>
                </a:lnTo>
                <a:lnTo>
                  <a:pt x="2358" y="18690"/>
                </a:lnTo>
                <a:lnTo>
                  <a:pt x="2194" y="18784"/>
                </a:lnTo>
                <a:cubicBezTo>
                  <a:pt x="2208" y="19698"/>
                  <a:pt x="2153" y="20570"/>
                  <a:pt x="2051" y="20987"/>
                </a:cubicBezTo>
                <a:cubicBezTo>
                  <a:pt x="1931" y="21477"/>
                  <a:pt x="1756" y="21600"/>
                  <a:pt x="1571" y="21502"/>
                </a:cubicBezTo>
                <a:cubicBezTo>
                  <a:pt x="1446" y="21438"/>
                  <a:pt x="1353" y="21085"/>
                  <a:pt x="1285" y="20651"/>
                </a:cubicBezTo>
                <a:cubicBezTo>
                  <a:pt x="1541" y="21362"/>
                  <a:pt x="1858" y="21034"/>
                  <a:pt x="1966" y="20439"/>
                </a:cubicBezTo>
                <a:cubicBezTo>
                  <a:pt x="2119" y="19605"/>
                  <a:pt x="2079" y="18813"/>
                  <a:pt x="2023" y="18077"/>
                </a:cubicBezTo>
                <a:cubicBezTo>
                  <a:pt x="1978" y="17499"/>
                  <a:pt x="1858" y="16541"/>
                  <a:pt x="1709" y="16171"/>
                </a:cubicBezTo>
                <a:cubicBezTo>
                  <a:pt x="1558" y="15793"/>
                  <a:pt x="1410" y="15720"/>
                  <a:pt x="1284" y="15771"/>
                </a:cubicBezTo>
                <a:lnTo>
                  <a:pt x="1296" y="15720"/>
                </a:lnTo>
                <a:cubicBezTo>
                  <a:pt x="1477" y="15580"/>
                  <a:pt x="1665" y="15656"/>
                  <a:pt x="1801" y="16001"/>
                </a:cubicBezTo>
                <a:cubicBezTo>
                  <a:pt x="1955" y="16393"/>
                  <a:pt x="2097" y="17065"/>
                  <a:pt x="2171" y="18094"/>
                </a:cubicBezTo>
                <a:cubicBezTo>
                  <a:pt x="2255" y="18048"/>
                  <a:pt x="2267" y="18026"/>
                  <a:pt x="2344" y="17984"/>
                </a:cubicBezTo>
                <a:lnTo>
                  <a:pt x="2171" y="12683"/>
                </a:lnTo>
                <a:lnTo>
                  <a:pt x="2537" y="12525"/>
                </a:lnTo>
                <a:cubicBezTo>
                  <a:pt x="2365" y="12091"/>
                  <a:pt x="2188" y="11470"/>
                  <a:pt x="2110" y="11125"/>
                </a:cubicBezTo>
                <a:cubicBezTo>
                  <a:pt x="2097" y="11087"/>
                  <a:pt x="2099" y="10917"/>
                  <a:pt x="2099" y="10917"/>
                </a:cubicBezTo>
                <a:cubicBezTo>
                  <a:pt x="2170" y="11130"/>
                  <a:pt x="2460" y="11947"/>
                  <a:pt x="2767" y="12321"/>
                </a:cubicBezTo>
                <a:cubicBezTo>
                  <a:pt x="2875" y="12453"/>
                  <a:pt x="3042" y="12504"/>
                  <a:pt x="3187" y="12181"/>
                </a:cubicBezTo>
                <a:cubicBezTo>
                  <a:pt x="3297" y="11934"/>
                  <a:pt x="3430" y="11504"/>
                  <a:pt x="3509" y="11062"/>
                </a:cubicBezTo>
                <a:lnTo>
                  <a:pt x="3523" y="11160"/>
                </a:lnTo>
                <a:cubicBezTo>
                  <a:pt x="3523" y="11228"/>
                  <a:pt x="3486" y="11547"/>
                  <a:pt x="3468" y="11674"/>
                </a:cubicBezTo>
                <a:cubicBezTo>
                  <a:pt x="3501" y="11751"/>
                  <a:pt x="3526" y="11768"/>
                  <a:pt x="3564" y="11810"/>
                </a:cubicBezTo>
                <a:lnTo>
                  <a:pt x="3819" y="11653"/>
                </a:lnTo>
                <a:cubicBezTo>
                  <a:pt x="3910" y="11074"/>
                  <a:pt x="3976" y="10134"/>
                  <a:pt x="3906" y="9245"/>
                </a:cubicBezTo>
                <a:cubicBezTo>
                  <a:pt x="3866" y="8734"/>
                  <a:pt x="3658" y="7713"/>
                  <a:pt x="3643" y="7658"/>
                </a:cubicBezTo>
                <a:cubicBezTo>
                  <a:pt x="3590" y="7462"/>
                  <a:pt x="3652" y="6701"/>
                  <a:pt x="3548" y="5867"/>
                </a:cubicBezTo>
                <a:cubicBezTo>
                  <a:pt x="3439" y="4986"/>
                  <a:pt x="3154" y="4067"/>
                  <a:pt x="3030" y="3667"/>
                </a:cubicBezTo>
                <a:cubicBezTo>
                  <a:pt x="3067" y="3769"/>
                  <a:pt x="3290" y="4127"/>
                  <a:pt x="3395" y="4625"/>
                </a:cubicBezTo>
                <a:cubicBezTo>
                  <a:pt x="3405" y="4574"/>
                  <a:pt x="3409" y="4306"/>
                  <a:pt x="3418" y="4237"/>
                </a:cubicBezTo>
                <a:cubicBezTo>
                  <a:pt x="3328" y="3778"/>
                  <a:pt x="3321" y="2953"/>
                  <a:pt x="3321" y="2731"/>
                </a:cubicBezTo>
                <a:cubicBezTo>
                  <a:pt x="3321" y="2327"/>
                  <a:pt x="3269" y="1868"/>
                  <a:pt x="3269" y="1868"/>
                </a:cubicBezTo>
                <a:cubicBezTo>
                  <a:pt x="3269" y="1868"/>
                  <a:pt x="3360" y="2149"/>
                  <a:pt x="3382" y="2629"/>
                </a:cubicBezTo>
                <a:cubicBezTo>
                  <a:pt x="3409" y="3199"/>
                  <a:pt x="3468" y="3650"/>
                  <a:pt x="3546" y="4029"/>
                </a:cubicBezTo>
                <a:cubicBezTo>
                  <a:pt x="3693" y="4748"/>
                  <a:pt x="3824" y="5114"/>
                  <a:pt x="3892" y="4850"/>
                </a:cubicBezTo>
                <a:cubicBezTo>
                  <a:pt x="3971" y="4531"/>
                  <a:pt x="3812" y="3106"/>
                  <a:pt x="3605" y="2310"/>
                </a:cubicBezTo>
                <a:cubicBezTo>
                  <a:pt x="3365" y="1383"/>
                  <a:pt x="3301" y="1502"/>
                  <a:pt x="3161" y="1702"/>
                </a:cubicBezTo>
                <a:cubicBezTo>
                  <a:pt x="3048" y="1859"/>
                  <a:pt x="2988" y="3119"/>
                  <a:pt x="2695" y="3093"/>
                </a:cubicBezTo>
                <a:cubicBezTo>
                  <a:pt x="2645" y="3072"/>
                  <a:pt x="2517" y="3059"/>
                  <a:pt x="2454" y="3059"/>
                </a:cubicBezTo>
                <a:cubicBezTo>
                  <a:pt x="2487" y="2880"/>
                  <a:pt x="2515" y="2740"/>
                  <a:pt x="2515" y="2740"/>
                </a:cubicBezTo>
                <a:cubicBezTo>
                  <a:pt x="2515" y="2740"/>
                  <a:pt x="2417" y="2897"/>
                  <a:pt x="2334" y="3093"/>
                </a:cubicBezTo>
                <a:lnTo>
                  <a:pt x="2327" y="3055"/>
                </a:lnTo>
                <a:cubicBezTo>
                  <a:pt x="2355" y="2821"/>
                  <a:pt x="2386" y="2672"/>
                  <a:pt x="2386" y="2672"/>
                </a:cubicBezTo>
                <a:cubicBezTo>
                  <a:pt x="2386" y="2672"/>
                  <a:pt x="2307" y="2859"/>
                  <a:pt x="2235" y="3080"/>
                </a:cubicBezTo>
                <a:cubicBezTo>
                  <a:pt x="2248" y="2804"/>
                  <a:pt x="2298" y="2625"/>
                  <a:pt x="2298" y="2625"/>
                </a:cubicBezTo>
                <a:cubicBezTo>
                  <a:pt x="2298" y="2625"/>
                  <a:pt x="2199" y="2693"/>
                  <a:pt x="2072" y="3242"/>
                </a:cubicBezTo>
                <a:cubicBezTo>
                  <a:pt x="1928" y="3395"/>
                  <a:pt x="1894" y="3497"/>
                  <a:pt x="1779" y="3697"/>
                </a:cubicBezTo>
                <a:cubicBezTo>
                  <a:pt x="1593" y="3535"/>
                  <a:pt x="1505" y="3280"/>
                  <a:pt x="1421" y="2804"/>
                </a:cubicBezTo>
                <a:cubicBezTo>
                  <a:pt x="1358" y="2442"/>
                  <a:pt x="1244" y="2387"/>
                  <a:pt x="1129" y="2574"/>
                </a:cubicBezTo>
                <a:cubicBezTo>
                  <a:pt x="960" y="2846"/>
                  <a:pt x="746" y="3225"/>
                  <a:pt x="746" y="3225"/>
                </a:cubicBezTo>
                <a:cubicBezTo>
                  <a:pt x="746" y="3225"/>
                  <a:pt x="816" y="3212"/>
                  <a:pt x="889" y="3225"/>
                </a:cubicBezTo>
                <a:cubicBezTo>
                  <a:pt x="790" y="3374"/>
                  <a:pt x="694" y="3578"/>
                  <a:pt x="694" y="3578"/>
                </a:cubicBezTo>
                <a:cubicBezTo>
                  <a:pt x="694" y="3578"/>
                  <a:pt x="740" y="3578"/>
                  <a:pt x="798" y="3578"/>
                </a:cubicBezTo>
                <a:cubicBezTo>
                  <a:pt x="758" y="3706"/>
                  <a:pt x="736" y="3769"/>
                  <a:pt x="698" y="3867"/>
                </a:cubicBezTo>
                <a:cubicBezTo>
                  <a:pt x="608" y="4127"/>
                  <a:pt x="534" y="4429"/>
                  <a:pt x="534" y="4429"/>
                </a:cubicBezTo>
                <a:cubicBezTo>
                  <a:pt x="534" y="4429"/>
                  <a:pt x="596" y="4318"/>
                  <a:pt x="651" y="4254"/>
                </a:cubicBezTo>
                <a:cubicBezTo>
                  <a:pt x="612" y="4603"/>
                  <a:pt x="535" y="4859"/>
                  <a:pt x="549" y="5288"/>
                </a:cubicBezTo>
                <a:cubicBezTo>
                  <a:pt x="563" y="5680"/>
                  <a:pt x="684" y="6484"/>
                  <a:pt x="842" y="6977"/>
                </a:cubicBezTo>
                <a:cubicBezTo>
                  <a:pt x="855" y="7024"/>
                  <a:pt x="1070" y="7803"/>
                  <a:pt x="1232" y="7484"/>
                </a:cubicBezTo>
                <a:cubicBezTo>
                  <a:pt x="1394" y="7160"/>
                  <a:pt x="1458" y="6875"/>
                  <a:pt x="1485" y="6437"/>
                </a:cubicBezTo>
                <a:cubicBezTo>
                  <a:pt x="1517" y="5931"/>
                  <a:pt x="1499" y="5552"/>
                  <a:pt x="1432" y="4459"/>
                </a:cubicBezTo>
                <a:cubicBezTo>
                  <a:pt x="1411" y="4097"/>
                  <a:pt x="1353" y="3353"/>
                  <a:pt x="1325" y="2999"/>
                </a:cubicBezTo>
                <a:lnTo>
                  <a:pt x="1332" y="2982"/>
                </a:lnTo>
                <a:cubicBezTo>
                  <a:pt x="1385" y="3421"/>
                  <a:pt x="1520" y="4582"/>
                  <a:pt x="1575" y="5361"/>
                </a:cubicBezTo>
                <a:cubicBezTo>
                  <a:pt x="1660" y="6577"/>
                  <a:pt x="1633" y="7194"/>
                  <a:pt x="1594" y="7420"/>
                </a:cubicBezTo>
                <a:cubicBezTo>
                  <a:pt x="1477" y="8105"/>
                  <a:pt x="1175" y="8194"/>
                  <a:pt x="1038" y="7816"/>
                </a:cubicBezTo>
                <a:cubicBezTo>
                  <a:pt x="1016" y="9122"/>
                  <a:pt x="1091" y="9700"/>
                  <a:pt x="1116" y="9990"/>
                </a:cubicBezTo>
                <a:cubicBezTo>
                  <a:pt x="1103" y="10321"/>
                  <a:pt x="1158" y="10943"/>
                  <a:pt x="1158" y="10943"/>
                </a:cubicBezTo>
                <a:cubicBezTo>
                  <a:pt x="1158" y="10943"/>
                  <a:pt x="1164" y="10662"/>
                  <a:pt x="1189" y="10513"/>
                </a:cubicBezTo>
                <a:cubicBezTo>
                  <a:pt x="1196" y="10845"/>
                  <a:pt x="1238" y="11236"/>
                  <a:pt x="1238" y="11236"/>
                </a:cubicBezTo>
                <a:cubicBezTo>
                  <a:pt x="1238" y="11236"/>
                  <a:pt x="1234" y="10994"/>
                  <a:pt x="1254" y="10785"/>
                </a:cubicBezTo>
                <a:cubicBezTo>
                  <a:pt x="1281" y="10968"/>
                  <a:pt x="1300" y="11011"/>
                  <a:pt x="1326" y="11147"/>
                </a:cubicBezTo>
                <a:cubicBezTo>
                  <a:pt x="1351" y="11500"/>
                  <a:pt x="1403" y="11759"/>
                  <a:pt x="1403" y="11759"/>
                </a:cubicBezTo>
                <a:cubicBezTo>
                  <a:pt x="1403" y="11759"/>
                  <a:pt x="1394" y="11568"/>
                  <a:pt x="1399" y="11372"/>
                </a:cubicBezTo>
                <a:cubicBezTo>
                  <a:pt x="1524" y="11844"/>
                  <a:pt x="1546" y="12542"/>
                  <a:pt x="1559" y="13074"/>
                </a:cubicBezTo>
                <a:cubicBezTo>
                  <a:pt x="1594" y="14542"/>
                  <a:pt x="972" y="15708"/>
                  <a:pt x="851" y="16627"/>
                </a:cubicBezTo>
                <a:cubicBezTo>
                  <a:pt x="759" y="17171"/>
                  <a:pt x="705" y="18031"/>
                  <a:pt x="859" y="18537"/>
                </a:cubicBezTo>
                <a:cubicBezTo>
                  <a:pt x="972" y="18898"/>
                  <a:pt x="1037" y="19183"/>
                  <a:pt x="1079" y="19422"/>
                </a:cubicBezTo>
                <a:lnTo>
                  <a:pt x="553" y="19724"/>
                </a:lnTo>
                <a:lnTo>
                  <a:pt x="0" y="2051"/>
                </a:lnTo>
                <a:close/>
              </a:path>
            </a:pathLst>
          </a:custGeom>
          <a:solidFill>
            <a:srgbClr val="632CA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14" name="Title Text"/>
          <p:cNvSpPr txBox="1"/>
          <p:nvPr>
            <p:ph type="title"/>
          </p:nvPr>
        </p:nvSpPr>
        <p:spPr>
          <a:xfrm>
            <a:off x="695323" y="357808"/>
            <a:ext cx="10795003" cy="868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5" name="Body Level One…"/>
          <p:cNvSpPr txBox="1"/>
          <p:nvPr>
            <p:ph type="body" idx="1"/>
          </p:nvPr>
        </p:nvSpPr>
        <p:spPr>
          <a:xfrm>
            <a:off x="684276" y="1399032"/>
            <a:ext cx="10782301" cy="484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/>
          <p:nvPr>
            <p:ph type="sldNum" sz="quarter" idx="2"/>
          </p:nvPr>
        </p:nvSpPr>
        <p:spPr>
          <a:xfrm>
            <a:off x="11844528" y="6508466"/>
            <a:ext cx="153963" cy="1524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defRPr sz="1000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9pPr>
    </p:titleStyle>
    <p:bodyStyle>
      <a:lvl1pPr marL="228600" marR="0" indent="0" algn="l" defTabSz="914400" rtl="0" latinLnBrk="0">
        <a:lnSpc>
          <a:spcPct val="11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1pPr>
      <a:lvl2pPr marL="914400" marR="0" indent="-355600" algn="l" defTabSz="914400" rtl="0" latinLnBrk="0">
        <a:lnSpc>
          <a:spcPct val="114000"/>
        </a:lnSpc>
        <a:spcBef>
          <a:spcPts val="0"/>
        </a:spcBef>
        <a:spcAft>
          <a:spcPts val="0"/>
        </a:spcAft>
        <a:buClrTx/>
        <a:buSzPts val="2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2pPr>
      <a:lvl3pPr marL="1409700" marR="0" indent="-381000" algn="l" defTabSz="914400" rtl="0" latinLnBrk="0">
        <a:lnSpc>
          <a:spcPct val="114000"/>
        </a:lnSpc>
        <a:spcBef>
          <a:spcPts val="0"/>
        </a:spcBef>
        <a:spcAft>
          <a:spcPts val="0"/>
        </a:spcAft>
        <a:buClrTx/>
        <a:buSzPts val="2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3pPr>
      <a:lvl4pPr marL="1911350" marR="0" indent="-412750" algn="l" defTabSz="914400" rtl="0" latinLnBrk="0">
        <a:lnSpc>
          <a:spcPct val="114000"/>
        </a:lnSpc>
        <a:spcBef>
          <a:spcPts val="0"/>
        </a:spcBef>
        <a:spcAft>
          <a:spcPts val="0"/>
        </a:spcAft>
        <a:buClrTx/>
        <a:buSzPts val="2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4pPr>
      <a:lvl5pPr marL="2422071" marR="0" indent="-453571" algn="l" defTabSz="914400" rtl="0" latinLnBrk="0">
        <a:lnSpc>
          <a:spcPct val="114000"/>
        </a:lnSpc>
        <a:spcBef>
          <a:spcPts val="0"/>
        </a:spcBef>
        <a:spcAft>
          <a:spcPts val="0"/>
        </a:spcAft>
        <a:buClrTx/>
        <a:buSzPts val="2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5pPr>
      <a:lvl6pPr marL="2879271" marR="0" indent="-453571" algn="l" defTabSz="914400" rtl="0" latinLnBrk="0">
        <a:lnSpc>
          <a:spcPct val="114000"/>
        </a:lnSpc>
        <a:spcBef>
          <a:spcPts val="0"/>
        </a:spcBef>
        <a:spcAft>
          <a:spcPts val="0"/>
        </a:spcAft>
        <a:buClrTx/>
        <a:buSzPts val="2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6pPr>
      <a:lvl7pPr marL="3336471" marR="0" indent="-453571" algn="l" defTabSz="914400" rtl="0" latinLnBrk="0">
        <a:lnSpc>
          <a:spcPct val="114000"/>
        </a:lnSpc>
        <a:spcBef>
          <a:spcPts val="0"/>
        </a:spcBef>
        <a:spcAft>
          <a:spcPts val="0"/>
        </a:spcAft>
        <a:buClrTx/>
        <a:buSzPts val="2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7pPr>
      <a:lvl8pPr marL="3793671" marR="0" indent="-453571" algn="l" defTabSz="914400" rtl="0" latinLnBrk="0">
        <a:lnSpc>
          <a:spcPct val="114000"/>
        </a:lnSpc>
        <a:spcBef>
          <a:spcPts val="0"/>
        </a:spcBef>
        <a:spcAft>
          <a:spcPts val="0"/>
        </a:spcAft>
        <a:buClrTx/>
        <a:buSzPts val="2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8pPr>
      <a:lvl9pPr marL="4250871" marR="0" indent="-453571" algn="l" defTabSz="914400" rtl="0" latinLnBrk="0">
        <a:lnSpc>
          <a:spcPct val="114000"/>
        </a:lnSpc>
        <a:spcBef>
          <a:spcPts val="0"/>
        </a:spcBef>
        <a:spcAft>
          <a:spcPts val="0"/>
        </a:spcAft>
        <a:buClrTx/>
        <a:buSzPts val="2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1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hyperlink" Target="https://docs.datadoghq.com/metrics/types/" TargetMode="Externa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datadog.zendesk.com/agent/tickets/2543610" TargetMode="External"/><Relationship Id="rId3" Type="http://schemas.openxmlformats.org/officeDocument/2006/relationships/hyperlink" Target="https://datadog.zendesk.com/agent/tickets/2533730" TargetMode="External"/><Relationship Id="rId4" Type="http://schemas.openxmlformats.org/officeDocument/2006/relationships/hyperlink" Target="https://docs.datadoghq.com/monitors/configuration/?tab=thresholdalert" TargetMode="External"/><Relationship Id="rId5" Type="http://schemas.openxmlformats.org/officeDocument/2006/relationships/hyperlink" Target="https://docs.datadoghq.com/monitors/guide/adjusting-no-data-alerts-for-metric-monitors/" TargetMode="Externa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datadog.zendesk.com/agent/tickets/2879820" TargetMode="External"/><Relationship Id="rId3" Type="http://schemas.openxmlformats.org/officeDocument/2006/relationships/hyperlink" Target="https://datadog.zendesk.com/agent/tickets/2533730" TargetMode="External"/><Relationship Id="rId4" Type="http://schemas.openxmlformats.org/officeDocument/2006/relationships/hyperlink" Target="https://docs.datadoghq.com/monitors/configuration/?tab=thresholdalert" TargetMode="External"/><Relationship Id="rId5" Type="http://schemas.openxmlformats.org/officeDocument/2006/relationships/hyperlink" Target="https://docs.datadoghq.com/monitors/guide/monitor_api_options/?lang_pref=en" TargetMode="Externa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datadoghq.atlassian.net/wiki/spaces/TS/pages/1654259934" TargetMode="Externa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datadog.zendesk.com/agent/tickets/2543610" TargetMode="External"/><Relationship Id="rId3" Type="http://schemas.openxmlformats.org/officeDocument/2006/relationships/hyperlink" Target="https://datadog.zendesk.com/agent/tickets/2535898" TargetMode="External"/><Relationship Id="rId4" Type="http://schemas.openxmlformats.org/officeDocument/2006/relationships/hyperlink" Target="https://docs.datadoghq.com/integrations/guide/cloud-metric-delay/" TargetMode="External"/><Relationship Id="rId5" Type="http://schemas.openxmlformats.org/officeDocument/2006/relationships/hyperlink" Target="https://docs.datadoghq.com/monitors/guide/adjusting-no-data-alerts-for-metric-monitors/" TargetMode="Externa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datadog.zendesk.com/agent/tickets/2538260" TargetMode="External"/><Relationship Id="rId3" Type="http://schemas.openxmlformats.org/officeDocument/2006/relationships/hyperlink" Target="https://datadog.zendesk.com/agent/tickets/2535898" TargetMode="External"/><Relationship Id="rId4" Type="http://schemas.openxmlformats.org/officeDocument/2006/relationships/hyperlink" Target="https://docs.datadoghq.com/integrations/guide/cloud-metric-delay/" TargetMode="External"/><Relationship Id="rId5" Type="http://schemas.openxmlformats.org/officeDocument/2006/relationships/hyperlink" Target="https://docs.datadoghq.com/monitors/configuration/?tab=thresholdalert" TargetMode="Externa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datadog.zendesk.com/agent/tickets/2530392" TargetMode="External"/><Relationship Id="rId3" Type="http://schemas.openxmlformats.org/officeDocument/2006/relationships/hyperlink" Target="https://datadog.zendesk.com/agent/tickets/2543035" TargetMode="External"/><Relationship Id="rId4" Type="http://schemas.openxmlformats.org/officeDocument/2006/relationships/hyperlink" Target="https://docs.datadoghq.com/metrics/types/" TargetMode="External"/><Relationship Id="rId5" Type="http://schemas.openxmlformats.org/officeDocument/2006/relationships/hyperlink" Target="https://docs.datadoghq.com/metrics/custom_metrics/dogstatsd_metrics_submission/?tab=python" TargetMode="External"/><Relationship Id="rId6" Type="http://schemas.openxmlformats.org/officeDocument/2006/relationships/hyperlink" Target="https://datadoghq.atlassian.net/wiki/spaces/TS/pages/328436414/Dogstatsd+Overview" TargetMode="Externa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datadog.zendesk.com/agent/tickets/2537553" TargetMode="External"/><Relationship Id="rId3" Type="http://schemas.openxmlformats.org/officeDocument/2006/relationships/hyperlink" Target="https://datadog.zendesk.com/agent/tickets/2513073" TargetMode="External"/><Relationship Id="rId4" Type="http://schemas.openxmlformats.org/officeDocument/2006/relationships/hyperlink" Target="https://datadog.zendesk.com/agent/tickets/2869511" TargetMode="External"/><Relationship Id="rId5" Type="http://schemas.openxmlformats.org/officeDocument/2006/relationships/hyperlink" Target="https://docs.datadoghq.com/metrics/custom_metrics/" TargetMode="External"/><Relationship Id="rId6" Type="http://schemas.openxmlformats.org/officeDocument/2006/relationships/hyperlink" Target="https://datadoghq.atlassian.net/wiki/spaces/TS/pages/328438619/How-To+Troubleshoot+Investigating+and+Reducing+High+Tag+Cardinality+in+a+Metric" TargetMode="Externa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16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dog.zendesk.com/agent/tickets/2879820" TargetMode="External"/><Relationship Id="rId3" Type="http://schemas.openxmlformats.org/officeDocument/2006/relationships/hyperlink" Target="https://datadog.zendesk.com/agent/tickets/2547404" TargetMode="Externa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dog.zendesk.com/agent/tickets/2457050" TargetMode="Externa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17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hyperlink" Target="https://datadog.zendesk.com/agent/tickets/2517536" TargetMode="Externa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18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hyperlink" Target="https://datadog.zendesk.com/agent/tickets/2868302" TargetMode="External"/><Relationship Id="rId3" Type="http://schemas.openxmlformats.org/officeDocument/2006/relationships/hyperlink" Target="https://datadog.zendesk.com/agent/tickets/2529585" TargetMode="External"/><Relationship Id="rId4" Type="http://schemas.openxmlformats.org/officeDocument/2006/relationships/image" Target="../media/image19.png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hyperlink" Target="https://datadog.zendesk.com/agent/tickets/2868302" TargetMode="External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hyperlink" Target="https://datadog.zendesk.com/agent/tickets/2545635" TargetMode="External"/><Relationship Id="rId3" Type="http://schemas.openxmlformats.org/officeDocument/2006/relationships/hyperlink" Target="https://datadog.zendesk.com/agent/tickets/2509862" TargetMode="External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hyperlink" Target="https://datadog.zendesk.com/agent/tickets/2868302" TargetMode="External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0.png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1.png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Subtitle 1"/>
          <p:cNvSpPr txBox="1"/>
          <p:nvPr>
            <p:ph type="subTitle" sz="quarter" idx="1"/>
          </p:nvPr>
        </p:nvSpPr>
        <p:spPr>
          <a:xfrm>
            <a:off x="703260" y="1888332"/>
            <a:ext cx="10785600" cy="954001"/>
          </a:xfrm>
          <a:prstGeom prst="rect">
            <a:avLst/>
          </a:prstGeom>
        </p:spPr>
        <p:txBody>
          <a:bodyPr/>
          <a:lstStyle>
            <a:lvl1pPr>
              <a:defRPr sz="23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practical path from noisy data to useful alerts</a:t>
            </a:r>
          </a:p>
        </p:txBody>
      </p:sp>
      <p:sp>
        <p:nvSpPr>
          <p:cNvPr id="596" name="Title 2"/>
          <p:cNvSpPr txBox="1"/>
          <p:nvPr>
            <p:ph type="ctrTitle"/>
          </p:nvPr>
        </p:nvSpPr>
        <p:spPr>
          <a:xfrm>
            <a:off x="703250" y="601046"/>
            <a:ext cx="10785600" cy="826200"/>
          </a:xfrm>
          <a:prstGeom prst="rect">
            <a:avLst/>
          </a:prstGeom>
        </p:spPr>
        <p:txBody>
          <a:bodyPr/>
          <a:lstStyle/>
          <a:p>
            <a:pPr defTabSz="713231">
              <a:defRPr sz="2807">
                <a:latin typeface="Aptos"/>
                <a:ea typeface="Aptos"/>
                <a:cs typeface="Aptos"/>
                <a:sym typeface="Aptos"/>
              </a:defRPr>
            </a:pPr>
            <a:r>
              <a:t>Metrics &amp; Monitors</a:t>
            </a:r>
          </a:p>
          <a:p>
            <a:pPr defTabSz="713231">
              <a:defRPr sz="2807">
                <a:latin typeface="Aptos"/>
                <a:ea typeface="Aptos"/>
                <a:cs typeface="Aptos"/>
                <a:sym typeface="Aptos"/>
              </a:defRPr>
            </a:pPr>
            <a:r>
              <a:t>Learning Week</a:t>
            </a:r>
          </a:p>
        </p:txBody>
      </p:sp>
      <p:sp>
        <p:nvSpPr>
          <p:cNvPr id="597" name="Text Placeholder 3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 sz="12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DATADOG TSE • BRAZIL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Title 1"/>
          <p:cNvSpPr txBox="1"/>
          <p:nvPr>
            <p:ph type="title"/>
          </p:nvPr>
        </p:nvSpPr>
        <p:spPr>
          <a:xfrm>
            <a:off x="695322" y="357808"/>
            <a:ext cx="3845832" cy="868338"/>
          </a:xfrm>
          <a:prstGeom prst="rect">
            <a:avLst/>
          </a:prstGeom>
        </p:spPr>
        <p:txBody>
          <a:bodyPr/>
          <a:lstStyle>
            <a:lvl1pPr defTabSz="868680">
              <a:defRPr sz="2945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Week at a Glance</a:t>
            </a:r>
          </a:p>
        </p:txBody>
      </p:sp>
      <p:sp>
        <p:nvSpPr>
          <p:cNvPr id="600" name="Google Shape;253;p44"/>
          <p:cNvSpPr txBox="1"/>
          <p:nvPr/>
        </p:nvSpPr>
        <p:spPr>
          <a:xfrm>
            <a:off x="740872" y="1512543"/>
            <a:ext cx="457251" cy="412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>
            <a:lvl1pPr>
              <a:defRPr b="1" sz="2100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01" name="Google Shape;254;p44"/>
          <p:cNvSpPr txBox="1"/>
          <p:nvPr/>
        </p:nvSpPr>
        <p:spPr>
          <a:xfrm>
            <a:off x="1283077" y="1512543"/>
            <a:ext cx="4529152" cy="40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>
            <a:lvl1pPr>
              <a:defRPr sz="16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Metrics + APM: read the signal before the alert</a:t>
            </a:r>
          </a:p>
        </p:txBody>
      </p:sp>
      <p:sp>
        <p:nvSpPr>
          <p:cNvPr id="602" name="Google Shape;255;p44"/>
          <p:cNvSpPr txBox="1"/>
          <p:nvPr/>
        </p:nvSpPr>
        <p:spPr>
          <a:xfrm>
            <a:off x="740872" y="2318542"/>
            <a:ext cx="457251" cy="412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>
            <a:lvl1pPr>
              <a:defRPr b="1" sz="2100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603" name="Google Shape;256;p44"/>
          <p:cNvSpPr txBox="1"/>
          <p:nvPr/>
        </p:nvSpPr>
        <p:spPr>
          <a:xfrm>
            <a:off x="1283077" y="2318542"/>
            <a:ext cx="4529152" cy="40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>
            <a:lvl1pPr defTabSz="813816">
              <a:defRPr sz="1602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Containers: aggregate by the owner of the action</a:t>
            </a:r>
          </a:p>
        </p:txBody>
      </p:sp>
      <p:sp>
        <p:nvSpPr>
          <p:cNvPr id="604" name="Google Shape;257;p44"/>
          <p:cNvSpPr txBox="1"/>
          <p:nvPr/>
        </p:nvSpPr>
        <p:spPr>
          <a:xfrm>
            <a:off x="740872" y="3124543"/>
            <a:ext cx="457251" cy="412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>
            <a:lvl1pPr>
              <a:defRPr b="1" sz="2100">
                <a:solidFill>
                  <a:srgbClr val="D648A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605" name="Google Shape;258;p44"/>
          <p:cNvSpPr txBox="1"/>
          <p:nvPr/>
        </p:nvSpPr>
        <p:spPr>
          <a:xfrm>
            <a:off x="1283077" y="3124543"/>
            <a:ext cx="4529152" cy="40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>
            <a:lvl1pPr>
              <a:defRPr sz="18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DBM: growth, spikes, and query ownership</a:t>
            </a:r>
          </a:p>
        </p:txBody>
      </p:sp>
      <p:sp>
        <p:nvSpPr>
          <p:cNvPr id="606" name="Google Shape;259;p44"/>
          <p:cNvSpPr txBox="1"/>
          <p:nvPr/>
        </p:nvSpPr>
        <p:spPr>
          <a:xfrm>
            <a:off x="740872" y="3930543"/>
            <a:ext cx="457251" cy="412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>
            <a:lvl1pPr>
              <a:defRPr b="1" sz="2100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07" name="Google Shape;260;p44"/>
          <p:cNvSpPr txBox="1"/>
          <p:nvPr/>
        </p:nvSpPr>
        <p:spPr>
          <a:xfrm>
            <a:off x="1283077" y="3930543"/>
            <a:ext cx="4529152" cy="40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>
            <a:lvl1pPr>
              <a:defRPr sz="18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Logs: precision beats volume</a:t>
            </a:r>
          </a:p>
        </p:txBody>
      </p:sp>
      <p:sp>
        <p:nvSpPr>
          <p:cNvPr id="608" name="Google Shape;261;p44"/>
          <p:cNvSpPr txBox="1"/>
          <p:nvPr/>
        </p:nvSpPr>
        <p:spPr>
          <a:xfrm>
            <a:off x="740872" y="4736543"/>
            <a:ext cx="457251" cy="412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>
            <a:lvl1pPr>
              <a:defRPr b="1" sz="2100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609" name="Google Shape;262;p44"/>
          <p:cNvSpPr txBox="1"/>
          <p:nvPr/>
        </p:nvSpPr>
        <p:spPr>
          <a:xfrm>
            <a:off x="1283077" y="4736543"/>
            <a:ext cx="4529152" cy="40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>
            <a:lvl1pPr>
              <a:defRPr sz="18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Dynamic challenge: investigate like support</a:t>
            </a:r>
          </a:p>
        </p:txBody>
      </p:sp>
      <p:sp>
        <p:nvSpPr>
          <p:cNvPr id="610" name="Google Shape;263;p44"/>
          <p:cNvSpPr/>
          <p:nvPr/>
        </p:nvSpPr>
        <p:spPr>
          <a:xfrm>
            <a:off x="693948" y="1422904"/>
            <a:ext cx="5300402" cy="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39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611" name="Google Shape;264;p44"/>
          <p:cNvSpPr/>
          <p:nvPr/>
        </p:nvSpPr>
        <p:spPr>
          <a:xfrm>
            <a:off x="693948" y="2228904"/>
            <a:ext cx="5300402" cy="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39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612" name="Google Shape;265;p44"/>
          <p:cNvSpPr/>
          <p:nvPr/>
        </p:nvSpPr>
        <p:spPr>
          <a:xfrm>
            <a:off x="693948" y="3034904"/>
            <a:ext cx="5300402" cy="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39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613" name="Google Shape;266;p44"/>
          <p:cNvSpPr/>
          <p:nvPr/>
        </p:nvSpPr>
        <p:spPr>
          <a:xfrm>
            <a:off x="693948" y="3840903"/>
            <a:ext cx="5300402" cy="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39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614" name="Google Shape;267;p44"/>
          <p:cNvSpPr/>
          <p:nvPr/>
        </p:nvSpPr>
        <p:spPr>
          <a:xfrm>
            <a:off x="693948" y="4646903"/>
            <a:ext cx="5300402" cy="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39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615" name="Google Shape;268;p44"/>
          <p:cNvSpPr/>
          <p:nvPr/>
        </p:nvSpPr>
        <p:spPr>
          <a:xfrm>
            <a:off x="693948" y="5452903"/>
            <a:ext cx="5300402" cy="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39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Title 1"/>
          <p:cNvSpPr txBox="1"/>
          <p:nvPr>
            <p:ph type="title"/>
          </p:nvPr>
        </p:nvSpPr>
        <p:spPr>
          <a:xfrm>
            <a:off x="695322" y="357808"/>
            <a:ext cx="10795004" cy="868338"/>
          </a:xfrm>
          <a:prstGeom prst="rect">
            <a:avLst/>
          </a:prstGeom>
        </p:spPr>
        <p:txBody>
          <a:bodyPr/>
          <a:lstStyle/>
          <a:p>
            <a:pPr/>
            <a:r>
              <a:t>The TSE troubleshooting method</a:t>
            </a:r>
          </a:p>
        </p:txBody>
      </p:sp>
      <p:grpSp>
        <p:nvGrpSpPr>
          <p:cNvPr id="620" name="Rounded Rectangle 3"/>
          <p:cNvGrpSpPr/>
          <p:nvPr/>
        </p:nvGrpSpPr>
        <p:grpSpPr>
          <a:xfrm>
            <a:off x="658368" y="1225296"/>
            <a:ext cx="1691640" cy="310897"/>
            <a:chOff x="0" y="0"/>
            <a:chExt cx="1691639" cy="310895"/>
          </a:xfrm>
        </p:grpSpPr>
        <p:sp>
          <p:nvSpPr>
            <p:cNvPr id="618" name="Rounded Rectangle"/>
            <p:cNvSpPr/>
            <p:nvPr/>
          </p:nvSpPr>
          <p:spPr>
            <a:xfrm>
              <a:off x="0" y="0"/>
              <a:ext cx="1691640" cy="310896"/>
            </a:xfrm>
            <a:prstGeom prst="roundRect">
              <a:avLst>
                <a:gd name="adj" fmla="val 16667"/>
              </a:avLst>
            </a:prstGeom>
            <a:solidFill>
              <a:srgbClr val="612CC9"/>
            </a:solidFill>
            <a:ln w="12700" cap="flat">
              <a:solidFill>
                <a:srgbClr val="612CC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19" name="method"/>
            <p:cNvSpPr txBox="1"/>
            <p:nvPr/>
          </p:nvSpPr>
          <p:spPr>
            <a:xfrm>
              <a:off x="67246" y="21526"/>
              <a:ext cx="1557148" cy="2678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 defTabSz="822959">
                <a:defRPr sz="1260">
                  <a:solidFill>
                    <a:srgbClr val="FFFFFF"/>
                  </a:solidFill>
                </a:defRPr>
              </a:lvl1pPr>
            </a:lstStyle>
            <a:p>
              <a:pPr/>
              <a:r>
                <a:t>method</a:t>
              </a:r>
            </a:p>
          </p:txBody>
        </p:sp>
      </p:grpSp>
      <p:sp>
        <p:nvSpPr>
          <p:cNvPr id="621" name="TextBox 4"/>
          <p:cNvSpPr txBox="1"/>
          <p:nvPr/>
        </p:nvSpPr>
        <p:spPr>
          <a:xfrm>
            <a:off x="795527" y="1700783"/>
            <a:ext cx="9966961" cy="3840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1000"/>
              </a:spcBef>
              <a:defRPr>
                <a:solidFill>
                  <a:srgbClr val="F4EEFF"/>
                </a:solidFill>
              </a:defRPr>
            </a:pPr>
            <a:r>
              <a:t>Signal -&gt; Metric -&gt; Query -&gt; Monitor -&gt; Customer explanation</a:t>
            </a:r>
          </a:p>
          <a:p>
            <a:pPr>
              <a:defRPr>
                <a:solidFill>
                  <a:srgbClr val="F4EEFF"/>
                </a:solidFill>
              </a:defRPr>
            </a:pPr>
          </a:p>
          <a:p>
            <a:pPr>
              <a:defRPr>
                <a:solidFill>
                  <a:srgbClr val="F4EEFF"/>
                </a:solidFill>
              </a:defRPr>
            </a:pPr>
            <a:r>
              <a:t>For every case, prove the signal first. Then tune the query, fix the monitor, and explain the result clearly.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monitor quality loop</a:t>
            </a:r>
          </a:p>
        </p:txBody>
      </p:sp>
      <p:sp>
        <p:nvSpPr>
          <p:cNvPr id="624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Every day repeats the same move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1. See the symptom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2. Prove the metric shape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3. Find what the query hides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4. Fix the monitor and explain it clearly</a:t>
            </a:r>
          </a:p>
        </p:txBody>
      </p:sp>
      <p:sp>
        <p:nvSpPr>
          <p:cNvPr id="625" name="TextBox 4"/>
          <p:cNvSpPr txBox="1"/>
          <p:nvPr/>
        </p:nvSpPr>
        <p:spPr>
          <a:xfrm>
            <a:off x="4416552" y="749808"/>
            <a:ext cx="612648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100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core question</a:t>
            </a:r>
          </a:p>
        </p:txBody>
      </p:sp>
      <p:sp>
        <p:nvSpPr>
          <p:cNvPr id="626" name="TextBox 5"/>
          <p:cNvSpPr txBox="1"/>
          <p:nvPr/>
        </p:nvSpPr>
        <p:spPr>
          <a:xfrm>
            <a:off x="4453128" y="1261872"/>
            <a:ext cx="5943601" cy="1645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 useful monitor alerts the right person, about the right slice of data, at the right time.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Everything else becomes noise, silence, or a page nobody can act on.</a:t>
            </a:r>
          </a:p>
        </p:txBody>
      </p:sp>
      <p:sp>
        <p:nvSpPr>
          <p:cNvPr id="627" name="Rounded Rectangle 6"/>
          <p:cNvSpPr/>
          <p:nvPr/>
        </p:nvSpPr>
        <p:spPr>
          <a:xfrm>
            <a:off x="4407408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612CC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8" name="TextBox 7"/>
          <p:cNvSpPr txBox="1"/>
          <p:nvPr/>
        </p:nvSpPr>
        <p:spPr>
          <a:xfrm>
            <a:off x="4526279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Metric</a:t>
            </a:r>
          </a:p>
        </p:txBody>
      </p:sp>
      <p:sp>
        <p:nvSpPr>
          <p:cNvPr id="629" name="TextBox 8"/>
          <p:cNvSpPr txBox="1"/>
          <p:nvPr/>
        </p:nvSpPr>
        <p:spPr>
          <a:xfrm>
            <a:off x="4526279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raw signal</a:t>
            </a:r>
          </a:p>
        </p:txBody>
      </p:sp>
      <p:sp>
        <p:nvSpPr>
          <p:cNvPr id="630" name="TextBox 9"/>
          <p:cNvSpPr txBox="1"/>
          <p:nvPr/>
        </p:nvSpPr>
        <p:spPr>
          <a:xfrm>
            <a:off x="5907023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631" name="Rounded Rectangle 10"/>
          <p:cNvSpPr/>
          <p:nvPr/>
        </p:nvSpPr>
        <p:spPr>
          <a:xfrm>
            <a:off x="6117335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612CC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2" name="TextBox 11"/>
          <p:cNvSpPr txBox="1"/>
          <p:nvPr/>
        </p:nvSpPr>
        <p:spPr>
          <a:xfrm>
            <a:off x="6236208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Aggregator</a:t>
            </a:r>
          </a:p>
        </p:txBody>
      </p:sp>
      <p:sp>
        <p:nvSpPr>
          <p:cNvPr id="633" name="TextBox 12"/>
          <p:cNvSpPr txBox="1"/>
          <p:nvPr/>
        </p:nvSpPr>
        <p:spPr>
          <a:xfrm>
            <a:off x="6236208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time + space</a:t>
            </a:r>
          </a:p>
        </p:txBody>
      </p:sp>
      <p:sp>
        <p:nvSpPr>
          <p:cNvPr id="634" name="TextBox 13"/>
          <p:cNvSpPr txBox="1"/>
          <p:nvPr/>
        </p:nvSpPr>
        <p:spPr>
          <a:xfrm>
            <a:off x="7616951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635" name="Rounded Rectangle 14"/>
          <p:cNvSpPr/>
          <p:nvPr/>
        </p:nvSpPr>
        <p:spPr>
          <a:xfrm>
            <a:off x="7827264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612CC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6" name="TextBox 15"/>
          <p:cNvSpPr txBox="1"/>
          <p:nvPr/>
        </p:nvSpPr>
        <p:spPr>
          <a:xfrm>
            <a:off x="7946135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Group</a:t>
            </a:r>
          </a:p>
        </p:txBody>
      </p:sp>
      <p:sp>
        <p:nvSpPr>
          <p:cNvPr id="637" name="TextBox 16"/>
          <p:cNvSpPr txBox="1"/>
          <p:nvPr/>
        </p:nvSpPr>
        <p:spPr>
          <a:xfrm>
            <a:off x="7946135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owner</a:t>
            </a:r>
          </a:p>
        </p:txBody>
      </p:sp>
      <p:sp>
        <p:nvSpPr>
          <p:cNvPr id="638" name="TextBox 17"/>
          <p:cNvSpPr txBox="1"/>
          <p:nvPr/>
        </p:nvSpPr>
        <p:spPr>
          <a:xfrm>
            <a:off x="9326879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639" name="Rounded Rectangle 18"/>
          <p:cNvSpPr/>
          <p:nvPr/>
        </p:nvSpPr>
        <p:spPr>
          <a:xfrm>
            <a:off x="9537192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612CC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0" name="TextBox 19"/>
          <p:cNvSpPr txBox="1"/>
          <p:nvPr/>
        </p:nvSpPr>
        <p:spPr>
          <a:xfrm>
            <a:off x="9656063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Threshold</a:t>
            </a:r>
          </a:p>
        </p:txBody>
      </p:sp>
      <p:sp>
        <p:nvSpPr>
          <p:cNvPr id="641" name="TextBox 20"/>
          <p:cNvSpPr txBox="1"/>
          <p:nvPr/>
        </p:nvSpPr>
        <p:spPr>
          <a:xfrm>
            <a:off x="9656063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4" name="Rectangle 2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6000D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5" name="Rectangle 3"/>
          <p:cNvSpPr/>
          <p:nvPr/>
        </p:nvSpPr>
        <p:spPr>
          <a:xfrm>
            <a:off x="1920239" y="0"/>
            <a:ext cx="164593" cy="6858000"/>
          </a:xfrm>
          <a:prstGeom prst="rect">
            <a:avLst/>
          </a:prstGeom>
          <a:solidFill>
            <a:srgbClr val="EF337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6" name="TextBox 4"/>
          <p:cNvSpPr txBox="1"/>
          <p:nvPr/>
        </p:nvSpPr>
        <p:spPr>
          <a:xfrm>
            <a:off x="292607" y="502919"/>
            <a:ext cx="1073846" cy="450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b="1" sz="1600">
                <a:solidFill>
                  <a:srgbClr val="FFFFFF"/>
                </a:solidFill>
              </a:defRPr>
            </a:pPr>
            <a:r>
              <a:t>LEARNING</a:t>
            </a:r>
            <a:br/>
            <a:r>
              <a:t>WEEK</a:t>
            </a:r>
          </a:p>
        </p:txBody>
      </p:sp>
      <p:sp>
        <p:nvSpPr>
          <p:cNvPr id="647" name="TextBox 5"/>
          <p:cNvSpPr txBox="1"/>
          <p:nvPr/>
        </p:nvSpPr>
        <p:spPr>
          <a:xfrm>
            <a:off x="2606039" y="658368"/>
            <a:ext cx="3731705" cy="44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3100">
                <a:solidFill>
                  <a:srgbClr val="1F2332"/>
                </a:solidFill>
              </a:defRPr>
            </a:lvl1pPr>
          </a:lstStyle>
          <a:p>
            <a:pPr/>
            <a:r>
              <a:t>Hard mode contract</a:t>
            </a:r>
          </a:p>
        </p:txBody>
      </p:sp>
      <p:sp>
        <p:nvSpPr>
          <p:cNvPr id="648" name="TextBox 6"/>
          <p:cNvSpPr txBox="1"/>
          <p:nvPr/>
        </p:nvSpPr>
        <p:spPr>
          <a:xfrm>
            <a:off x="2624327" y="1207008"/>
            <a:ext cx="5657938" cy="24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700">
                <a:solidFill>
                  <a:srgbClr val="5B6477"/>
                </a:solidFill>
              </a:defRPr>
            </a:lvl1pPr>
          </a:lstStyle>
          <a:p>
            <a:pPr/>
            <a:r>
              <a:t>You do not win by finding the answer. You win by proving it.</a:t>
            </a:r>
          </a:p>
        </p:txBody>
      </p:sp>
      <p:sp>
        <p:nvSpPr>
          <p:cNvPr id="649" name="Rounded Rectangle 7"/>
          <p:cNvSpPr/>
          <p:nvPr/>
        </p:nvSpPr>
        <p:spPr>
          <a:xfrm>
            <a:off x="2697479" y="1920239"/>
            <a:ext cx="3886201" cy="1298449"/>
          </a:xfrm>
          <a:prstGeom prst="roundRect">
            <a:avLst>
              <a:gd name="adj" fmla="val 16667"/>
            </a:avLst>
          </a:prstGeom>
          <a:solidFill>
            <a:srgbClr val="F8F8FD"/>
          </a:solidFill>
          <a:ln w="15875">
            <a:solidFill>
              <a:srgbClr val="D9DC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652" name="Rounded Rectangle 8"/>
          <p:cNvGrpSpPr/>
          <p:nvPr/>
        </p:nvGrpSpPr>
        <p:grpSpPr>
          <a:xfrm>
            <a:off x="2916935" y="2130551"/>
            <a:ext cx="493777" cy="310897"/>
            <a:chOff x="0" y="0"/>
            <a:chExt cx="493776" cy="310895"/>
          </a:xfrm>
        </p:grpSpPr>
        <p:sp>
          <p:nvSpPr>
            <p:cNvPr id="650" name="Rounded Rectangle"/>
            <p:cNvSpPr/>
            <p:nvPr/>
          </p:nvSpPr>
          <p:spPr>
            <a:xfrm>
              <a:off x="0" y="0"/>
              <a:ext cx="493777" cy="310896"/>
            </a:xfrm>
            <a:prstGeom prst="roundRect">
              <a:avLst>
                <a:gd name="adj" fmla="val 16667"/>
              </a:avLst>
            </a:prstGeom>
            <a:solidFill>
              <a:srgbClr val="257EEE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51" name="1"/>
            <p:cNvSpPr txBox="1"/>
            <p:nvPr/>
          </p:nvSpPr>
          <p:spPr>
            <a:xfrm>
              <a:off x="15176" y="87675"/>
              <a:ext cx="463424" cy="1355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653" name="TextBox 9"/>
          <p:cNvSpPr txBox="1"/>
          <p:nvPr/>
        </p:nvSpPr>
        <p:spPr>
          <a:xfrm>
            <a:off x="3575303" y="2084832"/>
            <a:ext cx="1644285" cy="24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700">
                <a:solidFill>
                  <a:srgbClr val="1F2332"/>
                </a:solidFill>
              </a:defRPr>
            </a:lvl1pPr>
          </a:lstStyle>
          <a:p>
            <a:pPr/>
            <a:r>
              <a:t>Hypothesis first</a:t>
            </a:r>
          </a:p>
        </p:txBody>
      </p:sp>
      <p:sp>
        <p:nvSpPr>
          <p:cNvPr id="654" name="TextBox 10"/>
          <p:cNvSpPr txBox="1"/>
          <p:nvPr/>
        </p:nvSpPr>
        <p:spPr>
          <a:xfrm>
            <a:off x="3575303" y="2578607"/>
            <a:ext cx="27432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300">
                <a:solidFill>
                  <a:srgbClr val="5B6477"/>
                </a:solidFill>
              </a:defRPr>
            </a:lvl1pPr>
          </a:lstStyle>
          <a:p>
            <a:pPr/>
            <a:r>
              <a:t>State the suspected failure mode before touching the monitor.</a:t>
            </a:r>
          </a:p>
        </p:txBody>
      </p:sp>
      <p:sp>
        <p:nvSpPr>
          <p:cNvPr id="655" name="Rounded Rectangle 11"/>
          <p:cNvSpPr/>
          <p:nvPr/>
        </p:nvSpPr>
        <p:spPr>
          <a:xfrm>
            <a:off x="6949440" y="1920239"/>
            <a:ext cx="3886201" cy="1298449"/>
          </a:xfrm>
          <a:prstGeom prst="roundRect">
            <a:avLst>
              <a:gd name="adj" fmla="val 16667"/>
            </a:avLst>
          </a:prstGeom>
          <a:solidFill>
            <a:srgbClr val="F8F8FD"/>
          </a:solidFill>
          <a:ln w="15875">
            <a:solidFill>
              <a:srgbClr val="D9DC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658" name="Rounded Rectangle 12"/>
          <p:cNvGrpSpPr/>
          <p:nvPr/>
        </p:nvGrpSpPr>
        <p:grpSpPr>
          <a:xfrm>
            <a:off x="7168895" y="2130551"/>
            <a:ext cx="493777" cy="310897"/>
            <a:chOff x="0" y="0"/>
            <a:chExt cx="493776" cy="310895"/>
          </a:xfrm>
        </p:grpSpPr>
        <p:sp>
          <p:nvSpPr>
            <p:cNvPr id="656" name="Rounded Rectangle"/>
            <p:cNvSpPr/>
            <p:nvPr/>
          </p:nvSpPr>
          <p:spPr>
            <a:xfrm>
              <a:off x="0" y="0"/>
              <a:ext cx="493777" cy="310896"/>
            </a:xfrm>
            <a:prstGeom prst="roundRect">
              <a:avLst>
                <a:gd name="adj" fmla="val 16667"/>
              </a:avLst>
            </a:prstGeom>
            <a:solidFill>
              <a:srgbClr val="6233C4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57" name="2"/>
            <p:cNvSpPr txBox="1"/>
            <p:nvPr/>
          </p:nvSpPr>
          <p:spPr>
            <a:xfrm>
              <a:off x="15176" y="87675"/>
              <a:ext cx="463424" cy="1355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659" name="TextBox 13"/>
          <p:cNvSpPr txBox="1"/>
          <p:nvPr/>
        </p:nvSpPr>
        <p:spPr>
          <a:xfrm>
            <a:off x="7827264" y="2084832"/>
            <a:ext cx="2316126" cy="24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700">
                <a:solidFill>
                  <a:srgbClr val="1F2332"/>
                </a:solidFill>
              </a:defRPr>
            </a:lvl1pPr>
          </a:lstStyle>
          <a:p>
            <a:pPr/>
            <a:r>
              <a:t>Evidence over opinion</a:t>
            </a:r>
          </a:p>
        </p:txBody>
      </p:sp>
      <p:sp>
        <p:nvSpPr>
          <p:cNvPr id="660" name="TextBox 14"/>
          <p:cNvSpPr txBox="1"/>
          <p:nvPr/>
        </p:nvSpPr>
        <p:spPr>
          <a:xfrm>
            <a:off x="7827264" y="2578607"/>
            <a:ext cx="27432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300">
                <a:solidFill>
                  <a:srgbClr val="5B6477"/>
                </a:solidFill>
              </a:defRPr>
            </a:lvl1pPr>
          </a:lstStyle>
          <a:p>
            <a:pPr/>
            <a:r>
              <a:t>Show the graph, query, sample, or monitor state that proves it.</a:t>
            </a:r>
          </a:p>
        </p:txBody>
      </p:sp>
      <p:sp>
        <p:nvSpPr>
          <p:cNvPr id="661" name="Rounded Rectangle 15"/>
          <p:cNvSpPr/>
          <p:nvPr/>
        </p:nvSpPr>
        <p:spPr>
          <a:xfrm>
            <a:off x="2697479" y="3657600"/>
            <a:ext cx="3886201" cy="1298448"/>
          </a:xfrm>
          <a:prstGeom prst="roundRect">
            <a:avLst>
              <a:gd name="adj" fmla="val 16667"/>
            </a:avLst>
          </a:prstGeom>
          <a:solidFill>
            <a:srgbClr val="F8F8FD"/>
          </a:solidFill>
          <a:ln w="15875">
            <a:solidFill>
              <a:srgbClr val="D9DC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664" name="Rounded Rectangle 16"/>
          <p:cNvGrpSpPr/>
          <p:nvPr/>
        </p:nvGrpSpPr>
        <p:grpSpPr>
          <a:xfrm>
            <a:off x="2916935" y="3867911"/>
            <a:ext cx="493777" cy="310897"/>
            <a:chOff x="0" y="0"/>
            <a:chExt cx="493776" cy="310895"/>
          </a:xfrm>
        </p:grpSpPr>
        <p:sp>
          <p:nvSpPr>
            <p:cNvPr id="662" name="Rounded Rectangle"/>
            <p:cNvSpPr/>
            <p:nvPr/>
          </p:nvSpPr>
          <p:spPr>
            <a:xfrm>
              <a:off x="0" y="0"/>
              <a:ext cx="493777" cy="310896"/>
            </a:xfrm>
            <a:prstGeom prst="roundRect">
              <a:avLst>
                <a:gd name="adj" fmla="val 16667"/>
              </a:avLst>
            </a:prstGeom>
            <a:solidFill>
              <a:srgbClr val="00A97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63" name="3"/>
            <p:cNvSpPr txBox="1"/>
            <p:nvPr/>
          </p:nvSpPr>
          <p:spPr>
            <a:xfrm>
              <a:off x="15176" y="87675"/>
              <a:ext cx="463424" cy="1355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665" name="TextBox 17"/>
          <p:cNvSpPr txBox="1"/>
          <p:nvPr/>
        </p:nvSpPr>
        <p:spPr>
          <a:xfrm>
            <a:off x="3575303" y="3822191"/>
            <a:ext cx="1932293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700">
                <a:solidFill>
                  <a:srgbClr val="1F2332"/>
                </a:solidFill>
              </a:defRPr>
            </a:lvl1pPr>
          </a:lstStyle>
          <a:p>
            <a:pPr/>
            <a:r>
              <a:t>Compare two fixes</a:t>
            </a:r>
          </a:p>
        </p:txBody>
      </p:sp>
      <p:sp>
        <p:nvSpPr>
          <p:cNvPr id="666" name="TextBox 18"/>
          <p:cNvSpPr txBox="1"/>
          <p:nvPr/>
        </p:nvSpPr>
        <p:spPr>
          <a:xfrm>
            <a:off x="3575303" y="4315967"/>
            <a:ext cx="27432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300">
                <a:solidFill>
                  <a:srgbClr val="5B6477"/>
                </a:solidFill>
              </a:defRPr>
            </a:lvl1pPr>
          </a:lstStyle>
          <a:p>
            <a:pPr/>
            <a:r>
              <a:t>Choose after weighing detection, noise, ownership, and delay.</a:t>
            </a:r>
          </a:p>
        </p:txBody>
      </p:sp>
      <p:sp>
        <p:nvSpPr>
          <p:cNvPr id="667" name="Rounded Rectangle 19"/>
          <p:cNvSpPr/>
          <p:nvPr/>
        </p:nvSpPr>
        <p:spPr>
          <a:xfrm>
            <a:off x="6949440" y="3657600"/>
            <a:ext cx="3886201" cy="1298448"/>
          </a:xfrm>
          <a:prstGeom prst="roundRect">
            <a:avLst>
              <a:gd name="adj" fmla="val 16667"/>
            </a:avLst>
          </a:prstGeom>
          <a:solidFill>
            <a:srgbClr val="F8F8FD"/>
          </a:solidFill>
          <a:ln w="15875">
            <a:solidFill>
              <a:srgbClr val="D9DC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670" name="Rounded Rectangle 20"/>
          <p:cNvGrpSpPr/>
          <p:nvPr/>
        </p:nvGrpSpPr>
        <p:grpSpPr>
          <a:xfrm>
            <a:off x="7168895" y="3867911"/>
            <a:ext cx="493777" cy="310897"/>
            <a:chOff x="0" y="0"/>
            <a:chExt cx="493776" cy="310895"/>
          </a:xfrm>
        </p:grpSpPr>
        <p:sp>
          <p:nvSpPr>
            <p:cNvPr id="668" name="Rounded Rectangle"/>
            <p:cNvSpPr/>
            <p:nvPr/>
          </p:nvSpPr>
          <p:spPr>
            <a:xfrm>
              <a:off x="0" y="0"/>
              <a:ext cx="493777" cy="310896"/>
            </a:xfrm>
            <a:prstGeom prst="roundRect">
              <a:avLst>
                <a:gd name="adj" fmla="val 16667"/>
              </a:avLst>
            </a:prstGeom>
            <a:solidFill>
              <a:srgbClr val="FF7120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69" name="4"/>
            <p:cNvSpPr txBox="1"/>
            <p:nvPr/>
          </p:nvSpPr>
          <p:spPr>
            <a:xfrm>
              <a:off x="15176" y="87675"/>
              <a:ext cx="463424" cy="1355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671" name="TextBox 21"/>
          <p:cNvSpPr txBox="1"/>
          <p:nvPr/>
        </p:nvSpPr>
        <p:spPr>
          <a:xfrm>
            <a:off x="7827264" y="3822191"/>
            <a:ext cx="1600325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700">
                <a:solidFill>
                  <a:srgbClr val="1F2332"/>
                </a:solidFill>
              </a:defRPr>
            </a:lvl1pPr>
          </a:lstStyle>
          <a:p>
            <a:pPr/>
            <a:r>
              <a:t>Explain at 3 AM</a:t>
            </a:r>
          </a:p>
        </p:txBody>
      </p:sp>
      <p:sp>
        <p:nvSpPr>
          <p:cNvPr id="672" name="TextBox 22"/>
          <p:cNvSpPr txBox="1"/>
          <p:nvPr/>
        </p:nvSpPr>
        <p:spPr>
          <a:xfrm>
            <a:off x="7827264" y="4315967"/>
            <a:ext cx="27432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300">
                <a:solidFill>
                  <a:srgbClr val="5B6477"/>
                </a:solidFill>
              </a:defRPr>
            </a:lvl1pPr>
          </a:lstStyle>
          <a:p>
            <a:pPr/>
            <a:r>
              <a:t>Write an alert the on-call can act on while tired.</a:t>
            </a:r>
          </a:p>
        </p:txBody>
      </p:sp>
      <p:grpSp>
        <p:nvGrpSpPr>
          <p:cNvPr id="675" name="Rounded Rectangle 23"/>
          <p:cNvGrpSpPr/>
          <p:nvPr/>
        </p:nvGrpSpPr>
        <p:grpSpPr>
          <a:xfrm>
            <a:off x="2697479" y="5715000"/>
            <a:ext cx="8641082" cy="566928"/>
            <a:chOff x="0" y="0"/>
            <a:chExt cx="8641080" cy="566927"/>
          </a:xfrm>
        </p:grpSpPr>
        <p:sp>
          <p:nvSpPr>
            <p:cNvPr id="673" name="Rounded Rectangle"/>
            <p:cNvSpPr/>
            <p:nvPr/>
          </p:nvSpPr>
          <p:spPr>
            <a:xfrm>
              <a:off x="0" y="0"/>
              <a:ext cx="8641081" cy="566928"/>
            </a:xfrm>
            <a:prstGeom prst="roundRect">
              <a:avLst>
                <a:gd name="adj" fmla="val 16667"/>
              </a:avLst>
            </a:prstGeom>
            <a:solidFill>
              <a:srgbClr val="F6F1FF"/>
            </a:solidFill>
            <a:ln w="14604" cap="flat">
              <a:solidFill>
                <a:srgbClr val="6000D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74" name="Rule: the slide does not give the final answer. The live investigation earns it."/>
            <p:cNvSpPr txBox="1"/>
            <p:nvPr/>
          </p:nvSpPr>
          <p:spPr>
            <a:xfrm>
              <a:off x="199568" y="159995"/>
              <a:ext cx="8241943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700">
                  <a:solidFill>
                    <a:srgbClr val="1F2332"/>
                  </a:solidFill>
                </a:defRPr>
              </a:lvl1pPr>
            </a:lstStyle>
            <a:p>
              <a:pPr/>
              <a:r>
                <a:t>Rule: the slide does not give the final answer. The live investigation earns it.</a:t>
              </a:r>
            </a:p>
          </p:txBody>
        </p:sp>
      </p:grpSp>
      <p:sp>
        <p:nvSpPr>
          <p:cNvPr id="676" name="TextBox 24"/>
          <p:cNvSpPr txBox="1"/>
          <p:nvPr/>
        </p:nvSpPr>
        <p:spPr>
          <a:xfrm>
            <a:off x="11154144" y="6473952"/>
            <a:ext cx="76048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b="1" sz="1200">
                <a:solidFill>
                  <a:srgbClr val="4B00AA"/>
                </a:solidFill>
              </a:defRPr>
            </a:lvl1pPr>
          </a:lstStyle>
          <a:p>
            <a:pPr/>
            <a:r>
              <a:t>DATADOG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Title 1"/>
          <p:cNvSpPr txBox="1"/>
          <p:nvPr>
            <p:ph type="title"/>
          </p:nvPr>
        </p:nvSpPr>
        <p:spPr>
          <a:xfrm>
            <a:off x="695084" y="695325"/>
            <a:ext cx="10773018" cy="1244600"/>
          </a:xfrm>
          <a:prstGeom prst="rect">
            <a:avLst/>
          </a:prstGeom>
        </p:spPr>
        <p:txBody>
          <a:bodyPr/>
          <a:lstStyle/>
          <a:p>
            <a:pPr>
              <a:defRPr sz="3800">
                <a:latin typeface="Aptos"/>
                <a:ea typeface="Aptos"/>
                <a:cs typeface="Aptos"/>
                <a:sym typeface="Aptos"/>
              </a:defRPr>
            </a:pPr>
            <a:r>
              <a:t>METRICS</a:t>
            </a:r>
          </a:p>
          <a:p>
            <a:pPr>
              <a:defRPr sz="3800">
                <a:latin typeface="Aptos"/>
                <a:ea typeface="Aptos"/>
                <a:cs typeface="Aptos"/>
                <a:sym typeface="Aptos"/>
              </a:defRPr>
            </a:pPr>
            <a:r>
              <a:t>Troubleshooting Foundations</a:t>
            </a:r>
          </a:p>
        </p:txBody>
      </p:sp>
      <p:sp>
        <p:nvSpPr>
          <p:cNvPr id="679" name="Subtitle 2"/>
          <p:cNvSpPr txBox="1"/>
          <p:nvPr>
            <p:ph type="body" sz="quarter" idx="1"/>
          </p:nvPr>
        </p:nvSpPr>
        <p:spPr>
          <a:xfrm>
            <a:off x="695084" y="2077085"/>
            <a:ext cx="10773018" cy="1107440"/>
          </a:xfrm>
          <a:prstGeom prst="rect">
            <a:avLst/>
          </a:prstGeom>
        </p:spPr>
        <p:txBody>
          <a:bodyPr/>
          <a:lstStyle>
            <a:lvl1pPr>
              <a:defRPr sz="21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Before you tune the alert, prove the signal is telling the truth.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Title 1"/>
          <p:cNvSpPr txBox="1"/>
          <p:nvPr>
            <p:ph type="title"/>
          </p:nvPr>
        </p:nvSpPr>
        <p:spPr>
          <a:xfrm>
            <a:off x="695322" y="357808"/>
            <a:ext cx="10795004" cy="868338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Start every Metrics case with the source of truth</a:t>
            </a:r>
          </a:p>
        </p:txBody>
      </p:sp>
      <p:pic>
        <p:nvPicPr>
          <p:cNvPr id="68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21234" y="1234439"/>
            <a:ext cx="8181893" cy="44805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first TSE question is: what is this number?</a:t>
            </a:r>
          </a:p>
        </p:txBody>
      </p:sp>
      <p:sp>
        <p:nvSpPr>
          <p:cNvPr id="685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Case posture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Do not start with the threshold. Start with the metric identity.</a:t>
            </a:r>
          </a:p>
        </p:txBody>
      </p:sp>
      <p:sp>
        <p:nvSpPr>
          <p:cNvPr id="686" name="TextBox 4"/>
          <p:cNvSpPr txBox="1"/>
          <p:nvPr/>
        </p:nvSpPr>
        <p:spPr>
          <a:xfrm>
            <a:off x="4416552" y="749808"/>
            <a:ext cx="6126481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50391">
              <a:defRPr b="1" sz="1953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metric is a claim with metadata</a:t>
            </a:r>
          </a:p>
        </p:txBody>
      </p:sp>
      <p:sp>
        <p:nvSpPr>
          <p:cNvPr id="687" name="TextBox 5"/>
          <p:cNvSpPr txBox="1"/>
          <p:nvPr/>
        </p:nvSpPr>
        <p:spPr>
          <a:xfrm>
            <a:off x="4453128" y="1261872"/>
            <a:ext cx="5852161" cy="1874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Name: what is being measured?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Type: gauge, count/rate, distribution, histogram.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Unit: seconds, milliseconds, bytes, percent, events.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Tags: which dimensions can explain the problem?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Source: Agent check, APM, DogStatsD, API, integration.</a:t>
            </a:r>
          </a:p>
        </p:txBody>
      </p:sp>
      <p:sp>
        <p:nvSpPr>
          <p:cNvPr id="688" name="Rounded Rectangle 6"/>
          <p:cNvSpPr/>
          <p:nvPr/>
        </p:nvSpPr>
        <p:spPr>
          <a:xfrm>
            <a:off x="4407408" y="3429000"/>
            <a:ext cx="1417321" cy="960120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612CC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9" name="TextBox 7"/>
          <p:cNvSpPr txBox="1"/>
          <p:nvPr/>
        </p:nvSpPr>
        <p:spPr>
          <a:xfrm>
            <a:off x="4526279" y="3575303"/>
            <a:ext cx="117957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Name</a:t>
            </a:r>
          </a:p>
        </p:txBody>
      </p:sp>
      <p:sp>
        <p:nvSpPr>
          <p:cNvPr id="690" name="TextBox 8"/>
          <p:cNvSpPr txBox="1"/>
          <p:nvPr/>
        </p:nvSpPr>
        <p:spPr>
          <a:xfrm>
            <a:off x="4526279" y="3867911"/>
            <a:ext cx="1179577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meaning</a:t>
            </a:r>
          </a:p>
        </p:txBody>
      </p:sp>
      <p:sp>
        <p:nvSpPr>
          <p:cNvPr id="691" name="TextBox 9"/>
          <p:cNvSpPr txBox="1"/>
          <p:nvPr/>
        </p:nvSpPr>
        <p:spPr>
          <a:xfrm>
            <a:off x="5907023" y="3730752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692" name="Rounded Rectangle 10"/>
          <p:cNvSpPr/>
          <p:nvPr/>
        </p:nvSpPr>
        <p:spPr>
          <a:xfrm>
            <a:off x="6117335" y="3429000"/>
            <a:ext cx="1417321" cy="960120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612CC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3" name="TextBox 11"/>
          <p:cNvSpPr txBox="1"/>
          <p:nvPr/>
        </p:nvSpPr>
        <p:spPr>
          <a:xfrm>
            <a:off x="6236208" y="3575303"/>
            <a:ext cx="117957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94" name="TextBox 12"/>
          <p:cNvSpPr txBox="1"/>
          <p:nvPr/>
        </p:nvSpPr>
        <p:spPr>
          <a:xfrm>
            <a:off x="6236208" y="3867911"/>
            <a:ext cx="1179577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math</a:t>
            </a:r>
          </a:p>
        </p:txBody>
      </p:sp>
      <p:sp>
        <p:nvSpPr>
          <p:cNvPr id="695" name="TextBox 13"/>
          <p:cNvSpPr txBox="1"/>
          <p:nvPr/>
        </p:nvSpPr>
        <p:spPr>
          <a:xfrm>
            <a:off x="7616951" y="3730752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696" name="Rounded Rectangle 14"/>
          <p:cNvSpPr/>
          <p:nvPr/>
        </p:nvSpPr>
        <p:spPr>
          <a:xfrm>
            <a:off x="7827264" y="3429000"/>
            <a:ext cx="1417321" cy="960120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612CC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7" name="TextBox 15"/>
          <p:cNvSpPr txBox="1"/>
          <p:nvPr/>
        </p:nvSpPr>
        <p:spPr>
          <a:xfrm>
            <a:off x="7946135" y="3575303"/>
            <a:ext cx="117957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Unit</a:t>
            </a:r>
          </a:p>
        </p:txBody>
      </p:sp>
      <p:sp>
        <p:nvSpPr>
          <p:cNvPr id="698" name="TextBox 16"/>
          <p:cNvSpPr txBox="1"/>
          <p:nvPr/>
        </p:nvSpPr>
        <p:spPr>
          <a:xfrm>
            <a:off x="7946135" y="3867911"/>
            <a:ext cx="1179577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scale</a:t>
            </a:r>
          </a:p>
        </p:txBody>
      </p:sp>
      <p:sp>
        <p:nvSpPr>
          <p:cNvPr id="699" name="TextBox 17"/>
          <p:cNvSpPr txBox="1"/>
          <p:nvPr/>
        </p:nvSpPr>
        <p:spPr>
          <a:xfrm>
            <a:off x="9326879" y="3730752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700" name="Rounded Rectangle 18"/>
          <p:cNvSpPr/>
          <p:nvPr/>
        </p:nvSpPr>
        <p:spPr>
          <a:xfrm>
            <a:off x="9537192" y="3429000"/>
            <a:ext cx="1417321" cy="960120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612CC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1" name="TextBox 19"/>
          <p:cNvSpPr txBox="1"/>
          <p:nvPr/>
        </p:nvSpPr>
        <p:spPr>
          <a:xfrm>
            <a:off x="9656063" y="3575303"/>
            <a:ext cx="117957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Tags</a:t>
            </a:r>
          </a:p>
        </p:txBody>
      </p:sp>
      <p:sp>
        <p:nvSpPr>
          <p:cNvPr id="702" name="TextBox 20"/>
          <p:cNvSpPr txBox="1"/>
          <p:nvPr/>
        </p:nvSpPr>
        <p:spPr>
          <a:xfrm>
            <a:off x="9656063" y="3867911"/>
            <a:ext cx="1179577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ownership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Title 1"/>
          <p:cNvSpPr txBox="1"/>
          <p:nvPr>
            <p:ph type="title"/>
          </p:nvPr>
        </p:nvSpPr>
        <p:spPr>
          <a:xfrm>
            <a:off x="695322" y="357808"/>
            <a:ext cx="10795004" cy="868338"/>
          </a:xfrm>
          <a:prstGeom prst="rect">
            <a:avLst/>
          </a:prstGeom>
        </p:spPr>
        <p:txBody>
          <a:bodyPr/>
          <a:lstStyle>
            <a:lvl1pPr>
              <a:defRPr sz="27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Metric type tells you what math is legal</a:t>
            </a:r>
          </a:p>
        </p:txBody>
      </p:sp>
      <p:sp>
        <p:nvSpPr>
          <p:cNvPr id="705" name="Rectangle 3"/>
          <p:cNvSpPr/>
          <p:nvPr/>
        </p:nvSpPr>
        <p:spPr>
          <a:xfrm>
            <a:off x="713231" y="1353311"/>
            <a:ext cx="2514601" cy="3566161"/>
          </a:xfrm>
          <a:prstGeom prst="rect">
            <a:avLst/>
          </a:prstGeom>
          <a:solidFill>
            <a:srgbClr val="FBFAFF"/>
          </a:solidFill>
          <a:ln w="12700">
            <a:solidFill>
              <a:srgbClr val="612CC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708" name="Rounded Rectangle 4"/>
          <p:cNvGrpSpPr/>
          <p:nvPr/>
        </p:nvGrpSpPr>
        <p:grpSpPr>
          <a:xfrm>
            <a:off x="877824" y="1554480"/>
            <a:ext cx="1234440" cy="310897"/>
            <a:chOff x="0" y="0"/>
            <a:chExt cx="1234439" cy="310895"/>
          </a:xfrm>
        </p:grpSpPr>
        <p:sp>
          <p:nvSpPr>
            <p:cNvPr id="706" name="Rounded Rectangle"/>
            <p:cNvSpPr/>
            <p:nvPr/>
          </p:nvSpPr>
          <p:spPr>
            <a:xfrm>
              <a:off x="0" y="0"/>
              <a:ext cx="1234440" cy="310896"/>
            </a:xfrm>
            <a:prstGeom prst="roundRect">
              <a:avLst>
                <a:gd name="adj" fmla="val 16667"/>
              </a:avLst>
            </a:prstGeom>
            <a:solidFill>
              <a:srgbClr val="612CC9"/>
            </a:solidFill>
            <a:ln w="12700" cap="flat">
              <a:solidFill>
                <a:srgbClr val="612CC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07" name="GAUGE"/>
            <p:cNvSpPr txBox="1"/>
            <p:nvPr/>
          </p:nvSpPr>
          <p:spPr>
            <a:xfrm>
              <a:off x="67246" y="21526"/>
              <a:ext cx="1099948" cy="2678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GAUGE</a:t>
              </a:r>
            </a:p>
          </p:txBody>
        </p:sp>
      </p:grpSp>
      <p:sp>
        <p:nvSpPr>
          <p:cNvPr id="709" name="TextBox 5"/>
          <p:cNvSpPr txBox="1"/>
          <p:nvPr/>
        </p:nvSpPr>
        <p:spPr>
          <a:xfrm>
            <a:off x="941831" y="2066544"/>
            <a:ext cx="2057401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6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State right now</a:t>
            </a:r>
          </a:p>
        </p:txBody>
      </p:sp>
      <p:sp>
        <p:nvSpPr>
          <p:cNvPr id="710" name="TextBox 6"/>
          <p:cNvSpPr txBox="1"/>
          <p:nvPr/>
        </p:nvSpPr>
        <p:spPr>
          <a:xfrm>
            <a:off x="941831" y="2651760"/>
            <a:ext cx="205740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2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CPU %, memory used, battery level</a:t>
            </a:r>
          </a:p>
        </p:txBody>
      </p:sp>
      <p:sp>
        <p:nvSpPr>
          <p:cNvPr id="711" name="Rectangle 7"/>
          <p:cNvSpPr/>
          <p:nvPr/>
        </p:nvSpPr>
        <p:spPr>
          <a:xfrm>
            <a:off x="896111" y="3566159"/>
            <a:ext cx="2148841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2" name="TextBox 8"/>
          <p:cNvSpPr txBox="1"/>
          <p:nvPr/>
        </p:nvSpPr>
        <p:spPr>
          <a:xfrm>
            <a:off x="941831" y="3822191"/>
            <a:ext cx="2057401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2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Ask: is the current value actionable?</a:t>
            </a:r>
          </a:p>
        </p:txBody>
      </p:sp>
      <p:sp>
        <p:nvSpPr>
          <p:cNvPr id="713" name="Rectangle 9"/>
          <p:cNvSpPr/>
          <p:nvPr/>
        </p:nvSpPr>
        <p:spPr>
          <a:xfrm>
            <a:off x="3502152" y="1353311"/>
            <a:ext cx="2514601" cy="3566161"/>
          </a:xfrm>
          <a:prstGeom prst="rect">
            <a:avLst/>
          </a:prstGeom>
          <a:solidFill>
            <a:srgbClr val="FBFAFF"/>
          </a:solidFill>
          <a:ln w="12700">
            <a:solidFill>
              <a:srgbClr val="612CC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716" name="Rounded Rectangle 10"/>
          <p:cNvGrpSpPr/>
          <p:nvPr/>
        </p:nvGrpSpPr>
        <p:grpSpPr>
          <a:xfrm>
            <a:off x="3666744" y="1554480"/>
            <a:ext cx="1234440" cy="310897"/>
            <a:chOff x="0" y="0"/>
            <a:chExt cx="1234439" cy="310895"/>
          </a:xfrm>
        </p:grpSpPr>
        <p:sp>
          <p:nvSpPr>
            <p:cNvPr id="714" name="Rounded Rectangle"/>
            <p:cNvSpPr/>
            <p:nvPr/>
          </p:nvSpPr>
          <p:spPr>
            <a:xfrm>
              <a:off x="0" y="0"/>
              <a:ext cx="1234440" cy="310896"/>
            </a:xfrm>
            <a:prstGeom prst="roundRect">
              <a:avLst>
                <a:gd name="adj" fmla="val 16667"/>
              </a:avLst>
            </a:prstGeom>
            <a:solidFill>
              <a:srgbClr val="612CC9"/>
            </a:solidFill>
            <a:ln w="12700" cap="flat">
              <a:solidFill>
                <a:srgbClr val="612CC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15" name="COUNT / RATE"/>
            <p:cNvSpPr txBox="1"/>
            <p:nvPr/>
          </p:nvSpPr>
          <p:spPr>
            <a:xfrm>
              <a:off x="67246" y="21526"/>
              <a:ext cx="1099948" cy="2678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COUNT / RATE</a:t>
              </a:r>
            </a:p>
          </p:txBody>
        </p:sp>
      </p:grpSp>
      <p:sp>
        <p:nvSpPr>
          <p:cNvPr id="717" name="TextBox 11"/>
          <p:cNvSpPr txBox="1"/>
          <p:nvPr/>
        </p:nvSpPr>
        <p:spPr>
          <a:xfrm>
            <a:off x="3730752" y="2066544"/>
            <a:ext cx="2057401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6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Events over time</a:t>
            </a:r>
          </a:p>
        </p:txBody>
      </p:sp>
      <p:sp>
        <p:nvSpPr>
          <p:cNvPr id="718" name="TextBox 12"/>
          <p:cNvSpPr txBox="1"/>
          <p:nvPr/>
        </p:nvSpPr>
        <p:spPr>
          <a:xfrm>
            <a:off x="3730752" y="2651760"/>
            <a:ext cx="205740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2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requests, errors, restarts, orders</a:t>
            </a:r>
          </a:p>
        </p:txBody>
      </p:sp>
      <p:sp>
        <p:nvSpPr>
          <p:cNvPr id="719" name="Rectangle 13"/>
          <p:cNvSpPr/>
          <p:nvPr/>
        </p:nvSpPr>
        <p:spPr>
          <a:xfrm>
            <a:off x="3685032" y="3566159"/>
            <a:ext cx="2148841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0" name="TextBox 14"/>
          <p:cNvSpPr txBox="1"/>
          <p:nvPr/>
        </p:nvSpPr>
        <p:spPr>
          <a:xfrm>
            <a:off x="3730752" y="3822191"/>
            <a:ext cx="2057401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2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Ask: raw total, .as_count(), or .as_rate()?</a:t>
            </a:r>
          </a:p>
        </p:txBody>
      </p:sp>
      <p:sp>
        <p:nvSpPr>
          <p:cNvPr id="721" name="Rectangle 15"/>
          <p:cNvSpPr/>
          <p:nvPr/>
        </p:nvSpPr>
        <p:spPr>
          <a:xfrm>
            <a:off x="6291071" y="1353311"/>
            <a:ext cx="2514601" cy="3566161"/>
          </a:xfrm>
          <a:prstGeom prst="rect">
            <a:avLst/>
          </a:prstGeom>
          <a:solidFill>
            <a:srgbClr val="FBFAFF"/>
          </a:solidFill>
          <a:ln w="12700">
            <a:solidFill>
              <a:srgbClr val="612CC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724" name="Rounded Rectangle 16"/>
          <p:cNvGrpSpPr/>
          <p:nvPr/>
        </p:nvGrpSpPr>
        <p:grpSpPr>
          <a:xfrm>
            <a:off x="6455664" y="1554480"/>
            <a:ext cx="1234441" cy="310897"/>
            <a:chOff x="0" y="0"/>
            <a:chExt cx="1234439" cy="310895"/>
          </a:xfrm>
        </p:grpSpPr>
        <p:sp>
          <p:nvSpPr>
            <p:cNvPr id="722" name="Rounded Rectangle"/>
            <p:cNvSpPr/>
            <p:nvPr/>
          </p:nvSpPr>
          <p:spPr>
            <a:xfrm>
              <a:off x="0" y="0"/>
              <a:ext cx="1234440" cy="310896"/>
            </a:xfrm>
            <a:prstGeom prst="roundRect">
              <a:avLst>
                <a:gd name="adj" fmla="val 16667"/>
              </a:avLst>
            </a:prstGeom>
            <a:solidFill>
              <a:srgbClr val="612CC9"/>
            </a:solidFill>
            <a:ln w="12700" cap="flat">
              <a:solidFill>
                <a:srgbClr val="612CC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23" name="DISTRIBUTION"/>
            <p:cNvSpPr txBox="1"/>
            <p:nvPr/>
          </p:nvSpPr>
          <p:spPr>
            <a:xfrm>
              <a:off x="67246" y="21526"/>
              <a:ext cx="1099948" cy="2678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DISTRIBUTION</a:t>
              </a:r>
            </a:p>
          </p:txBody>
        </p:sp>
      </p:grpSp>
      <p:sp>
        <p:nvSpPr>
          <p:cNvPr id="725" name="TextBox 17"/>
          <p:cNvSpPr txBox="1"/>
          <p:nvPr/>
        </p:nvSpPr>
        <p:spPr>
          <a:xfrm>
            <a:off x="6519671" y="2066544"/>
            <a:ext cx="2057401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6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Server-side spread</a:t>
            </a:r>
          </a:p>
        </p:txBody>
      </p:sp>
      <p:sp>
        <p:nvSpPr>
          <p:cNvPr id="726" name="TextBox 18"/>
          <p:cNvSpPr txBox="1"/>
          <p:nvPr/>
        </p:nvSpPr>
        <p:spPr>
          <a:xfrm>
            <a:off x="6519671" y="2651760"/>
            <a:ext cx="205740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2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APM latency, trace metrics</a:t>
            </a:r>
          </a:p>
        </p:txBody>
      </p:sp>
      <p:sp>
        <p:nvSpPr>
          <p:cNvPr id="727" name="Rectangle 19"/>
          <p:cNvSpPr/>
          <p:nvPr/>
        </p:nvSpPr>
        <p:spPr>
          <a:xfrm>
            <a:off x="6473952" y="3566159"/>
            <a:ext cx="2148841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8" name="TextBox 20"/>
          <p:cNvSpPr txBox="1"/>
          <p:nvPr/>
        </p:nvSpPr>
        <p:spPr>
          <a:xfrm>
            <a:off x="6519671" y="3822191"/>
            <a:ext cx="2057401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2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Ask: avg, p95, p99, max?</a:t>
            </a:r>
          </a:p>
        </p:txBody>
      </p:sp>
      <p:sp>
        <p:nvSpPr>
          <p:cNvPr id="729" name="Rectangle 21"/>
          <p:cNvSpPr/>
          <p:nvPr/>
        </p:nvSpPr>
        <p:spPr>
          <a:xfrm>
            <a:off x="9079992" y="1353311"/>
            <a:ext cx="2514601" cy="3566161"/>
          </a:xfrm>
          <a:prstGeom prst="rect">
            <a:avLst/>
          </a:prstGeom>
          <a:solidFill>
            <a:srgbClr val="FBFAFF"/>
          </a:solidFill>
          <a:ln w="12700">
            <a:solidFill>
              <a:srgbClr val="612CC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732" name="Rounded Rectangle 22"/>
          <p:cNvGrpSpPr/>
          <p:nvPr/>
        </p:nvGrpSpPr>
        <p:grpSpPr>
          <a:xfrm>
            <a:off x="9244583" y="1554480"/>
            <a:ext cx="1234441" cy="310897"/>
            <a:chOff x="0" y="0"/>
            <a:chExt cx="1234439" cy="310895"/>
          </a:xfrm>
        </p:grpSpPr>
        <p:sp>
          <p:nvSpPr>
            <p:cNvPr id="730" name="Rounded Rectangle"/>
            <p:cNvSpPr/>
            <p:nvPr/>
          </p:nvSpPr>
          <p:spPr>
            <a:xfrm>
              <a:off x="0" y="0"/>
              <a:ext cx="1234440" cy="310896"/>
            </a:xfrm>
            <a:prstGeom prst="roundRect">
              <a:avLst>
                <a:gd name="adj" fmla="val 16667"/>
              </a:avLst>
            </a:prstGeom>
            <a:solidFill>
              <a:srgbClr val="612CC9"/>
            </a:solidFill>
            <a:ln w="12700" cap="flat">
              <a:solidFill>
                <a:srgbClr val="612CC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31" name="HISTOGRAM"/>
            <p:cNvSpPr txBox="1"/>
            <p:nvPr/>
          </p:nvSpPr>
          <p:spPr>
            <a:xfrm>
              <a:off x="67246" y="21526"/>
              <a:ext cx="1099948" cy="2678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HISTOGRAM</a:t>
              </a:r>
            </a:p>
          </p:txBody>
        </p:sp>
      </p:grpSp>
      <p:sp>
        <p:nvSpPr>
          <p:cNvPr id="733" name="TextBox 23"/>
          <p:cNvSpPr txBox="1"/>
          <p:nvPr/>
        </p:nvSpPr>
        <p:spPr>
          <a:xfrm>
            <a:off x="9308591" y="2066544"/>
            <a:ext cx="2057401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6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Agent-side spread</a:t>
            </a:r>
          </a:p>
        </p:txBody>
      </p:sp>
      <p:sp>
        <p:nvSpPr>
          <p:cNvPr id="734" name="TextBox 24"/>
          <p:cNvSpPr txBox="1"/>
          <p:nvPr/>
        </p:nvSpPr>
        <p:spPr>
          <a:xfrm>
            <a:off x="9308591" y="2651760"/>
            <a:ext cx="205740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2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DogStatsD latency, payload size</a:t>
            </a:r>
          </a:p>
        </p:txBody>
      </p:sp>
      <p:sp>
        <p:nvSpPr>
          <p:cNvPr id="735" name="Rectangle 25"/>
          <p:cNvSpPr/>
          <p:nvPr/>
        </p:nvSpPr>
        <p:spPr>
          <a:xfrm>
            <a:off x="9262871" y="3566159"/>
            <a:ext cx="2148841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6" name="TextBox 26"/>
          <p:cNvSpPr txBox="1"/>
          <p:nvPr/>
        </p:nvSpPr>
        <p:spPr>
          <a:xfrm>
            <a:off x="9308591" y="3822191"/>
            <a:ext cx="2057401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2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Ask: which generated metric suffix?</a:t>
            </a:r>
          </a:p>
        </p:txBody>
      </p:sp>
      <p:sp>
        <p:nvSpPr>
          <p:cNvPr id="737" name="TextBox 27"/>
          <p:cNvSpPr txBox="1"/>
          <p:nvPr/>
        </p:nvSpPr>
        <p:spPr>
          <a:xfrm>
            <a:off x="886967" y="5285232"/>
            <a:ext cx="10149842" cy="43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68680">
              <a:defRPr b="1" sz="142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Troubleshooting smell: when the graph looks impossible, verify type and unit before assuming the product is wrong.</a:t>
            </a:r>
          </a:p>
        </p:txBody>
      </p:sp>
      <p:sp>
        <p:nvSpPr>
          <p:cNvPr id="738" name="Reference Pill Background"/>
          <p:cNvSpPr/>
          <p:nvPr/>
        </p:nvSpPr>
        <p:spPr>
          <a:xfrm>
            <a:off x="6318503" y="6053328"/>
            <a:ext cx="1597888" cy="3108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9" name="TextBox 29"/>
          <p:cNvSpPr txBox="1"/>
          <p:nvPr/>
        </p:nvSpPr>
        <p:spPr>
          <a:xfrm>
            <a:off x="6492240" y="6126479"/>
            <a:ext cx="1250415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800">
                <a:solidFill>
                  <a:srgbClr val="1E212B"/>
                </a:solidFill>
              </a:defRPr>
            </a:pPr>
            <a:r>
              <a:t>Reference: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2" invalidUrl="" action="" tgtFrame="" tooltip="" history="1" highlightClick="0" endSnd="0"/>
              </a:rPr>
              <a:t>Metric types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Every graph is an aggregation pipeline</a:t>
            </a:r>
          </a:p>
        </p:txBody>
      </p:sp>
      <p:sp>
        <p:nvSpPr>
          <p:cNvPr id="742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Why this matters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Two engineers can look at the same metric and see different stories because the query changed the signal.</a:t>
            </a:r>
          </a:p>
        </p:txBody>
      </p:sp>
      <p:sp>
        <p:nvSpPr>
          <p:cNvPr id="743" name="TextBox 4"/>
          <p:cNvSpPr txBox="1"/>
          <p:nvPr/>
        </p:nvSpPr>
        <p:spPr>
          <a:xfrm>
            <a:off x="4416552" y="749808"/>
            <a:ext cx="6126481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50391">
              <a:defRPr b="1" sz="1953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Read a query from left to right</a:t>
            </a:r>
          </a:p>
        </p:txBody>
      </p:sp>
      <p:sp>
        <p:nvSpPr>
          <p:cNvPr id="744" name="Rounded Rectangle 5"/>
          <p:cNvSpPr/>
          <p:nvPr/>
        </p:nvSpPr>
        <p:spPr>
          <a:xfrm>
            <a:off x="4407408" y="1417319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612CC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5" name="TextBox 6"/>
          <p:cNvSpPr txBox="1"/>
          <p:nvPr/>
        </p:nvSpPr>
        <p:spPr>
          <a:xfrm>
            <a:off x="4526279" y="1563624"/>
            <a:ext cx="117957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Raw points</a:t>
            </a:r>
          </a:p>
        </p:txBody>
      </p:sp>
      <p:sp>
        <p:nvSpPr>
          <p:cNvPr id="746" name="TextBox 7"/>
          <p:cNvSpPr txBox="1"/>
          <p:nvPr/>
        </p:nvSpPr>
        <p:spPr>
          <a:xfrm>
            <a:off x="4526279" y="1856232"/>
            <a:ext cx="1179577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10s-ish samples</a:t>
            </a:r>
          </a:p>
        </p:txBody>
      </p:sp>
      <p:sp>
        <p:nvSpPr>
          <p:cNvPr id="747" name="TextBox 8"/>
          <p:cNvSpPr txBox="1"/>
          <p:nvPr/>
        </p:nvSpPr>
        <p:spPr>
          <a:xfrm>
            <a:off x="5907023" y="1719072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748" name="Rounded Rectangle 9"/>
          <p:cNvSpPr/>
          <p:nvPr/>
        </p:nvSpPr>
        <p:spPr>
          <a:xfrm>
            <a:off x="6117335" y="1417319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612CC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9" name="TextBox 10"/>
          <p:cNvSpPr txBox="1"/>
          <p:nvPr/>
        </p:nvSpPr>
        <p:spPr>
          <a:xfrm>
            <a:off x="6236208" y="1563624"/>
            <a:ext cx="117957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Time agg</a:t>
            </a:r>
          </a:p>
        </p:txBody>
      </p:sp>
      <p:sp>
        <p:nvSpPr>
          <p:cNvPr id="750" name="TextBox 11"/>
          <p:cNvSpPr txBox="1"/>
          <p:nvPr/>
        </p:nvSpPr>
        <p:spPr>
          <a:xfrm>
            <a:off x="6236208" y="1856232"/>
            <a:ext cx="1179577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avg/max/sum/last</a:t>
            </a:r>
          </a:p>
        </p:txBody>
      </p:sp>
      <p:sp>
        <p:nvSpPr>
          <p:cNvPr id="751" name="TextBox 12"/>
          <p:cNvSpPr txBox="1"/>
          <p:nvPr/>
        </p:nvSpPr>
        <p:spPr>
          <a:xfrm>
            <a:off x="7616951" y="1719072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752" name="Rounded Rectangle 13"/>
          <p:cNvSpPr/>
          <p:nvPr/>
        </p:nvSpPr>
        <p:spPr>
          <a:xfrm>
            <a:off x="7827264" y="1417319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612CC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3" name="TextBox 14"/>
          <p:cNvSpPr txBox="1"/>
          <p:nvPr/>
        </p:nvSpPr>
        <p:spPr>
          <a:xfrm>
            <a:off x="7946135" y="1563624"/>
            <a:ext cx="117957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Space agg</a:t>
            </a:r>
          </a:p>
        </p:txBody>
      </p:sp>
      <p:sp>
        <p:nvSpPr>
          <p:cNvPr id="754" name="TextBox 15"/>
          <p:cNvSpPr txBox="1"/>
          <p:nvPr/>
        </p:nvSpPr>
        <p:spPr>
          <a:xfrm>
            <a:off x="7946135" y="1856232"/>
            <a:ext cx="1179577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avg by host</a:t>
            </a:r>
          </a:p>
        </p:txBody>
      </p:sp>
      <p:sp>
        <p:nvSpPr>
          <p:cNvPr id="755" name="TextBox 16"/>
          <p:cNvSpPr txBox="1"/>
          <p:nvPr/>
        </p:nvSpPr>
        <p:spPr>
          <a:xfrm>
            <a:off x="9326879" y="1719072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756" name="Rounded Rectangle 17"/>
          <p:cNvSpPr/>
          <p:nvPr/>
        </p:nvSpPr>
        <p:spPr>
          <a:xfrm>
            <a:off x="9537192" y="1417319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612CC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7" name="TextBox 18"/>
          <p:cNvSpPr txBox="1"/>
          <p:nvPr/>
        </p:nvSpPr>
        <p:spPr>
          <a:xfrm>
            <a:off x="9656063" y="1563624"/>
            <a:ext cx="117957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Functions</a:t>
            </a:r>
          </a:p>
        </p:txBody>
      </p:sp>
      <p:sp>
        <p:nvSpPr>
          <p:cNvPr id="758" name="TextBox 19"/>
          <p:cNvSpPr txBox="1"/>
          <p:nvPr/>
        </p:nvSpPr>
        <p:spPr>
          <a:xfrm>
            <a:off x="9656063" y="1856232"/>
            <a:ext cx="1179577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rollup/change</a:t>
            </a:r>
          </a:p>
        </p:txBody>
      </p:sp>
      <p:sp>
        <p:nvSpPr>
          <p:cNvPr id="759" name="TextBox 20"/>
          <p:cNvSpPr txBox="1"/>
          <p:nvPr/>
        </p:nvSpPr>
        <p:spPr>
          <a:xfrm>
            <a:off x="4453127" y="3063239"/>
            <a:ext cx="5989321" cy="1417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500"/>
              </a:spcBef>
              <a:defRPr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Time aggregation answers: what happened inside each bucket?</a:t>
            </a:r>
          </a:p>
          <a:p>
            <a:pPr>
              <a:spcBef>
                <a:spcPts val="500"/>
              </a:spcBef>
              <a:defRPr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Space aggregation answers: which sources are combined or split?</a:t>
            </a:r>
          </a:p>
          <a:p>
            <a:pPr>
              <a:spcBef>
                <a:spcPts val="500"/>
              </a:spcBef>
              <a:defRPr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Functions can reveal the issue or erase it.</a:t>
            </a:r>
          </a:p>
          <a:p>
            <a:pPr>
              <a:spcBef>
                <a:spcPts val="500"/>
              </a:spcBef>
              <a:defRPr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 monitor evaluates the transformed signal, not the raw universe.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TextBox 1"/>
          <p:cNvSpPr txBox="1"/>
          <p:nvPr/>
        </p:nvSpPr>
        <p:spPr>
          <a:xfrm>
            <a:off x="731519" y="411480"/>
            <a:ext cx="10698482" cy="572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1E212B"/>
                </a:solidFill>
              </a:defRPr>
            </a:lvl1pPr>
          </a:lstStyle>
          <a:p>
            <a:pPr/>
            <a:r>
              <a:t>Time aggregation vs space aggregation</a:t>
            </a:r>
          </a:p>
        </p:txBody>
      </p:sp>
      <p:sp>
        <p:nvSpPr>
          <p:cNvPr id="762" name="TextBox 2"/>
          <p:cNvSpPr txBox="1"/>
          <p:nvPr/>
        </p:nvSpPr>
        <p:spPr>
          <a:xfrm>
            <a:off x="758951" y="987552"/>
            <a:ext cx="9601201" cy="33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55E6F"/>
                </a:solidFill>
              </a:defRPr>
            </a:lvl1pPr>
          </a:lstStyle>
          <a:p>
            <a:pPr/>
            <a:r>
              <a:t>Same metric, different story. Separate the two questions before changing the threshold.</a:t>
            </a:r>
          </a:p>
        </p:txBody>
      </p:sp>
      <p:sp>
        <p:nvSpPr>
          <p:cNvPr id="763" name="Rounded Rectangle 3"/>
          <p:cNvSpPr/>
          <p:nvPr/>
        </p:nvSpPr>
        <p:spPr>
          <a:xfrm>
            <a:off x="777240" y="1600200"/>
            <a:ext cx="4800601" cy="3520441"/>
          </a:xfrm>
          <a:prstGeom prst="roundRect">
            <a:avLst>
              <a:gd name="adj" fmla="val 16667"/>
            </a:avLst>
          </a:prstGeom>
          <a:solidFill>
            <a:srgbClr val="F7F7FC"/>
          </a:solidFill>
          <a:ln w="1270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4" name="Rounded Rectangle 4"/>
          <p:cNvSpPr/>
          <p:nvPr/>
        </p:nvSpPr>
        <p:spPr>
          <a:xfrm>
            <a:off x="6309359" y="1600200"/>
            <a:ext cx="4800601" cy="3520441"/>
          </a:xfrm>
          <a:prstGeom prst="roundRect">
            <a:avLst>
              <a:gd name="adj" fmla="val 16667"/>
            </a:avLst>
          </a:prstGeom>
          <a:solidFill>
            <a:srgbClr val="F7F7FC"/>
          </a:solidFill>
          <a:ln w="1270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5" name="Rounded Rectangle 5"/>
          <p:cNvSpPr/>
          <p:nvPr/>
        </p:nvSpPr>
        <p:spPr>
          <a:xfrm>
            <a:off x="1097280" y="1892807"/>
            <a:ext cx="1691640" cy="329185"/>
          </a:xfrm>
          <a:prstGeom prst="roundRect">
            <a:avLst>
              <a:gd name="adj" fmla="val 16667"/>
            </a:avLst>
          </a:prstGeom>
          <a:solidFill>
            <a:srgbClr val="1F82FF"/>
          </a:solidFill>
          <a:ln>
            <a:solidFill>
              <a:srgbClr val="1F82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6" name="TextBox 6"/>
          <p:cNvSpPr txBox="1"/>
          <p:nvPr/>
        </p:nvSpPr>
        <p:spPr>
          <a:xfrm>
            <a:off x="1143000" y="1947672"/>
            <a:ext cx="1600200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TIME AGG</a:t>
            </a:r>
          </a:p>
        </p:txBody>
      </p:sp>
      <p:sp>
        <p:nvSpPr>
          <p:cNvPr id="767" name="Rounded Rectangle 7"/>
          <p:cNvSpPr/>
          <p:nvPr/>
        </p:nvSpPr>
        <p:spPr>
          <a:xfrm>
            <a:off x="6629400" y="1892807"/>
            <a:ext cx="1783080" cy="329185"/>
          </a:xfrm>
          <a:prstGeom prst="roundRect">
            <a:avLst>
              <a:gd name="adj" fmla="val 16667"/>
            </a:avLst>
          </a:prstGeom>
          <a:solidFill>
            <a:srgbClr val="EE4D83"/>
          </a:solidFill>
          <a:ln>
            <a:solidFill>
              <a:srgbClr val="EE4D8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8" name="TextBox 8"/>
          <p:cNvSpPr txBox="1"/>
          <p:nvPr/>
        </p:nvSpPr>
        <p:spPr>
          <a:xfrm>
            <a:off x="6675119" y="1947672"/>
            <a:ext cx="1691640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SPACE AGG</a:t>
            </a:r>
          </a:p>
        </p:txBody>
      </p:sp>
      <p:sp>
        <p:nvSpPr>
          <p:cNvPr id="769" name="TextBox 9"/>
          <p:cNvSpPr txBox="1"/>
          <p:nvPr/>
        </p:nvSpPr>
        <p:spPr>
          <a:xfrm>
            <a:off x="1143000" y="2441448"/>
            <a:ext cx="4069080" cy="742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1E212B"/>
                </a:solidFill>
              </a:defRPr>
            </a:lvl1pPr>
          </a:lstStyle>
          <a:p>
            <a:pPr/>
            <a:r>
              <a:t>What happened inside the time window?</a:t>
            </a:r>
          </a:p>
        </p:txBody>
      </p:sp>
      <p:sp>
        <p:nvSpPr>
          <p:cNvPr id="770" name="TextBox 10"/>
          <p:cNvSpPr txBox="1"/>
          <p:nvPr/>
        </p:nvSpPr>
        <p:spPr>
          <a:xfrm>
            <a:off x="6675119" y="2441448"/>
            <a:ext cx="4069081" cy="742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1E212B"/>
                </a:solidFill>
              </a:defRPr>
            </a:lvl1pPr>
          </a:lstStyle>
          <a:p>
            <a:pPr/>
            <a:r>
              <a:t>Which sources were mixed together?</a:t>
            </a:r>
          </a:p>
        </p:txBody>
      </p:sp>
      <p:sp>
        <p:nvSpPr>
          <p:cNvPr id="771" name="TextBox 11"/>
          <p:cNvSpPr txBox="1"/>
          <p:nvPr/>
        </p:nvSpPr>
        <p:spPr>
          <a:xfrm>
            <a:off x="1207008" y="3337559"/>
            <a:ext cx="3931919" cy="1024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1700">
                <a:solidFill>
                  <a:srgbClr val="555E6F"/>
                </a:solidFill>
              </a:defRPr>
            </a:pPr>
            <a:r>
              <a:t>avg over 10m can hide a spike</a:t>
            </a:r>
          </a:p>
          <a:p>
            <a:pPr>
              <a:spcBef>
                <a:spcPts val="700"/>
              </a:spcBef>
              <a:defRPr sz="1700">
                <a:solidFill>
                  <a:srgbClr val="555E6F"/>
                </a:solidFill>
              </a:defRPr>
            </a:pPr>
            <a:r>
              <a:t>max keeps short peaks visible</a:t>
            </a:r>
          </a:p>
          <a:p>
            <a:pPr>
              <a:spcBef>
                <a:spcPts val="700"/>
              </a:spcBef>
              <a:defRPr sz="1700">
                <a:solidFill>
                  <a:srgbClr val="555E6F"/>
                </a:solidFill>
              </a:defRPr>
            </a:pPr>
            <a:r>
              <a:t>rollup changes the evidence</a:t>
            </a:r>
          </a:p>
        </p:txBody>
      </p:sp>
      <p:sp>
        <p:nvSpPr>
          <p:cNvPr id="772" name="TextBox 12"/>
          <p:cNvSpPr txBox="1"/>
          <p:nvPr/>
        </p:nvSpPr>
        <p:spPr>
          <a:xfrm>
            <a:off x="6739127" y="3337559"/>
            <a:ext cx="3931920" cy="1024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1700">
                <a:solidFill>
                  <a:srgbClr val="555E6F"/>
                </a:solidFill>
              </a:defRPr>
            </a:pPr>
            <a:r>
              <a:t>avg across hosts can hide one hot host</a:t>
            </a:r>
          </a:p>
          <a:p>
            <a:pPr>
              <a:spcBef>
                <a:spcPts val="700"/>
              </a:spcBef>
              <a:defRPr sz="1700">
                <a:solidFill>
                  <a:srgbClr val="555E6F"/>
                </a:solidFill>
              </a:defRPr>
            </a:pPr>
            <a:r>
              <a:t>no group-by can hide one bad endpoint</a:t>
            </a:r>
          </a:p>
          <a:p>
            <a:pPr>
              <a:spcBef>
                <a:spcPts val="700"/>
              </a:spcBef>
              <a:defRPr sz="1700">
                <a:solidFill>
                  <a:srgbClr val="555E6F"/>
                </a:solidFill>
              </a:defRPr>
            </a:pPr>
            <a:r>
              <a:t>split only when action differs</a:t>
            </a:r>
          </a:p>
        </p:txBody>
      </p:sp>
      <p:sp>
        <p:nvSpPr>
          <p:cNvPr id="773" name="Rounded Rectangle 13"/>
          <p:cNvSpPr/>
          <p:nvPr/>
        </p:nvSpPr>
        <p:spPr>
          <a:xfrm>
            <a:off x="1508760" y="5486400"/>
            <a:ext cx="9144001" cy="53035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632DB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4" name="TextBox 14"/>
          <p:cNvSpPr txBox="1"/>
          <p:nvPr/>
        </p:nvSpPr>
        <p:spPr>
          <a:xfrm>
            <a:off x="1514474" y="5594879"/>
            <a:ext cx="9163051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1E212B"/>
                </a:solidFill>
              </a:defRPr>
            </a:lvl1pPr>
          </a:lstStyle>
          <a:p>
            <a:pPr/>
            <a:r>
              <a:t>TSE move: change time first, then space. Do not change both axes and the threshold at once.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Tags decide whether you can find the problem</a:t>
            </a:r>
          </a:p>
        </p:txBody>
      </p:sp>
      <p:sp>
        <p:nvSpPr>
          <p:cNvPr id="777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Troubleshooting lens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A metric without useful tags can tell you something is wrong, but not where to act.</a:t>
            </a:r>
          </a:p>
        </p:txBody>
      </p:sp>
      <p:sp>
        <p:nvSpPr>
          <p:cNvPr id="778" name="TextBox 4"/>
          <p:cNvSpPr txBox="1"/>
          <p:nvPr/>
        </p:nvSpPr>
        <p:spPr>
          <a:xfrm>
            <a:off x="4416552" y="749808"/>
            <a:ext cx="6126481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50391">
              <a:defRPr b="1" sz="1953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Use tags as investigation handles</a:t>
            </a:r>
          </a:p>
        </p:txBody>
      </p:sp>
      <p:grpSp>
        <p:nvGrpSpPr>
          <p:cNvPr id="781" name="Rounded Rectangle 5"/>
          <p:cNvGrpSpPr/>
          <p:nvPr/>
        </p:nvGrpSpPr>
        <p:grpSpPr>
          <a:xfrm>
            <a:off x="4407408" y="1261872"/>
            <a:ext cx="1234441" cy="292609"/>
            <a:chOff x="0" y="0"/>
            <a:chExt cx="1234439" cy="292608"/>
          </a:xfrm>
        </p:grpSpPr>
        <p:sp>
          <p:nvSpPr>
            <p:cNvPr id="779" name="Rounded Rectangle"/>
            <p:cNvSpPr/>
            <p:nvPr/>
          </p:nvSpPr>
          <p:spPr>
            <a:xfrm>
              <a:off x="0" y="0"/>
              <a:ext cx="1234440" cy="292609"/>
            </a:xfrm>
            <a:prstGeom prst="roundRect">
              <a:avLst>
                <a:gd name="adj" fmla="val 16667"/>
              </a:avLst>
            </a:prstGeom>
            <a:solidFill>
              <a:srgbClr val="612CC9"/>
            </a:solidFill>
            <a:ln w="12700" cap="flat">
              <a:solidFill>
                <a:srgbClr val="612CC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80" name="APM"/>
            <p:cNvSpPr txBox="1"/>
            <p:nvPr/>
          </p:nvSpPr>
          <p:spPr>
            <a:xfrm>
              <a:off x="66353" y="20633"/>
              <a:ext cx="1101734" cy="25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APM</a:t>
              </a:r>
            </a:p>
          </p:txBody>
        </p:sp>
      </p:grpSp>
      <p:sp>
        <p:nvSpPr>
          <p:cNvPr id="782" name="TextBox 6"/>
          <p:cNvSpPr txBox="1"/>
          <p:nvPr/>
        </p:nvSpPr>
        <p:spPr>
          <a:xfrm>
            <a:off x="5852160" y="1243583"/>
            <a:ext cx="4754881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resource_name reveals the slow endpoint</a:t>
            </a:r>
          </a:p>
        </p:txBody>
      </p:sp>
      <p:grpSp>
        <p:nvGrpSpPr>
          <p:cNvPr id="785" name="Rounded Rectangle 7"/>
          <p:cNvGrpSpPr/>
          <p:nvPr/>
        </p:nvGrpSpPr>
        <p:grpSpPr>
          <a:xfrm>
            <a:off x="4407408" y="1828800"/>
            <a:ext cx="1234441" cy="292609"/>
            <a:chOff x="0" y="0"/>
            <a:chExt cx="1234439" cy="292608"/>
          </a:xfrm>
        </p:grpSpPr>
        <p:sp>
          <p:nvSpPr>
            <p:cNvPr id="783" name="Rounded Rectangle"/>
            <p:cNvSpPr/>
            <p:nvPr/>
          </p:nvSpPr>
          <p:spPr>
            <a:xfrm>
              <a:off x="0" y="0"/>
              <a:ext cx="1234440" cy="292609"/>
            </a:xfrm>
            <a:prstGeom prst="roundRect">
              <a:avLst>
                <a:gd name="adj" fmla="val 16667"/>
              </a:avLst>
            </a:prstGeom>
            <a:solidFill>
              <a:srgbClr val="612CC9"/>
            </a:solidFill>
            <a:ln w="12700" cap="flat">
              <a:solidFill>
                <a:srgbClr val="612CC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84" name="Kubernetes"/>
            <p:cNvSpPr txBox="1"/>
            <p:nvPr/>
          </p:nvSpPr>
          <p:spPr>
            <a:xfrm>
              <a:off x="66353" y="20633"/>
              <a:ext cx="1101734" cy="25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Kubernetes</a:t>
              </a:r>
            </a:p>
          </p:txBody>
        </p:sp>
      </p:grpSp>
      <p:sp>
        <p:nvSpPr>
          <p:cNvPr id="786" name="TextBox 8"/>
          <p:cNvSpPr txBox="1"/>
          <p:nvPr/>
        </p:nvSpPr>
        <p:spPr>
          <a:xfrm>
            <a:off x="5852160" y="1810511"/>
            <a:ext cx="4754881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kube_deployment maps the issue to an owner</a:t>
            </a:r>
          </a:p>
        </p:txBody>
      </p:sp>
      <p:grpSp>
        <p:nvGrpSpPr>
          <p:cNvPr id="789" name="Rounded Rectangle 9"/>
          <p:cNvGrpSpPr/>
          <p:nvPr/>
        </p:nvGrpSpPr>
        <p:grpSpPr>
          <a:xfrm>
            <a:off x="4407408" y="2395727"/>
            <a:ext cx="1234441" cy="292610"/>
            <a:chOff x="0" y="0"/>
            <a:chExt cx="1234439" cy="292608"/>
          </a:xfrm>
        </p:grpSpPr>
        <p:sp>
          <p:nvSpPr>
            <p:cNvPr id="787" name="Rounded Rectangle"/>
            <p:cNvSpPr/>
            <p:nvPr/>
          </p:nvSpPr>
          <p:spPr>
            <a:xfrm>
              <a:off x="0" y="0"/>
              <a:ext cx="1234440" cy="292609"/>
            </a:xfrm>
            <a:prstGeom prst="roundRect">
              <a:avLst>
                <a:gd name="adj" fmla="val 16667"/>
              </a:avLst>
            </a:prstGeom>
            <a:solidFill>
              <a:srgbClr val="612CC9"/>
            </a:solidFill>
            <a:ln w="12700" cap="flat">
              <a:solidFill>
                <a:srgbClr val="612CC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88" name="DBM"/>
            <p:cNvSpPr txBox="1"/>
            <p:nvPr/>
          </p:nvSpPr>
          <p:spPr>
            <a:xfrm>
              <a:off x="66353" y="20633"/>
              <a:ext cx="1101734" cy="25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DBM</a:t>
              </a:r>
            </a:p>
          </p:txBody>
        </p:sp>
      </p:grpSp>
      <p:sp>
        <p:nvSpPr>
          <p:cNvPr id="790" name="TextBox 10"/>
          <p:cNvSpPr txBox="1"/>
          <p:nvPr/>
        </p:nvSpPr>
        <p:spPr>
          <a:xfrm>
            <a:off x="5852160" y="2377439"/>
            <a:ext cx="4754881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db separates the hot database from the quiet ones</a:t>
            </a:r>
          </a:p>
        </p:txBody>
      </p:sp>
      <p:grpSp>
        <p:nvGrpSpPr>
          <p:cNvPr id="793" name="Rounded Rectangle 11"/>
          <p:cNvGrpSpPr/>
          <p:nvPr/>
        </p:nvGrpSpPr>
        <p:grpSpPr>
          <a:xfrm>
            <a:off x="4407408" y="2962655"/>
            <a:ext cx="1234441" cy="292609"/>
            <a:chOff x="0" y="0"/>
            <a:chExt cx="1234439" cy="292608"/>
          </a:xfrm>
        </p:grpSpPr>
        <p:sp>
          <p:nvSpPr>
            <p:cNvPr id="791" name="Rounded Rectangle"/>
            <p:cNvSpPr/>
            <p:nvPr/>
          </p:nvSpPr>
          <p:spPr>
            <a:xfrm>
              <a:off x="0" y="0"/>
              <a:ext cx="1234440" cy="292609"/>
            </a:xfrm>
            <a:prstGeom prst="roundRect">
              <a:avLst>
                <a:gd name="adj" fmla="val 16667"/>
              </a:avLst>
            </a:prstGeom>
            <a:solidFill>
              <a:srgbClr val="612CC9"/>
            </a:solidFill>
            <a:ln w="12700" cap="flat">
              <a:solidFill>
                <a:srgbClr val="612CC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92" name="Logs"/>
            <p:cNvSpPr txBox="1"/>
            <p:nvPr/>
          </p:nvSpPr>
          <p:spPr>
            <a:xfrm>
              <a:off x="66353" y="20633"/>
              <a:ext cx="1101734" cy="25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Logs</a:t>
              </a:r>
            </a:p>
          </p:txBody>
        </p:sp>
      </p:grpSp>
      <p:sp>
        <p:nvSpPr>
          <p:cNvPr id="794" name="TextBox 12"/>
          <p:cNvSpPr txBox="1"/>
          <p:nvPr/>
        </p:nvSpPr>
        <p:spPr>
          <a:xfrm>
            <a:off x="5852160" y="2944367"/>
            <a:ext cx="4754881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service/status/region keeps the query precise</a:t>
            </a:r>
          </a:p>
        </p:txBody>
      </p:sp>
      <p:grpSp>
        <p:nvGrpSpPr>
          <p:cNvPr id="797" name="Rounded Rectangle 13"/>
          <p:cNvGrpSpPr/>
          <p:nvPr/>
        </p:nvGrpSpPr>
        <p:grpSpPr>
          <a:xfrm>
            <a:off x="4407408" y="3529584"/>
            <a:ext cx="1234441" cy="292609"/>
            <a:chOff x="0" y="0"/>
            <a:chExt cx="1234439" cy="292608"/>
          </a:xfrm>
        </p:grpSpPr>
        <p:sp>
          <p:nvSpPr>
            <p:cNvPr id="795" name="Rounded Rectangle"/>
            <p:cNvSpPr/>
            <p:nvPr/>
          </p:nvSpPr>
          <p:spPr>
            <a:xfrm>
              <a:off x="0" y="0"/>
              <a:ext cx="1234440" cy="292609"/>
            </a:xfrm>
            <a:prstGeom prst="roundRect">
              <a:avLst>
                <a:gd name="adj" fmla="val 16667"/>
              </a:avLst>
            </a:prstGeom>
            <a:solidFill>
              <a:srgbClr val="612CC9"/>
            </a:solidFill>
            <a:ln w="12700" cap="flat">
              <a:solidFill>
                <a:srgbClr val="612CC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96" name="Custom metrics"/>
            <p:cNvSpPr txBox="1"/>
            <p:nvPr/>
          </p:nvSpPr>
          <p:spPr>
            <a:xfrm>
              <a:off x="66353" y="20633"/>
              <a:ext cx="1101734" cy="25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Custom metrics</a:t>
              </a:r>
            </a:p>
          </p:txBody>
        </p:sp>
      </p:grpSp>
      <p:sp>
        <p:nvSpPr>
          <p:cNvPr id="798" name="TextBox 14"/>
          <p:cNvSpPr txBox="1"/>
          <p:nvPr/>
        </p:nvSpPr>
        <p:spPr>
          <a:xfrm>
            <a:off x="5852160" y="3511296"/>
            <a:ext cx="4754881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region/payment_method/sensor_id expose the hidden segment</a:t>
            </a:r>
          </a:p>
        </p:txBody>
      </p:sp>
      <p:sp>
        <p:nvSpPr>
          <p:cNvPr id="799" name="TextBox 15"/>
          <p:cNvSpPr txBox="1"/>
          <p:nvPr/>
        </p:nvSpPr>
        <p:spPr>
          <a:xfrm>
            <a:off x="4480560" y="4645152"/>
            <a:ext cx="5852161" cy="585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Cardinality check: the tag that helps investigation can also explode cost/noise. Use it when it maps to action.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Resolution changes the story you tell</a:t>
            </a:r>
          </a:p>
        </p:txBody>
      </p:sp>
      <p:sp>
        <p:nvSpPr>
          <p:cNvPr id="802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Case smell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The customer says the spike happened. Your graph says it did not. Both can be true.</a:t>
            </a:r>
          </a:p>
        </p:txBody>
      </p:sp>
      <p:sp>
        <p:nvSpPr>
          <p:cNvPr id="803" name="TextBox 4"/>
          <p:cNvSpPr txBox="1"/>
          <p:nvPr/>
        </p:nvSpPr>
        <p:spPr>
          <a:xfrm>
            <a:off x="4416552" y="749808"/>
            <a:ext cx="6126481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50391">
              <a:defRPr b="1" sz="1953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Troubleshoot the graph before the customer</a:t>
            </a:r>
          </a:p>
        </p:txBody>
      </p:sp>
      <p:sp>
        <p:nvSpPr>
          <p:cNvPr id="804" name="Rectangle 5"/>
          <p:cNvSpPr/>
          <p:nvPr/>
        </p:nvSpPr>
        <p:spPr>
          <a:xfrm>
            <a:off x="4407408" y="1353311"/>
            <a:ext cx="5715001" cy="2057401"/>
          </a:xfrm>
          <a:prstGeom prst="rect">
            <a:avLst/>
          </a:prstGeom>
          <a:solidFill>
            <a:srgbClr val="FBFAFF"/>
          </a:solidFill>
          <a:ln w="12700">
            <a:solidFill>
              <a:srgbClr val="D6CF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5" name="Rectangle 6"/>
          <p:cNvSpPr/>
          <p:nvPr/>
        </p:nvSpPr>
        <p:spPr>
          <a:xfrm>
            <a:off x="4727447" y="3026664"/>
            <a:ext cx="5074921" cy="38101"/>
          </a:xfrm>
          <a:prstGeom prst="rect">
            <a:avLst/>
          </a:prstGeom>
          <a:solidFill>
            <a:srgbClr val="DCD8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6" name="Rectangle 7"/>
          <p:cNvSpPr/>
          <p:nvPr/>
        </p:nvSpPr>
        <p:spPr>
          <a:xfrm>
            <a:off x="4727447" y="1673351"/>
            <a:ext cx="25401" cy="1344169"/>
          </a:xfrm>
          <a:prstGeom prst="rect">
            <a:avLst/>
          </a:prstGeom>
          <a:solidFill>
            <a:srgbClr val="DCD8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7" name="Connector 8"/>
          <p:cNvSpPr/>
          <p:nvPr/>
        </p:nvSpPr>
        <p:spPr>
          <a:xfrm flipV="1">
            <a:off x="5133440" y="2514600"/>
            <a:ext cx="608991" cy="54865"/>
          </a:xfrm>
          <a:prstGeom prst="line">
            <a:avLst/>
          </a:prstGeom>
          <a:ln w="27940">
            <a:solidFill>
              <a:srgbClr val="612CC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808" name="Connector 9"/>
          <p:cNvSpPr/>
          <p:nvPr/>
        </p:nvSpPr>
        <p:spPr>
          <a:xfrm flipV="1">
            <a:off x="5742431" y="2459735"/>
            <a:ext cx="558242" cy="54865"/>
          </a:xfrm>
          <a:prstGeom prst="line">
            <a:avLst/>
          </a:prstGeom>
          <a:ln w="27940">
            <a:solidFill>
              <a:srgbClr val="612CC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809" name="Connector 10"/>
          <p:cNvSpPr/>
          <p:nvPr/>
        </p:nvSpPr>
        <p:spPr>
          <a:xfrm flipV="1">
            <a:off x="6300673" y="1828799"/>
            <a:ext cx="355245" cy="630937"/>
          </a:xfrm>
          <a:prstGeom prst="line">
            <a:avLst/>
          </a:prstGeom>
          <a:ln w="27940">
            <a:solidFill>
              <a:srgbClr val="612CC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810" name="Connector 11"/>
          <p:cNvSpPr/>
          <p:nvPr/>
        </p:nvSpPr>
        <p:spPr>
          <a:xfrm>
            <a:off x="6655916" y="1828800"/>
            <a:ext cx="304496" cy="713233"/>
          </a:xfrm>
          <a:prstGeom prst="line">
            <a:avLst/>
          </a:prstGeom>
          <a:ln w="27940">
            <a:solidFill>
              <a:srgbClr val="612CC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811" name="Connector 12"/>
          <p:cNvSpPr/>
          <p:nvPr/>
        </p:nvSpPr>
        <p:spPr>
          <a:xfrm flipV="1">
            <a:off x="6960412" y="2500883"/>
            <a:ext cx="710489" cy="41149"/>
          </a:xfrm>
          <a:prstGeom prst="line">
            <a:avLst/>
          </a:prstGeom>
          <a:ln w="27940">
            <a:solidFill>
              <a:srgbClr val="612CC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812" name="Connector 13"/>
          <p:cNvSpPr/>
          <p:nvPr/>
        </p:nvSpPr>
        <p:spPr>
          <a:xfrm flipV="1">
            <a:off x="7670900" y="2459735"/>
            <a:ext cx="710489" cy="41149"/>
          </a:xfrm>
          <a:prstGeom prst="line">
            <a:avLst/>
          </a:prstGeom>
          <a:ln w="27940">
            <a:solidFill>
              <a:srgbClr val="612CC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813" name="Connector 14"/>
          <p:cNvSpPr/>
          <p:nvPr/>
        </p:nvSpPr>
        <p:spPr>
          <a:xfrm>
            <a:off x="8381389" y="2459735"/>
            <a:ext cx="913486" cy="54866"/>
          </a:xfrm>
          <a:prstGeom prst="line">
            <a:avLst/>
          </a:prstGeom>
          <a:ln w="27940">
            <a:solidFill>
              <a:srgbClr val="612CC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814" name="Connector 15"/>
          <p:cNvSpPr/>
          <p:nvPr/>
        </p:nvSpPr>
        <p:spPr>
          <a:xfrm flipV="1">
            <a:off x="5133440" y="2404872"/>
            <a:ext cx="811988" cy="27433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815" name="Connector 16"/>
          <p:cNvSpPr/>
          <p:nvPr/>
        </p:nvSpPr>
        <p:spPr>
          <a:xfrm flipV="1">
            <a:off x="5945428" y="2350007"/>
            <a:ext cx="811988" cy="54865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816" name="Connector 17"/>
          <p:cNvSpPr/>
          <p:nvPr/>
        </p:nvSpPr>
        <p:spPr>
          <a:xfrm>
            <a:off x="6757415" y="2350007"/>
            <a:ext cx="913486" cy="41149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817" name="Connector 18"/>
          <p:cNvSpPr/>
          <p:nvPr/>
        </p:nvSpPr>
        <p:spPr>
          <a:xfrm>
            <a:off x="7670900" y="2391156"/>
            <a:ext cx="1014985" cy="27432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818" name="Connector 19"/>
          <p:cNvSpPr/>
          <p:nvPr/>
        </p:nvSpPr>
        <p:spPr>
          <a:xfrm>
            <a:off x="8685885" y="2418587"/>
            <a:ext cx="608991" cy="13717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819" name="TextBox 20"/>
          <p:cNvSpPr txBox="1"/>
          <p:nvPr/>
        </p:nvSpPr>
        <p:spPr>
          <a:xfrm>
            <a:off x="4910328" y="1481327"/>
            <a:ext cx="54864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722376">
              <a:defRPr b="1" sz="711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raw</a:t>
            </a:r>
          </a:p>
        </p:txBody>
      </p:sp>
      <p:sp>
        <p:nvSpPr>
          <p:cNvPr id="820" name="TextBox 21"/>
          <p:cNvSpPr txBox="1"/>
          <p:nvPr/>
        </p:nvSpPr>
        <p:spPr>
          <a:xfrm>
            <a:off x="9070847" y="1481327"/>
            <a:ext cx="77724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722376">
              <a:defRPr b="1" sz="711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rolled up</a:t>
            </a:r>
          </a:p>
        </p:txBody>
      </p:sp>
      <p:sp>
        <p:nvSpPr>
          <p:cNvPr id="821" name="TextBox 22"/>
          <p:cNvSpPr txBox="1"/>
          <p:nvPr/>
        </p:nvSpPr>
        <p:spPr>
          <a:xfrm>
            <a:off x="4453128" y="3675886"/>
            <a:ext cx="5852161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400"/>
              </a:spcBef>
              <a:defRPr sz="13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Zoom in to the incident window.</a:t>
            </a:r>
          </a:p>
          <a:p>
            <a:pPr>
              <a:spcBef>
                <a:spcPts val="400"/>
              </a:spcBef>
              <a:defRPr sz="13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Compare automatic rollup with explicit .rollup(max, 60).</a:t>
            </a:r>
          </a:p>
          <a:p>
            <a:pPr>
              <a:spcBef>
                <a:spcPts val="400"/>
              </a:spcBef>
              <a:defRPr sz="13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 timeshift only after the current signal is understood.</a:t>
            </a:r>
          </a:p>
          <a:p>
            <a:pPr>
              <a:spcBef>
                <a:spcPts val="400"/>
              </a:spcBef>
              <a:defRPr sz="13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Do not tune a monitor from a smoothed dashboard alone.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Title 1"/>
          <p:cNvSpPr txBox="1"/>
          <p:nvPr>
            <p:ph type="title"/>
          </p:nvPr>
        </p:nvSpPr>
        <p:spPr>
          <a:xfrm>
            <a:off x="695322" y="357808"/>
            <a:ext cx="10795004" cy="868338"/>
          </a:xfrm>
          <a:prstGeom prst="rect">
            <a:avLst/>
          </a:prstGeom>
        </p:spPr>
        <p:txBody>
          <a:bodyPr/>
          <a:lstStyle>
            <a:lvl1pPr>
              <a:defRPr sz="27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Metrics Explorer: a repeatable TSE recipe</a:t>
            </a:r>
          </a:p>
        </p:txBody>
      </p:sp>
      <p:grpSp>
        <p:nvGrpSpPr>
          <p:cNvPr id="826" name="Rounded Rectangle 3"/>
          <p:cNvGrpSpPr/>
          <p:nvPr/>
        </p:nvGrpSpPr>
        <p:grpSpPr>
          <a:xfrm>
            <a:off x="777240" y="1316736"/>
            <a:ext cx="384049" cy="310896"/>
            <a:chOff x="0" y="0"/>
            <a:chExt cx="384047" cy="310895"/>
          </a:xfrm>
        </p:grpSpPr>
        <p:sp>
          <p:nvSpPr>
            <p:cNvPr id="824" name="Rounded Rectangle"/>
            <p:cNvSpPr/>
            <p:nvPr/>
          </p:nvSpPr>
          <p:spPr>
            <a:xfrm>
              <a:off x="0" y="0"/>
              <a:ext cx="384048" cy="310896"/>
            </a:xfrm>
            <a:prstGeom prst="roundRect">
              <a:avLst>
                <a:gd name="adj" fmla="val 16667"/>
              </a:avLst>
            </a:prstGeom>
            <a:solidFill>
              <a:srgbClr val="612CC9"/>
            </a:solidFill>
            <a:ln w="12700" cap="flat">
              <a:solidFill>
                <a:srgbClr val="612CC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25" name="1"/>
            <p:cNvSpPr txBox="1"/>
            <p:nvPr/>
          </p:nvSpPr>
          <p:spPr>
            <a:xfrm>
              <a:off x="67246" y="21526"/>
              <a:ext cx="249555" cy="2678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b="1" sz="1000">
                  <a:solidFill>
                    <a:srgbClr val="F4EE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827" name="TextBox 4"/>
          <p:cNvSpPr txBox="1"/>
          <p:nvPr/>
        </p:nvSpPr>
        <p:spPr>
          <a:xfrm>
            <a:off x="1389887" y="1298447"/>
            <a:ext cx="1920240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2959">
              <a:defRPr b="1" sz="135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Start broad</a:t>
            </a:r>
          </a:p>
        </p:txBody>
      </p:sp>
      <p:sp>
        <p:nvSpPr>
          <p:cNvPr id="828" name="TextBox 5"/>
          <p:cNvSpPr txBox="1"/>
          <p:nvPr/>
        </p:nvSpPr>
        <p:spPr>
          <a:xfrm>
            <a:off x="3337560" y="1298447"/>
            <a:ext cx="7863839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Plot the metric exactly as the monitor uses it.</a:t>
            </a:r>
          </a:p>
        </p:txBody>
      </p:sp>
      <p:sp>
        <p:nvSpPr>
          <p:cNvPr id="829" name="Rectangle 6"/>
          <p:cNvSpPr/>
          <p:nvPr/>
        </p:nvSpPr>
        <p:spPr>
          <a:xfrm>
            <a:off x="777239" y="1810511"/>
            <a:ext cx="10378442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832" name="Rounded Rectangle 7"/>
          <p:cNvGrpSpPr/>
          <p:nvPr/>
        </p:nvGrpSpPr>
        <p:grpSpPr>
          <a:xfrm>
            <a:off x="777240" y="2066544"/>
            <a:ext cx="384049" cy="310897"/>
            <a:chOff x="0" y="0"/>
            <a:chExt cx="384047" cy="310895"/>
          </a:xfrm>
        </p:grpSpPr>
        <p:sp>
          <p:nvSpPr>
            <p:cNvPr id="830" name="Rounded Rectangle"/>
            <p:cNvSpPr/>
            <p:nvPr/>
          </p:nvSpPr>
          <p:spPr>
            <a:xfrm>
              <a:off x="0" y="0"/>
              <a:ext cx="384048" cy="310896"/>
            </a:xfrm>
            <a:prstGeom prst="roundRect">
              <a:avLst>
                <a:gd name="adj" fmla="val 16667"/>
              </a:avLst>
            </a:prstGeom>
            <a:solidFill>
              <a:srgbClr val="612CC9"/>
            </a:solidFill>
            <a:ln w="12700" cap="flat">
              <a:solidFill>
                <a:srgbClr val="612CC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31" name="2"/>
            <p:cNvSpPr txBox="1"/>
            <p:nvPr/>
          </p:nvSpPr>
          <p:spPr>
            <a:xfrm>
              <a:off x="67246" y="21526"/>
              <a:ext cx="249555" cy="2678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b="1" sz="1000">
                  <a:solidFill>
                    <a:srgbClr val="F4EE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833" name="TextBox 8"/>
          <p:cNvSpPr txBox="1"/>
          <p:nvPr/>
        </p:nvSpPr>
        <p:spPr>
          <a:xfrm>
            <a:off x="1389887" y="2048255"/>
            <a:ext cx="1920240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2959">
              <a:defRPr b="1" sz="135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Change statistic</a:t>
            </a:r>
          </a:p>
        </p:txBody>
      </p:sp>
      <p:sp>
        <p:nvSpPr>
          <p:cNvPr id="834" name="TextBox 9"/>
          <p:cNvSpPr txBox="1"/>
          <p:nvPr/>
        </p:nvSpPr>
        <p:spPr>
          <a:xfrm>
            <a:off x="3337560" y="2048255"/>
            <a:ext cx="7863839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Compare avg, max, p95/p99, sum, or count depending on type.</a:t>
            </a:r>
          </a:p>
        </p:txBody>
      </p:sp>
      <p:sp>
        <p:nvSpPr>
          <p:cNvPr id="835" name="Rectangle 10"/>
          <p:cNvSpPr/>
          <p:nvPr/>
        </p:nvSpPr>
        <p:spPr>
          <a:xfrm>
            <a:off x="777239" y="2560320"/>
            <a:ext cx="10378442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838" name="Rounded Rectangle 11"/>
          <p:cNvGrpSpPr/>
          <p:nvPr/>
        </p:nvGrpSpPr>
        <p:grpSpPr>
          <a:xfrm>
            <a:off x="777240" y="2816351"/>
            <a:ext cx="384049" cy="310897"/>
            <a:chOff x="0" y="0"/>
            <a:chExt cx="384047" cy="310895"/>
          </a:xfrm>
        </p:grpSpPr>
        <p:sp>
          <p:nvSpPr>
            <p:cNvPr id="836" name="Rounded Rectangle"/>
            <p:cNvSpPr/>
            <p:nvPr/>
          </p:nvSpPr>
          <p:spPr>
            <a:xfrm>
              <a:off x="0" y="0"/>
              <a:ext cx="384048" cy="310896"/>
            </a:xfrm>
            <a:prstGeom prst="roundRect">
              <a:avLst>
                <a:gd name="adj" fmla="val 16667"/>
              </a:avLst>
            </a:prstGeom>
            <a:solidFill>
              <a:srgbClr val="612CC9"/>
            </a:solidFill>
            <a:ln w="12700" cap="flat">
              <a:solidFill>
                <a:srgbClr val="612CC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37" name="3"/>
            <p:cNvSpPr txBox="1"/>
            <p:nvPr/>
          </p:nvSpPr>
          <p:spPr>
            <a:xfrm>
              <a:off x="67246" y="21526"/>
              <a:ext cx="249555" cy="2678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b="1" sz="1000">
                  <a:solidFill>
                    <a:srgbClr val="F4EE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839" name="TextBox 12"/>
          <p:cNvSpPr txBox="1"/>
          <p:nvPr/>
        </p:nvSpPr>
        <p:spPr>
          <a:xfrm>
            <a:off x="1389887" y="2798064"/>
            <a:ext cx="1920240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2959">
              <a:defRPr b="1" sz="135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Split by tags</a:t>
            </a:r>
          </a:p>
        </p:txBody>
      </p:sp>
      <p:sp>
        <p:nvSpPr>
          <p:cNvPr id="840" name="TextBox 13"/>
          <p:cNvSpPr txBox="1"/>
          <p:nvPr/>
        </p:nvSpPr>
        <p:spPr>
          <a:xfrm>
            <a:off x="3337560" y="2798064"/>
            <a:ext cx="7863839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Group by host, resource_name, db, region, sensor_id, or deployment.</a:t>
            </a:r>
          </a:p>
        </p:txBody>
      </p:sp>
      <p:sp>
        <p:nvSpPr>
          <p:cNvPr id="841" name="Rectangle 14"/>
          <p:cNvSpPr/>
          <p:nvPr/>
        </p:nvSpPr>
        <p:spPr>
          <a:xfrm>
            <a:off x="777239" y="3310128"/>
            <a:ext cx="10378442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844" name="Rounded Rectangle 15"/>
          <p:cNvGrpSpPr/>
          <p:nvPr/>
        </p:nvGrpSpPr>
        <p:grpSpPr>
          <a:xfrm>
            <a:off x="777240" y="3566159"/>
            <a:ext cx="384049" cy="310897"/>
            <a:chOff x="0" y="0"/>
            <a:chExt cx="384047" cy="310895"/>
          </a:xfrm>
        </p:grpSpPr>
        <p:sp>
          <p:nvSpPr>
            <p:cNvPr id="842" name="Rounded Rectangle"/>
            <p:cNvSpPr/>
            <p:nvPr/>
          </p:nvSpPr>
          <p:spPr>
            <a:xfrm>
              <a:off x="0" y="0"/>
              <a:ext cx="384048" cy="310896"/>
            </a:xfrm>
            <a:prstGeom prst="roundRect">
              <a:avLst>
                <a:gd name="adj" fmla="val 16667"/>
              </a:avLst>
            </a:prstGeom>
            <a:solidFill>
              <a:srgbClr val="612CC9"/>
            </a:solidFill>
            <a:ln w="12700" cap="flat">
              <a:solidFill>
                <a:srgbClr val="612CC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43" name="4"/>
            <p:cNvSpPr txBox="1"/>
            <p:nvPr/>
          </p:nvSpPr>
          <p:spPr>
            <a:xfrm>
              <a:off x="67246" y="21526"/>
              <a:ext cx="249555" cy="2678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b="1" sz="1000">
                  <a:solidFill>
                    <a:srgbClr val="F4EE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845" name="TextBox 16"/>
          <p:cNvSpPr txBox="1"/>
          <p:nvPr/>
        </p:nvSpPr>
        <p:spPr>
          <a:xfrm>
            <a:off x="1389887" y="3547871"/>
            <a:ext cx="1920240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2959">
              <a:defRPr b="1" sz="135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Change time</a:t>
            </a:r>
          </a:p>
        </p:txBody>
      </p:sp>
      <p:sp>
        <p:nvSpPr>
          <p:cNvPr id="846" name="TextBox 17"/>
          <p:cNvSpPr txBox="1"/>
          <p:nvPr/>
        </p:nvSpPr>
        <p:spPr>
          <a:xfrm>
            <a:off x="3337560" y="3547871"/>
            <a:ext cx="7863839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Zoom, roll up, timeshift, and compare incident vs baseline.</a:t>
            </a:r>
          </a:p>
        </p:txBody>
      </p:sp>
      <p:sp>
        <p:nvSpPr>
          <p:cNvPr id="847" name="Rectangle 18"/>
          <p:cNvSpPr/>
          <p:nvPr/>
        </p:nvSpPr>
        <p:spPr>
          <a:xfrm>
            <a:off x="777239" y="4059935"/>
            <a:ext cx="10378442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850" name="Rounded Rectangle 19"/>
          <p:cNvGrpSpPr/>
          <p:nvPr/>
        </p:nvGrpSpPr>
        <p:grpSpPr>
          <a:xfrm>
            <a:off x="777240" y="4315967"/>
            <a:ext cx="384049" cy="310897"/>
            <a:chOff x="0" y="0"/>
            <a:chExt cx="384047" cy="310895"/>
          </a:xfrm>
        </p:grpSpPr>
        <p:sp>
          <p:nvSpPr>
            <p:cNvPr id="848" name="Rounded Rectangle"/>
            <p:cNvSpPr/>
            <p:nvPr/>
          </p:nvSpPr>
          <p:spPr>
            <a:xfrm>
              <a:off x="0" y="0"/>
              <a:ext cx="384048" cy="310896"/>
            </a:xfrm>
            <a:prstGeom prst="roundRect">
              <a:avLst>
                <a:gd name="adj" fmla="val 16667"/>
              </a:avLst>
            </a:prstGeom>
            <a:solidFill>
              <a:srgbClr val="612CC9"/>
            </a:solidFill>
            <a:ln w="12700" cap="flat">
              <a:solidFill>
                <a:srgbClr val="612CC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49" name="5"/>
            <p:cNvSpPr txBox="1"/>
            <p:nvPr/>
          </p:nvSpPr>
          <p:spPr>
            <a:xfrm>
              <a:off x="67246" y="21526"/>
              <a:ext cx="249555" cy="2678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b="1" sz="1000">
                  <a:solidFill>
                    <a:srgbClr val="F4EE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851" name="TextBox 20"/>
          <p:cNvSpPr txBox="1"/>
          <p:nvPr/>
        </p:nvSpPr>
        <p:spPr>
          <a:xfrm>
            <a:off x="1389887" y="4297679"/>
            <a:ext cx="1920240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2959">
              <a:defRPr b="1" sz="135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Decide action</a:t>
            </a:r>
          </a:p>
        </p:txBody>
      </p:sp>
      <p:sp>
        <p:nvSpPr>
          <p:cNvPr id="852" name="TextBox 21"/>
          <p:cNvSpPr txBox="1"/>
          <p:nvPr/>
        </p:nvSpPr>
        <p:spPr>
          <a:xfrm>
            <a:off x="3337560" y="4297679"/>
            <a:ext cx="7863839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Only then decide whether the monitor, metric, or instrumentation is wrong.</a:t>
            </a:r>
          </a:p>
        </p:txBody>
      </p:sp>
      <p:sp>
        <p:nvSpPr>
          <p:cNvPr id="853" name="TextBox 22"/>
          <p:cNvSpPr txBox="1"/>
          <p:nvPr/>
        </p:nvSpPr>
        <p:spPr>
          <a:xfrm>
            <a:off x="868679" y="5285232"/>
            <a:ext cx="100584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13816">
              <a:defRPr b="1" sz="133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goal is not to memorize queries. The goal is to build a debugging loop you can reuse on any Metrics or Monitors case.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TextBox 1"/>
          <p:cNvSpPr txBox="1"/>
          <p:nvPr/>
        </p:nvSpPr>
        <p:spPr>
          <a:xfrm>
            <a:off x="731519" y="411480"/>
            <a:ext cx="10698482" cy="560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E212B"/>
                </a:solidFill>
              </a:defRPr>
            </a:lvl1pPr>
          </a:lstStyle>
          <a:p>
            <a:pPr/>
            <a:r>
              <a:t>Three timing knobs change alert behavior</a:t>
            </a:r>
          </a:p>
        </p:txBody>
      </p:sp>
      <p:sp>
        <p:nvSpPr>
          <p:cNvPr id="856" name="TextBox 2"/>
          <p:cNvSpPr txBox="1"/>
          <p:nvPr/>
        </p:nvSpPr>
        <p:spPr>
          <a:xfrm>
            <a:off x="758951" y="987552"/>
            <a:ext cx="9509761" cy="33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55E6F"/>
                </a:solidFill>
              </a:defRPr>
            </a:lvl1pPr>
          </a:lstStyle>
          <a:p>
            <a:pPr/>
            <a:r>
              <a:t>They do not change the metric. They change when Datadog is willing to evaluate it.</a:t>
            </a:r>
          </a:p>
        </p:txBody>
      </p:sp>
      <p:sp>
        <p:nvSpPr>
          <p:cNvPr id="857" name="Rounded Rectangle 3"/>
          <p:cNvSpPr/>
          <p:nvPr/>
        </p:nvSpPr>
        <p:spPr>
          <a:xfrm>
            <a:off x="777240" y="1645920"/>
            <a:ext cx="3383280" cy="3429001"/>
          </a:xfrm>
          <a:prstGeom prst="roundRect">
            <a:avLst>
              <a:gd name="adj" fmla="val 16667"/>
            </a:avLst>
          </a:prstGeom>
          <a:solidFill>
            <a:srgbClr val="F7F7FC"/>
          </a:solidFill>
          <a:ln w="1270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8" name="Rounded Rectangle 4"/>
          <p:cNvSpPr/>
          <p:nvPr/>
        </p:nvSpPr>
        <p:spPr>
          <a:xfrm>
            <a:off x="1069847" y="1938527"/>
            <a:ext cx="2126716" cy="310897"/>
          </a:xfrm>
          <a:prstGeom prst="roundRect">
            <a:avLst>
              <a:gd name="adj" fmla="val 16667"/>
            </a:avLst>
          </a:prstGeom>
          <a:solidFill>
            <a:srgbClr val="1F82FF"/>
          </a:solidFill>
          <a:ln>
            <a:solidFill>
              <a:srgbClr val="1F82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9" name="TextBox 5"/>
          <p:cNvSpPr txBox="1"/>
          <p:nvPr/>
        </p:nvSpPr>
        <p:spPr>
          <a:xfrm>
            <a:off x="1115568" y="1988820"/>
            <a:ext cx="214884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EVALUATION WINDOW</a:t>
            </a:r>
          </a:p>
        </p:txBody>
      </p:sp>
      <p:sp>
        <p:nvSpPr>
          <p:cNvPr id="860" name="TextBox 6"/>
          <p:cNvSpPr txBox="1"/>
          <p:nvPr/>
        </p:nvSpPr>
        <p:spPr>
          <a:xfrm>
            <a:off x="1152144" y="2514600"/>
            <a:ext cx="2633473" cy="692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1E212B"/>
                </a:solidFill>
              </a:defRPr>
            </a:lvl1pPr>
          </a:lstStyle>
          <a:p>
            <a:pPr/>
            <a:r>
              <a:t>How much time must be bad?</a:t>
            </a:r>
          </a:p>
        </p:txBody>
      </p:sp>
      <p:sp>
        <p:nvSpPr>
          <p:cNvPr id="861" name="TextBox 7"/>
          <p:cNvSpPr txBox="1"/>
          <p:nvPr/>
        </p:nvSpPr>
        <p:spPr>
          <a:xfrm>
            <a:off x="1207008" y="3520438"/>
            <a:ext cx="2514601" cy="885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555E6F"/>
                </a:solidFill>
              </a:defRPr>
            </a:pPr>
            <a:r>
              <a:t>Short can be noisy</a:t>
            </a:r>
          </a:p>
          <a:p>
            <a:pPr>
              <a:spcBef>
                <a:spcPts val="600"/>
              </a:spcBef>
              <a:defRPr sz="1500">
                <a:solidFill>
                  <a:srgbClr val="555E6F"/>
                </a:solidFill>
              </a:defRPr>
            </a:pPr>
            <a:r>
              <a:t>Long can be late</a:t>
            </a:r>
          </a:p>
          <a:p>
            <a:pPr>
              <a:spcBef>
                <a:spcPts val="600"/>
              </a:spcBef>
              <a:defRPr sz="1500">
                <a:solidFill>
                  <a:srgbClr val="555E6F"/>
                </a:solidFill>
              </a:defRPr>
            </a:pPr>
            <a:r>
              <a:t>Match the failure mode</a:t>
            </a:r>
          </a:p>
        </p:txBody>
      </p:sp>
      <p:sp>
        <p:nvSpPr>
          <p:cNvPr id="862" name="Rounded Rectangle 8"/>
          <p:cNvSpPr/>
          <p:nvPr/>
        </p:nvSpPr>
        <p:spPr>
          <a:xfrm>
            <a:off x="4434840" y="1645920"/>
            <a:ext cx="3383281" cy="3429001"/>
          </a:xfrm>
          <a:prstGeom prst="roundRect">
            <a:avLst>
              <a:gd name="adj" fmla="val 16667"/>
            </a:avLst>
          </a:prstGeom>
          <a:solidFill>
            <a:srgbClr val="F7F7FC"/>
          </a:solidFill>
          <a:ln w="1270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3" name="Rounded Rectangle 9"/>
          <p:cNvSpPr/>
          <p:nvPr/>
        </p:nvSpPr>
        <p:spPr>
          <a:xfrm>
            <a:off x="4727447" y="1938527"/>
            <a:ext cx="2403508" cy="310897"/>
          </a:xfrm>
          <a:prstGeom prst="roundRect">
            <a:avLst>
              <a:gd name="adj" fmla="val 16667"/>
            </a:avLst>
          </a:prstGeom>
          <a:solidFill>
            <a:schemeClr val="accent1">
              <a:lumOff val="-8901"/>
            </a:schemeClr>
          </a:solidFill>
          <a:ln>
            <a:solidFill>
              <a:srgbClr val="632DB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4" name="TextBox 10"/>
          <p:cNvSpPr txBox="1"/>
          <p:nvPr/>
        </p:nvSpPr>
        <p:spPr>
          <a:xfrm>
            <a:off x="4773167" y="1988820"/>
            <a:ext cx="251460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REQUIRE FULL WINDOW</a:t>
            </a:r>
          </a:p>
        </p:txBody>
      </p:sp>
      <p:sp>
        <p:nvSpPr>
          <p:cNvPr id="865" name="TextBox 11"/>
          <p:cNvSpPr txBox="1"/>
          <p:nvPr/>
        </p:nvSpPr>
        <p:spPr>
          <a:xfrm>
            <a:off x="4809744" y="2514600"/>
            <a:ext cx="2633473" cy="692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1E212B"/>
                </a:solidFill>
              </a:defRPr>
            </a:lvl1pPr>
          </a:lstStyle>
          <a:p>
            <a:pPr/>
            <a:r>
              <a:t>Must the whole window have data?</a:t>
            </a:r>
          </a:p>
        </p:txBody>
      </p:sp>
      <p:sp>
        <p:nvSpPr>
          <p:cNvPr id="866" name="TextBox 12"/>
          <p:cNvSpPr txBox="1"/>
          <p:nvPr/>
        </p:nvSpPr>
        <p:spPr>
          <a:xfrm>
            <a:off x="4864608" y="3520438"/>
            <a:ext cx="2514601" cy="885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555E6F"/>
                </a:solidFill>
              </a:defRPr>
            </a:pPr>
            <a:r>
              <a:t>Good for dense metrics</a:t>
            </a:r>
          </a:p>
          <a:p>
            <a:pPr>
              <a:spcBef>
                <a:spcPts val="600"/>
              </a:spcBef>
              <a:defRPr sz="1500">
                <a:solidFill>
                  <a:srgbClr val="555E6F"/>
                </a:solidFill>
              </a:defRPr>
            </a:pPr>
            <a:r>
              <a:t>Risky for sparse metrics</a:t>
            </a:r>
          </a:p>
          <a:p>
            <a:pPr>
              <a:spcBef>
                <a:spcPts val="600"/>
              </a:spcBef>
              <a:defRPr sz="1500">
                <a:solidFill>
                  <a:srgbClr val="555E6F"/>
                </a:solidFill>
              </a:defRPr>
            </a:pPr>
            <a:r>
              <a:t>Skipped windows look silent</a:t>
            </a:r>
          </a:p>
        </p:txBody>
      </p:sp>
      <p:sp>
        <p:nvSpPr>
          <p:cNvPr id="867" name="Rounded Rectangle 13"/>
          <p:cNvSpPr/>
          <p:nvPr/>
        </p:nvSpPr>
        <p:spPr>
          <a:xfrm>
            <a:off x="8092440" y="1645920"/>
            <a:ext cx="3383281" cy="3429001"/>
          </a:xfrm>
          <a:prstGeom prst="roundRect">
            <a:avLst>
              <a:gd name="adj" fmla="val 16667"/>
            </a:avLst>
          </a:prstGeom>
          <a:solidFill>
            <a:srgbClr val="F7F7FC"/>
          </a:solidFill>
          <a:ln w="1270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8" name="Rounded Rectangle 14"/>
          <p:cNvSpPr/>
          <p:nvPr/>
        </p:nvSpPr>
        <p:spPr>
          <a:xfrm>
            <a:off x="8385047" y="1938527"/>
            <a:ext cx="1934227" cy="310897"/>
          </a:xfrm>
          <a:prstGeom prst="roundRect">
            <a:avLst>
              <a:gd name="adj" fmla="val 16667"/>
            </a:avLst>
          </a:prstGeom>
          <a:solidFill>
            <a:srgbClr val="EE4D83"/>
          </a:solidFill>
          <a:ln>
            <a:solidFill>
              <a:srgbClr val="EE4D8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9" name="TextBox 15"/>
          <p:cNvSpPr txBox="1"/>
          <p:nvPr/>
        </p:nvSpPr>
        <p:spPr>
          <a:xfrm>
            <a:off x="8430767" y="1988820"/>
            <a:ext cx="214884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NEW GROUP DELAY</a:t>
            </a:r>
          </a:p>
        </p:txBody>
      </p:sp>
      <p:sp>
        <p:nvSpPr>
          <p:cNvPr id="870" name="TextBox 16"/>
          <p:cNvSpPr txBox="1"/>
          <p:nvPr/>
        </p:nvSpPr>
        <p:spPr>
          <a:xfrm>
            <a:off x="8467343" y="2514600"/>
            <a:ext cx="2633473" cy="692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1E212B"/>
                </a:solidFill>
              </a:defRPr>
            </a:lvl1pPr>
          </a:lstStyle>
          <a:p>
            <a:pPr/>
            <a:r>
              <a:t>Should new groups wait?</a:t>
            </a:r>
          </a:p>
        </p:txBody>
      </p:sp>
      <p:sp>
        <p:nvSpPr>
          <p:cNvPr id="871" name="TextBox 17"/>
          <p:cNvSpPr txBox="1"/>
          <p:nvPr/>
        </p:nvSpPr>
        <p:spPr>
          <a:xfrm>
            <a:off x="8522207" y="3520438"/>
            <a:ext cx="2514601" cy="885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555E6F"/>
                </a:solidFill>
              </a:defRPr>
            </a:pPr>
            <a:r>
              <a:t>Useful during startup</a:t>
            </a:r>
          </a:p>
          <a:p>
            <a:pPr>
              <a:spcBef>
                <a:spcPts val="600"/>
              </a:spcBef>
              <a:defRPr sz="1500">
                <a:solidFill>
                  <a:srgbClr val="555E6F"/>
                </a:solidFill>
              </a:defRPr>
            </a:pPr>
            <a:r>
              <a:t>Can hide fast failures</a:t>
            </a:r>
          </a:p>
          <a:p>
            <a:pPr>
              <a:spcBef>
                <a:spcPts val="600"/>
              </a:spcBef>
              <a:defRPr sz="1500">
                <a:solidFill>
                  <a:srgbClr val="555E6F"/>
                </a:solidFill>
              </a:defRPr>
            </a:pPr>
            <a:r>
              <a:t>Applies to new groups</a:t>
            </a:r>
          </a:p>
        </p:txBody>
      </p:sp>
      <p:sp>
        <p:nvSpPr>
          <p:cNvPr id="872" name="Rounded Rectangle 18"/>
          <p:cNvSpPr/>
          <p:nvPr/>
        </p:nvSpPr>
        <p:spPr>
          <a:xfrm>
            <a:off x="1417319" y="5338698"/>
            <a:ext cx="9372601" cy="53035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632DB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3" name="TextBox 19"/>
          <p:cNvSpPr txBox="1"/>
          <p:nvPr/>
        </p:nvSpPr>
        <p:spPr>
          <a:xfrm>
            <a:off x="1668780" y="5450956"/>
            <a:ext cx="8915401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1E212B"/>
                </a:solidFill>
              </a:defRPr>
            </a:lvl1pPr>
          </a:lstStyle>
          <a:p>
            <a:pPr/>
            <a:r>
              <a:t>TSE question: is the monitor wrong, or is its evaluation timing wrong?</a:t>
            </a:r>
          </a:p>
        </p:txBody>
      </p:sp>
      <p:sp>
        <p:nvSpPr>
          <p:cNvPr id="874" name="Rounded Rectangle 20"/>
          <p:cNvSpPr/>
          <p:nvPr/>
        </p:nvSpPr>
        <p:spPr>
          <a:xfrm>
            <a:off x="658368" y="6053328"/>
            <a:ext cx="2127350" cy="3108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5" name="TextBox 21"/>
          <p:cNvSpPr txBox="1"/>
          <p:nvPr/>
        </p:nvSpPr>
        <p:spPr>
          <a:xfrm>
            <a:off x="832103" y="6126479"/>
            <a:ext cx="1838336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800">
                <a:solidFill>
                  <a:srgbClr val="1F222C"/>
                </a:solidFill>
              </a:defRPr>
            </a:pPr>
            <a:r>
              <a:t>Related cases: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2" invalidUrl="" action="" tgtFrame="" tooltip="" history="1" highlightClick="0" endSnd="0"/>
              </a:rPr>
              <a:t>#2543610</a:t>
            </a:r>
            <a:r>
              <a:rPr b="0"/>
              <a:t> ·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3" invalidUrl="" action="" tgtFrame="" tooltip="" history="1" highlightClick="0" endSnd="0"/>
              </a:rPr>
              <a:t>#2533730</a:t>
            </a:r>
          </a:p>
        </p:txBody>
      </p:sp>
      <p:sp>
        <p:nvSpPr>
          <p:cNvPr id="876" name="Reference Pill Background"/>
          <p:cNvSpPr/>
          <p:nvPr/>
        </p:nvSpPr>
        <p:spPr>
          <a:xfrm>
            <a:off x="6318503" y="6053328"/>
            <a:ext cx="2505711" cy="3108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7" name="TextBox 23"/>
          <p:cNvSpPr txBox="1"/>
          <p:nvPr/>
        </p:nvSpPr>
        <p:spPr>
          <a:xfrm>
            <a:off x="6492240" y="6126479"/>
            <a:ext cx="2136240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800">
                <a:solidFill>
                  <a:srgbClr val="1E212B"/>
                </a:solidFill>
              </a:defRPr>
            </a:pPr>
            <a:r>
              <a:t>Reference: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4" invalidUrl="" action="" tgtFrame="" tooltip="" history="1" highlightClick="0" endSnd="0"/>
              </a:rPr>
              <a:t>Monitor config</a:t>
            </a:r>
            <a:r>
              <a:rPr b="0"/>
              <a:t> ·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5" invalidUrl="" action="" tgtFrame="" tooltip="" history="1" highlightClick="0" endSnd="0"/>
              </a:rPr>
              <a:t>No Data guide</a:t>
            </a:r>
          </a:p>
        </p:txBody>
      </p:sp>
      <p:sp>
        <p:nvSpPr>
          <p:cNvPr id="878" name="Hybrid Rail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32DBD"/>
          </a:solidFill>
          <a:ln>
            <a:solidFill>
              <a:srgbClr val="632DB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9" name="Hybrid Rail Accent"/>
          <p:cNvSpPr/>
          <p:nvPr/>
        </p:nvSpPr>
        <p:spPr>
          <a:xfrm>
            <a:off x="457200" y="0"/>
            <a:ext cx="64008" cy="6858000"/>
          </a:xfrm>
          <a:prstGeom prst="rect">
            <a:avLst/>
          </a:prstGeom>
          <a:solidFill>
            <a:srgbClr val="EE4D83"/>
          </a:solidFill>
          <a:ln>
            <a:solidFill>
              <a:srgbClr val="EE4D8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0" name="Hybrid Rail Top"/>
          <p:cNvSpPr/>
          <p:nvPr/>
        </p:nvSpPr>
        <p:spPr>
          <a:xfrm>
            <a:off x="0" y="-1"/>
            <a:ext cx="457200" cy="1051562"/>
          </a:xfrm>
          <a:prstGeom prst="rect">
            <a:avLst/>
          </a:prstGeom>
          <a:solidFill>
            <a:srgbClr val="5014A0"/>
          </a:solidFill>
          <a:ln>
            <a:solidFill>
              <a:srgbClr val="5014A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1" name="Hybrid Label"/>
          <p:cNvSpPr txBox="1"/>
          <p:nvPr/>
        </p:nvSpPr>
        <p:spPr>
          <a:xfrm rot="16200000">
            <a:off x="-253679" y="2834015"/>
            <a:ext cx="965806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MONITOR TIMING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TextBox 1"/>
          <p:cNvSpPr txBox="1"/>
          <p:nvPr/>
        </p:nvSpPr>
        <p:spPr>
          <a:xfrm>
            <a:off x="731519" y="411480"/>
            <a:ext cx="10698482" cy="560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E212B"/>
                </a:solidFill>
              </a:defRPr>
            </a:lvl1pPr>
          </a:lstStyle>
          <a:p>
            <a:pPr/>
            <a:r>
              <a:t>When a monitor is silent, debug the evaluation path</a:t>
            </a:r>
          </a:p>
        </p:txBody>
      </p:sp>
      <p:sp>
        <p:nvSpPr>
          <p:cNvPr id="884" name="TextBox 2"/>
          <p:cNvSpPr txBox="1"/>
          <p:nvPr/>
        </p:nvSpPr>
        <p:spPr>
          <a:xfrm>
            <a:off x="758951" y="987552"/>
            <a:ext cx="9509761" cy="33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55E6F"/>
                </a:solidFill>
              </a:defRPr>
            </a:lvl1pPr>
          </a:lstStyle>
          <a:p>
            <a:pPr/>
            <a:r>
              <a:t>Do not start by changing the threshold. First find where the alert pipeline stopped.</a:t>
            </a:r>
          </a:p>
        </p:txBody>
      </p:sp>
      <p:sp>
        <p:nvSpPr>
          <p:cNvPr id="885" name="Rounded Rectangle 3"/>
          <p:cNvSpPr/>
          <p:nvPr/>
        </p:nvSpPr>
        <p:spPr>
          <a:xfrm>
            <a:off x="685800" y="2057400"/>
            <a:ext cx="1600200" cy="65836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1F82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6" name="TextBox 4"/>
          <p:cNvSpPr txBox="1"/>
          <p:nvPr/>
        </p:nvSpPr>
        <p:spPr>
          <a:xfrm>
            <a:off x="804671" y="2212848"/>
            <a:ext cx="1362458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1F82FF"/>
                </a:solidFill>
              </a:defRPr>
            </a:lvl1pPr>
          </a:lstStyle>
          <a:p>
            <a:pPr/>
            <a:r>
              <a:t>Metric reports</a:t>
            </a:r>
          </a:p>
        </p:txBody>
      </p:sp>
      <p:sp>
        <p:nvSpPr>
          <p:cNvPr id="887" name="TextBox 5"/>
          <p:cNvSpPr txBox="1"/>
          <p:nvPr/>
        </p:nvSpPr>
        <p:spPr>
          <a:xfrm>
            <a:off x="658368" y="2880360"/>
            <a:ext cx="1645921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555E6F"/>
                </a:solidFill>
              </a:defRPr>
            </a:lvl1pPr>
          </a:lstStyle>
          <a:p>
            <a:pPr/>
            <a:r>
              <a:t>Is data present?</a:t>
            </a:r>
          </a:p>
        </p:txBody>
      </p:sp>
      <p:sp>
        <p:nvSpPr>
          <p:cNvPr id="888" name="Connector 6"/>
          <p:cNvSpPr/>
          <p:nvPr/>
        </p:nvSpPr>
        <p:spPr>
          <a:xfrm>
            <a:off x="2286000" y="2386583"/>
            <a:ext cx="320041" cy="1"/>
          </a:xfrm>
          <a:prstGeom prst="line">
            <a:avLst/>
          </a:prstGeom>
          <a:ln w="25400">
            <a:solidFill>
              <a:srgbClr val="DBE0E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889" name="Rounded Rectangle 7"/>
          <p:cNvSpPr/>
          <p:nvPr/>
        </p:nvSpPr>
        <p:spPr>
          <a:xfrm>
            <a:off x="2606039" y="2057400"/>
            <a:ext cx="1600201" cy="65836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632DB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0" name="TextBox 8"/>
          <p:cNvSpPr txBox="1"/>
          <p:nvPr/>
        </p:nvSpPr>
        <p:spPr>
          <a:xfrm>
            <a:off x="2724911" y="2212848"/>
            <a:ext cx="1362458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632DBD"/>
                </a:solidFill>
              </a:defRPr>
            </a:lvl1pPr>
          </a:lstStyle>
          <a:p>
            <a:pPr/>
            <a:r>
              <a:t>Group exists</a:t>
            </a:r>
          </a:p>
        </p:txBody>
      </p:sp>
      <p:sp>
        <p:nvSpPr>
          <p:cNvPr id="891" name="TextBox 9"/>
          <p:cNvSpPr txBox="1"/>
          <p:nvPr/>
        </p:nvSpPr>
        <p:spPr>
          <a:xfrm>
            <a:off x="2578607" y="2880360"/>
            <a:ext cx="1645921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555E6F"/>
                </a:solidFill>
              </a:defRPr>
            </a:lvl1pPr>
          </a:lstStyle>
          <a:p>
            <a:pPr/>
            <a:r>
              <a:t>Is this a new group?</a:t>
            </a:r>
          </a:p>
        </p:txBody>
      </p:sp>
      <p:sp>
        <p:nvSpPr>
          <p:cNvPr id="892" name="Connector 10"/>
          <p:cNvSpPr/>
          <p:nvPr/>
        </p:nvSpPr>
        <p:spPr>
          <a:xfrm>
            <a:off x="4206240" y="2386583"/>
            <a:ext cx="320041" cy="1"/>
          </a:xfrm>
          <a:prstGeom prst="line">
            <a:avLst/>
          </a:prstGeom>
          <a:ln w="25400">
            <a:solidFill>
              <a:srgbClr val="DBE0E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893" name="Rounded Rectangle 11"/>
          <p:cNvSpPr/>
          <p:nvPr/>
        </p:nvSpPr>
        <p:spPr>
          <a:xfrm>
            <a:off x="4526279" y="2057400"/>
            <a:ext cx="1600201" cy="65836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EE4D8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4" name="TextBox 12"/>
          <p:cNvSpPr txBox="1"/>
          <p:nvPr/>
        </p:nvSpPr>
        <p:spPr>
          <a:xfrm>
            <a:off x="4645152" y="2212848"/>
            <a:ext cx="1362457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EE4D83"/>
                </a:solidFill>
              </a:defRPr>
            </a:lvl1pPr>
          </a:lstStyle>
          <a:p>
            <a:pPr/>
            <a:r>
              <a:t>Delay expires</a:t>
            </a:r>
          </a:p>
        </p:txBody>
      </p:sp>
      <p:sp>
        <p:nvSpPr>
          <p:cNvPr id="895" name="TextBox 13"/>
          <p:cNvSpPr txBox="1"/>
          <p:nvPr/>
        </p:nvSpPr>
        <p:spPr>
          <a:xfrm>
            <a:off x="4498848" y="2880360"/>
            <a:ext cx="1645921" cy="492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Is new group delay holding it?</a:t>
            </a:r>
          </a:p>
        </p:txBody>
      </p:sp>
      <p:sp>
        <p:nvSpPr>
          <p:cNvPr id="896" name="Connector 14"/>
          <p:cNvSpPr/>
          <p:nvPr/>
        </p:nvSpPr>
        <p:spPr>
          <a:xfrm>
            <a:off x="6126479" y="2386583"/>
            <a:ext cx="320041" cy="1"/>
          </a:xfrm>
          <a:prstGeom prst="line">
            <a:avLst/>
          </a:prstGeom>
          <a:ln w="25400">
            <a:solidFill>
              <a:srgbClr val="DBE0E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897" name="Rounded Rectangle 15"/>
          <p:cNvSpPr/>
          <p:nvPr/>
        </p:nvSpPr>
        <p:spPr>
          <a:xfrm>
            <a:off x="6446520" y="2057400"/>
            <a:ext cx="1600201" cy="65836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009C7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8" name="TextBox 16"/>
          <p:cNvSpPr txBox="1"/>
          <p:nvPr/>
        </p:nvSpPr>
        <p:spPr>
          <a:xfrm>
            <a:off x="6565391" y="2212848"/>
            <a:ext cx="1362457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009C70"/>
                </a:solidFill>
              </a:defRPr>
            </a:lvl1pPr>
          </a:lstStyle>
          <a:p>
            <a:pPr/>
            <a:r>
              <a:t>Window fills</a:t>
            </a:r>
          </a:p>
        </p:txBody>
      </p:sp>
      <p:sp>
        <p:nvSpPr>
          <p:cNvPr id="899" name="TextBox 17"/>
          <p:cNvSpPr txBox="1"/>
          <p:nvPr/>
        </p:nvSpPr>
        <p:spPr>
          <a:xfrm>
            <a:off x="6419088" y="2880360"/>
            <a:ext cx="1645921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555E6F"/>
                </a:solidFill>
              </a:defRPr>
            </a:lvl1pPr>
          </a:lstStyle>
          <a:p>
            <a:pPr/>
            <a:r>
              <a:t>Did full window skip?</a:t>
            </a:r>
          </a:p>
        </p:txBody>
      </p:sp>
      <p:sp>
        <p:nvSpPr>
          <p:cNvPr id="900" name="Connector 18"/>
          <p:cNvSpPr/>
          <p:nvPr/>
        </p:nvSpPr>
        <p:spPr>
          <a:xfrm>
            <a:off x="8046719" y="2386583"/>
            <a:ext cx="320041" cy="1"/>
          </a:xfrm>
          <a:prstGeom prst="line">
            <a:avLst/>
          </a:prstGeom>
          <a:ln w="25400">
            <a:solidFill>
              <a:srgbClr val="DBE0E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901" name="Rounded Rectangle 19"/>
          <p:cNvSpPr/>
          <p:nvPr/>
        </p:nvSpPr>
        <p:spPr>
          <a:xfrm>
            <a:off x="8366759" y="2057400"/>
            <a:ext cx="1600201" cy="65836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1F82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2" name="TextBox 20"/>
          <p:cNvSpPr txBox="1"/>
          <p:nvPr/>
        </p:nvSpPr>
        <p:spPr>
          <a:xfrm>
            <a:off x="8485631" y="2212848"/>
            <a:ext cx="1362457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1F82FF"/>
                </a:solidFill>
              </a:defRPr>
            </a:lvl1pPr>
          </a:lstStyle>
          <a:p>
            <a:pPr/>
            <a:r>
              <a:t>Query evaluates</a:t>
            </a:r>
          </a:p>
        </p:txBody>
      </p:sp>
      <p:sp>
        <p:nvSpPr>
          <p:cNvPr id="903" name="TextBox 21"/>
          <p:cNvSpPr txBox="1"/>
          <p:nvPr/>
        </p:nvSpPr>
        <p:spPr>
          <a:xfrm>
            <a:off x="8339327" y="2880360"/>
            <a:ext cx="1645921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555E6F"/>
                </a:solidFill>
              </a:defRPr>
            </a:lvl1pPr>
          </a:lstStyle>
          <a:p>
            <a:pPr/>
            <a:r>
              <a:t>Did the window hide it?</a:t>
            </a:r>
          </a:p>
        </p:txBody>
      </p:sp>
      <p:sp>
        <p:nvSpPr>
          <p:cNvPr id="904" name="Connector 22"/>
          <p:cNvSpPr/>
          <p:nvPr/>
        </p:nvSpPr>
        <p:spPr>
          <a:xfrm>
            <a:off x="9966959" y="2386583"/>
            <a:ext cx="91441" cy="1"/>
          </a:xfrm>
          <a:prstGeom prst="line">
            <a:avLst/>
          </a:prstGeom>
          <a:ln w="25400">
            <a:solidFill>
              <a:srgbClr val="DBE0E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905" name="Rounded Rectangle 23"/>
          <p:cNvSpPr/>
          <p:nvPr/>
        </p:nvSpPr>
        <p:spPr>
          <a:xfrm>
            <a:off x="10058400" y="2057400"/>
            <a:ext cx="1600200" cy="65836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632DB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6" name="TextBox 24"/>
          <p:cNvSpPr txBox="1"/>
          <p:nvPr/>
        </p:nvSpPr>
        <p:spPr>
          <a:xfrm>
            <a:off x="10177271" y="2212848"/>
            <a:ext cx="1362457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632DBD"/>
                </a:solidFill>
              </a:defRPr>
            </a:lvl1pPr>
          </a:lstStyle>
          <a:p>
            <a:pPr/>
            <a:r>
              <a:t>Alert routes</a:t>
            </a:r>
          </a:p>
        </p:txBody>
      </p:sp>
      <p:sp>
        <p:nvSpPr>
          <p:cNvPr id="907" name="TextBox 25"/>
          <p:cNvSpPr txBox="1"/>
          <p:nvPr/>
        </p:nvSpPr>
        <p:spPr>
          <a:xfrm>
            <a:off x="10030967" y="2880360"/>
            <a:ext cx="164592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555E6F"/>
                </a:solidFill>
              </a:defRPr>
            </a:lvl1pPr>
          </a:lstStyle>
          <a:p>
            <a:pPr/>
            <a:r>
              <a:t>Did notification rules apply?</a:t>
            </a:r>
          </a:p>
        </p:txBody>
      </p:sp>
      <p:sp>
        <p:nvSpPr>
          <p:cNvPr id="908" name="Rounded Rectangle 26"/>
          <p:cNvSpPr/>
          <p:nvPr/>
        </p:nvSpPr>
        <p:spPr>
          <a:xfrm>
            <a:off x="1005839" y="4251959"/>
            <a:ext cx="10195561" cy="1143001"/>
          </a:xfrm>
          <a:prstGeom prst="roundRect">
            <a:avLst>
              <a:gd name="adj" fmla="val 16667"/>
            </a:avLst>
          </a:prstGeom>
          <a:solidFill>
            <a:srgbClr val="F7F7FC"/>
          </a:solidFill>
          <a:ln w="1270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9" name="TextBox 27"/>
          <p:cNvSpPr txBox="1"/>
          <p:nvPr/>
        </p:nvSpPr>
        <p:spPr>
          <a:xfrm>
            <a:off x="1371600" y="4526279"/>
            <a:ext cx="1920239" cy="33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700">
                <a:solidFill>
                  <a:srgbClr val="632DBD"/>
                </a:solidFill>
              </a:defRPr>
            </a:lvl1pPr>
          </a:lstStyle>
          <a:p>
            <a:pPr/>
            <a:r>
              <a:t>Talk track</a:t>
            </a:r>
          </a:p>
        </p:txBody>
      </p:sp>
      <p:sp>
        <p:nvSpPr>
          <p:cNvPr id="910" name="TextBox 28"/>
          <p:cNvSpPr txBox="1"/>
          <p:nvPr/>
        </p:nvSpPr>
        <p:spPr>
          <a:xfrm>
            <a:off x="3200399" y="4462271"/>
            <a:ext cx="7543801" cy="732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E212B"/>
                </a:solidFill>
              </a:defRPr>
            </a:lvl1pPr>
          </a:lstStyle>
          <a:p>
            <a:pPr/>
            <a:r>
              <a:t>A silent monitor is not automatically a bad threshold. It may be waiting for a new group delay, skipping incomplete windows, or evaluating a window that no longer contains the spike.</a:t>
            </a:r>
          </a:p>
        </p:txBody>
      </p:sp>
      <p:sp>
        <p:nvSpPr>
          <p:cNvPr id="911" name="Rounded Rectangle 29"/>
          <p:cNvSpPr/>
          <p:nvPr/>
        </p:nvSpPr>
        <p:spPr>
          <a:xfrm>
            <a:off x="658368" y="6053328"/>
            <a:ext cx="2185807" cy="3108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2" name="TextBox 30"/>
          <p:cNvSpPr txBox="1"/>
          <p:nvPr/>
        </p:nvSpPr>
        <p:spPr>
          <a:xfrm>
            <a:off x="832103" y="6126479"/>
            <a:ext cx="1838336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800">
                <a:solidFill>
                  <a:srgbClr val="1F222C"/>
                </a:solidFill>
              </a:defRPr>
            </a:pPr>
            <a:r>
              <a:t>Related cases: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2" invalidUrl="" action="" tgtFrame="" tooltip="" history="1" highlightClick="0" endSnd="0"/>
              </a:rPr>
              <a:t>#2879820</a:t>
            </a:r>
            <a:r>
              <a:rPr b="0"/>
              <a:t> ·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3" invalidUrl="" action="" tgtFrame="" tooltip="" history="1" highlightClick="0" endSnd="0"/>
              </a:rPr>
              <a:t>#2533730</a:t>
            </a:r>
          </a:p>
        </p:txBody>
      </p:sp>
      <p:sp>
        <p:nvSpPr>
          <p:cNvPr id="913" name="Reference Pill Background"/>
          <p:cNvSpPr/>
          <p:nvPr/>
        </p:nvSpPr>
        <p:spPr>
          <a:xfrm>
            <a:off x="6318503" y="6053328"/>
            <a:ext cx="2365097" cy="3108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4" name="TextBox 32"/>
          <p:cNvSpPr txBox="1"/>
          <p:nvPr/>
        </p:nvSpPr>
        <p:spPr>
          <a:xfrm>
            <a:off x="6492240" y="6126479"/>
            <a:ext cx="2017624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800">
                <a:solidFill>
                  <a:srgbClr val="1E212B"/>
                </a:solidFill>
              </a:defRPr>
            </a:pPr>
            <a:r>
              <a:t>Reference: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4" invalidUrl="" action="" tgtFrame="" tooltip="" history="1" highlightClick="0" endSnd="0"/>
              </a:rPr>
              <a:t>Monitor config</a:t>
            </a:r>
            <a:r>
              <a:rPr b="0"/>
              <a:t> ·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5" invalidUrl="" action="" tgtFrame="" tooltip="" history="1" highlightClick="0" endSnd="0"/>
              </a:rPr>
              <a:t>API options</a:t>
            </a:r>
          </a:p>
        </p:txBody>
      </p:sp>
      <p:sp>
        <p:nvSpPr>
          <p:cNvPr id="915" name="Hybrid Rail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32DBD"/>
          </a:solidFill>
          <a:ln>
            <a:solidFill>
              <a:srgbClr val="632DB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6" name="Hybrid Rail Accent"/>
          <p:cNvSpPr/>
          <p:nvPr/>
        </p:nvSpPr>
        <p:spPr>
          <a:xfrm>
            <a:off x="457200" y="0"/>
            <a:ext cx="64008" cy="6858000"/>
          </a:xfrm>
          <a:prstGeom prst="rect">
            <a:avLst/>
          </a:prstGeom>
          <a:solidFill>
            <a:srgbClr val="EE4D83"/>
          </a:solidFill>
          <a:ln>
            <a:solidFill>
              <a:srgbClr val="EE4D8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7" name="Hybrid Rail Top"/>
          <p:cNvSpPr/>
          <p:nvPr/>
        </p:nvSpPr>
        <p:spPr>
          <a:xfrm>
            <a:off x="0" y="-1"/>
            <a:ext cx="457200" cy="1051562"/>
          </a:xfrm>
          <a:prstGeom prst="rect">
            <a:avLst/>
          </a:prstGeom>
          <a:solidFill>
            <a:srgbClr val="5014A0"/>
          </a:solidFill>
          <a:ln>
            <a:solidFill>
              <a:srgbClr val="5014A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8" name="Hybrid Label"/>
          <p:cNvSpPr txBox="1"/>
          <p:nvPr/>
        </p:nvSpPr>
        <p:spPr>
          <a:xfrm rot="16200000">
            <a:off x="-253679" y="2834015"/>
            <a:ext cx="965806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MONITOR TIMING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TextBox 1"/>
          <p:cNvSpPr txBox="1"/>
          <p:nvPr/>
        </p:nvSpPr>
        <p:spPr>
          <a:xfrm>
            <a:off x="731519" y="411480"/>
            <a:ext cx="10698482" cy="560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E212B"/>
                </a:solidFill>
              </a:defRPr>
            </a:lvl1pPr>
          </a:lstStyle>
          <a:p>
            <a:pPr/>
            <a:r>
              <a:t>Monitor Admin: inspect what the evaluator saw</a:t>
            </a:r>
          </a:p>
        </p:txBody>
      </p:sp>
      <p:sp>
        <p:nvSpPr>
          <p:cNvPr id="921" name="TextBox 2"/>
          <p:cNvSpPr txBox="1"/>
          <p:nvPr/>
        </p:nvSpPr>
        <p:spPr>
          <a:xfrm>
            <a:off x="758951" y="987552"/>
            <a:ext cx="9784082" cy="33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55E6F"/>
                </a:solidFill>
              </a:defRPr>
            </a:lvl1pPr>
          </a:lstStyle>
          <a:p>
            <a:pPr/>
            <a:r>
              <a:t>Use it when the graph, source data, evaluated data, and alert state disagree.</a:t>
            </a:r>
          </a:p>
        </p:txBody>
      </p:sp>
      <p:sp>
        <p:nvSpPr>
          <p:cNvPr id="922" name="Rounded Rectangle 3"/>
          <p:cNvSpPr/>
          <p:nvPr/>
        </p:nvSpPr>
        <p:spPr>
          <a:xfrm>
            <a:off x="777240" y="1664207"/>
            <a:ext cx="3383280" cy="3401569"/>
          </a:xfrm>
          <a:prstGeom prst="roundRect">
            <a:avLst>
              <a:gd name="adj" fmla="val 16667"/>
            </a:avLst>
          </a:prstGeom>
          <a:solidFill>
            <a:srgbClr val="F7F7FC"/>
          </a:solidFill>
          <a:ln w="1270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3" name="Rounded Rectangle 4"/>
          <p:cNvSpPr/>
          <p:nvPr/>
        </p:nvSpPr>
        <p:spPr>
          <a:xfrm>
            <a:off x="1069847" y="1956816"/>
            <a:ext cx="1417321" cy="310897"/>
          </a:xfrm>
          <a:prstGeom prst="roundRect">
            <a:avLst>
              <a:gd name="adj" fmla="val 16667"/>
            </a:avLst>
          </a:prstGeom>
          <a:solidFill>
            <a:srgbClr val="1F82FF"/>
          </a:solidFill>
          <a:ln>
            <a:solidFill>
              <a:srgbClr val="1F82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4" name="TextBox 5"/>
          <p:cNvSpPr txBox="1"/>
          <p:nvPr/>
        </p:nvSpPr>
        <p:spPr>
          <a:xfrm>
            <a:off x="1115567" y="2007107"/>
            <a:ext cx="1325881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INPUT</a:t>
            </a:r>
          </a:p>
        </p:txBody>
      </p:sp>
      <p:sp>
        <p:nvSpPr>
          <p:cNvPr id="925" name="TextBox 6"/>
          <p:cNvSpPr txBox="1"/>
          <p:nvPr/>
        </p:nvSpPr>
        <p:spPr>
          <a:xfrm>
            <a:off x="1152144" y="2505455"/>
            <a:ext cx="2651761" cy="692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1E212B"/>
                </a:solidFill>
              </a:defRPr>
            </a:lvl1pPr>
          </a:lstStyle>
          <a:p>
            <a:pPr/>
            <a:r>
              <a:t>Start from the exact monitor</a:t>
            </a:r>
          </a:p>
        </p:txBody>
      </p:sp>
      <p:sp>
        <p:nvSpPr>
          <p:cNvPr id="926" name="TextBox 7"/>
          <p:cNvSpPr txBox="1"/>
          <p:nvPr/>
        </p:nvSpPr>
        <p:spPr>
          <a:xfrm>
            <a:off x="1207008" y="3364991"/>
            <a:ext cx="2606041" cy="910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Monitor ID or support URL</a:t>
            </a:r>
          </a:p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Org and site/region</a:t>
            </a:r>
          </a:p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Incident timeframe</a:t>
            </a:r>
          </a:p>
        </p:txBody>
      </p:sp>
      <p:sp>
        <p:nvSpPr>
          <p:cNvPr id="927" name="Rounded Rectangle 8"/>
          <p:cNvSpPr/>
          <p:nvPr/>
        </p:nvSpPr>
        <p:spPr>
          <a:xfrm>
            <a:off x="4434840" y="1664207"/>
            <a:ext cx="3383281" cy="3401569"/>
          </a:xfrm>
          <a:prstGeom prst="roundRect">
            <a:avLst>
              <a:gd name="adj" fmla="val 16667"/>
            </a:avLst>
          </a:prstGeom>
          <a:solidFill>
            <a:srgbClr val="F7F7FC"/>
          </a:solidFill>
          <a:ln w="1270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8" name="Rounded Rectangle 9"/>
          <p:cNvSpPr/>
          <p:nvPr/>
        </p:nvSpPr>
        <p:spPr>
          <a:xfrm>
            <a:off x="4727447" y="1956816"/>
            <a:ext cx="1417321" cy="310897"/>
          </a:xfrm>
          <a:prstGeom prst="roundRect">
            <a:avLst>
              <a:gd name="adj" fmla="val 16667"/>
            </a:avLst>
          </a:prstGeom>
          <a:solidFill>
            <a:srgbClr val="632DBD"/>
          </a:solidFill>
          <a:ln>
            <a:solidFill>
              <a:srgbClr val="632DB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9" name="TextBox 10"/>
          <p:cNvSpPr txBox="1"/>
          <p:nvPr/>
        </p:nvSpPr>
        <p:spPr>
          <a:xfrm>
            <a:off x="4773167" y="2007107"/>
            <a:ext cx="1325881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EVALUATION</a:t>
            </a:r>
          </a:p>
        </p:txBody>
      </p:sp>
      <p:sp>
        <p:nvSpPr>
          <p:cNvPr id="930" name="TextBox 11"/>
          <p:cNvSpPr txBox="1"/>
          <p:nvPr/>
        </p:nvSpPr>
        <p:spPr>
          <a:xfrm>
            <a:off x="4809744" y="2505455"/>
            <a:ext cx="2651761" cy="692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1E212B"/>
                </a:solidFill>
              </a:defRPr>
            </a:lvl1pPr>
          </a:lstStyle>
          <a:p>
            <a:pPr/>
            <a:r>
              <a:t>Read the evaluator's view</a:t>
            </a:r>
          </a:p>
        </p:txBody>
      </p:sp>
      <p:sp>
        <p:nvSpPr>
          <p:cNvPr id="931" name="TextBox 12"/>
          <p:cNvSpPr txBox="1"/>
          <p:nvPr/>
        </p:nvSpPr>
        <p:spPr>
          <a:xfrm>
            <a:off x="4864608" y="3364991"/>
            <a:ext cx="2606041" cy="910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Evaluated value</a:t>
            </a:r>
          </a:p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Group status</a:t>
            </a:r>
          </a:p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Window and timestamps</a:t>
            </a:r>
          </a:p>
        </p:txBody>
      </p:sp>
      <p:sp>
        <p:nvSpPr>
          <p:cNvPr id="932" name="Rounded Rectangle 13"/>
          <p:cNvSpPr/>
          <p:nvPr/>
        </p:nvSpPr>
        <p:spPr>
          <a:xfrm>
            <a:off x="8092440" y="1664207"/>
            <a:ext cx="3383281" cy="3401569"/>
          </a:xfrm>
          <a:prstGeom prst="roundRect">
            <a:avLst>
              <a:gd name="adj" fmla="val 16667"/>
            </a:avLst>
          </a:prstGeom>
          <a:solidFill>
            <a:srgbClr val="F7F7FC"/>
          </a:solidFill>
          <a:ln w="1270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3" name="Rounded Rectangle 14"/>
          <p:cNvSpPr/>
          <p:nvPr/>
        </p:nvSpPr>
        <p:spPr>
          <a:xfrm>
            <a:off x="8385047" y="1956816"/>
            <a:ext cx="1417321" cy="310897"/>
          </a:xfrm>
          <a:prstGeom prst="roundRect">
            <a:avLst>
              <a:gd name="adj" fmla="val 16667"/>
            </a:avLst>
          </a:prstGeom>
          <a:solidFill>
            <a:srgbClr val="EE4D83"/>
          </a:solidFill>
          <a:ln>
            <a:solidFill>
              <a:srgbClr val="EE4D8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4" name="TextBox 15"/>
          <p:cNvSpPr txBox="1"/>
          <p:nvPr/>
        </p:nvSpPr>
        <p:spPr>
          <a:xfrm>
            <a:off x="8430767" y="2007107"/>
            <a:ext cx="1325881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COMPARE</a:t>
            </a:r>
          </a:p>
        </p:txBody>
      </p:sp>
      <p:sp>
        <p:nvSpPr>
          <p:cNvPr id="935" name="TextBox 16"/>
          <p:cNvSpPr txBox="1"/>
          <p:nvPr/>
        </p:nvSpPr>
        <p:spPr>
          <a:xfrm>
            <a:off x="8467343" y="2505455"/>
            <a:ext cx="2651761" cy="692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1E212B"/>
                </a:solidFill>
              </a:defRPr>
            </a:lvl1pPr>
          </a:lstStyle>
          <a:p>
            <a:pPr/>
            <a:r>
              <a:t>Explain the mismatch</a:t>
            </a:r>
          </a:p>
        </p:txBody>
      </p:sp>
      <p:sp>
        <p:nvSpPr>
          <p:cNvPr id="936" name="TextBox 17"/>
          <p:cNvSpPr txBox="1"/>
          <p:nvPr/>
        </p:nvSpPr>
        <p:spPr>
          <a:xfrm>
            <a:off x="8522207" y="3364991"/>
            <a:ext cx="2606041" cy="1126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Source data vs evaluated data</a:t>
            </a:r>
          </a:p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Skipped windows</a:t>
            </a:r>
          </a:p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Delay or no-data behavior</a:t>
            </a:r>
          </a:p>
        </p:txBody>
      </p:sp>
      <p:sp>
        <p:nvSpPr>
          <p:cNvPr id="937" name="Rounded Rectangle 18"/>
          <p:cNvSpPr/>
          <p:nvPr/>
        </p:nvSpPr>
        <p:spPr>
          <a:xfrm>
            <a:off x="1211580" y="5334126"/>
            <a:ext cx="9738360" cy="53035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FF7B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8" name="TextBox 19"/>
          <p:cNvSpPr txBox="1"/>
          <p:nvPr/>
        </p:nvSpPr>
        <p:spPr>
          <a:xfrm>
            <a:off x="1336633" y="5442606"/>
            <a:ext cx="9661991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1E212B"/>
                </a:solidFill>
              </a:defRPr>
            </a:lvl1pPr>
          </a:lstStyle>
          <a:p>
            <a:pPr/>
            <a:r>
              <a:t>Internal tool: use it for investigation, but do not share Monitor Admin screenshots with customers.</a:t>
            </a:r>
          </a:p>
        </p:txBody>
      </p:sp>
      <p:sp>
        <p:nvSpPr>
          <p:cNvPr id="939" name="Reference Pill Background"/>
          <p:cNvSpPr/>
          <p:nvPr/>
        </p:nvSpPr>
        <p:spPr>
          <a:xfrm>
            <a:off x="6318503" y="6053328"/>
            <a:ext cx="1892915" cy="3108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0" name="TextBox 21"/>
          <p:cNvSpPr txBox="1"/>
          <p:nvPr/>
        </p:nvSpPr>
        <p:spPr>
          <a:xfrm>
            <a:off x="6492240" y="6126479"/>
            <a:ext cx="1545442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800">
                <a:solidFill>
                  <a:srgbClr val="1E212B"/>
                </a:solidFill>
              </a:defRPr>
            </a:pPr>
            <a:r>
              <a:t>Reference: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2" invalidUrl="" action="" tgtFrame="" tooltip="" history="1" highlightClick="0" endSnd="0"/>
              </a:rPr>
              <a:t>Monitor Admin KB</a:t>
            </a:r>
          </a:p>
        </p:txBody>
      </p:sp>
      <p:sp>
        <p:nvSpPr>
          <p:cNvPr id="941" name="Hybrid Rail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32DBD"/>
          </a:solidFill>
          <a:ln>
            <a:solidFill>
              <a:srgbClr val="632DB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2" name="Hybrid Rail Accent"/>
          <p:cNvSpPr/>
          <p:nvPr/>
        </p:nvSpPr>
        <p:spPr>
          <a:xfrm>
            <a:off x="457200" y="0"/>
            <a:ext cx="64008" cy="6858000"/>
          </a:xfrm>
          <a:prstGeom prst="rect">
            <a:avLst/>
          </a:prstGeom>
          <a:solidFill>
            <a:srgbClr val="EE4D83"/>
          </a:solidFill>
          <a:ln>
            <a:solidFill>
              <a:srgbClr val="EE4D8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3" name="Hybrid Rail Top"/>
          <p:cNvSpPr/>
          <p:nvPr/>
        </p:nvSpPr>
        <p:spPr>
          <a:xfrm>
            <a:off x="0" y="-1"/>
            <a:ext cx="457200" cy="1051562"/>
          </a:xfrm>
          <a:prstGeom prst="rect">
            <a:avLst/>
          </a:prstGeom>
          <a:solidFill>
            <a:srgbClr val="5014A0"/>
          </a:solidFill>
          <a:ln>
            <a:solidFill>
              <a:srgbClr val="5014A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4" name="Hybrid Label"/>
          <p:cNvSpPr txBox="1"/>
          <p:nvPr/>
        </p:nvSpPr>
        <p:spPr>
          <a:xfrm rot="16200000">
            <a:off x="-240508" y="2834015"/>
            <a:ext cx="939464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MONITOR ADMIN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TextBox 1"/>
          <p:cNvSpPr txBox="1"/>
          <p:nvPr/>
        </p:nvSpPr>
        <p:spPr>
          <a:xfrm>
            <a:off x="731519" y="411480"/>
            <a:ext cx="10698482" cy="560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E212B"/>
                </a:solidFill>
              </a:defRPr>
            </a:lvl1pPr>
          </a:lstStyle>
          <a:p>
            <a:pPr/>
            <a:r>
              <a:t>Cloud metrics monitors need patience</a:t>
            </a:r>
          </a:p>
        </p:txBody>
      </p:sp>
      <p:sp>
        <p:nvSpPr>
          <p:cNvPr id="947" name="TextBox 2"/>
          <p:cNvSpPr txBox="1"/>
          <p:nvPr/>
        </p:nvSpPr>
        <p:spPr>
          <a:xfrm>
            <a:off x="758951" y="987552"/>
            <a:ext cx="9784082" cy="592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55E6F"/>
                </a:solidFill>
              </a:defRPr>
            </a:lvl1pPr>
          </a:lstStyle>
          <a:p>
            <a:pPr/>
            <a:r>
              <a:t>Crawler-based metrics can arrive late or backfilled. A monitor can be wrong simply because it evaluated too soon.</a:t>
            </a:r>
          </a:p>
        </p:txBody>
      </p:sp>
      <p:sp>
        <p:nvSpPr>
          <p:cNvPr id="948" name="Rounded Rectangle 3"/>
          <p:cNvSpPr/>
          <p:nvPr/>
        </p:nvSpPr>
        <p:spPr>
          <a:xfrm>
            <a:off x="777240" y="1645920"/>
            <a:ext cx="3383280" cy="3401569"/>
          </a:xfrm>
          <a:prstGeom prst="roundRect">
            <a:avLst>
              <a:gd name="adj" fmla="val 16667"/>
            </a:avLst>
          </a:prstGeom>
          <a:solidFill>
            <a:srgbClr val="F7F7FC"/>
          </a:solidFill>
          <a:ln w="1270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9" name="Rounded Rectangle 4"/>
          <p:cNvSpPr/>
          <p:nvPr/>
        </p:nvSpPr>
        <p:spPr>
          <a:xfrm>
            <a:off x="1069847" y="1938527"/>
            <a:ext cx="1508762" cy="310897"/>
          </a:xfrm>
          <a:prstGeom prst="roundRect">
            <a:avLst>
              <a:gd name="adj" fmla="val 16667"/>
            </a:avLst>
          </a:prstGeom>
          <a:solidFill>
            <a:srgbClr val="1F82FF"/>
          </a:solidFill>
          <a:ln>
            <a:solidFill>
              <a:srgbClr val="1F82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0" name="TextBox 5"/>
          <p:cNvSpPr txBox="1"/>
          <p:nvPr/>
        </p:nvSpPr>
        <p:spPr>
          <a:xfrm>
            <a:off x="1115567" y="1988820"/>
            <a:ext cx="141732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ARRIVAL</a:t>
            </a:r>
          </a:p>
        </p:txBody>
      </p:sp>
      <p:sp>
        <p:nvSpPr>
          <p:cNvPr id="951" name="TextBox 6"/>
          <p:cNvSpPr txBox="1"/>
          <p:nvPr/>
        </p:nvSpPr>
        <p:spPr>
          <a:xfrm>
            <a:off x="1152144" y="2487167"/>
            <a:ext cx="2633473" cy="74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1E212B"/>
                </a:solidFill>
              </a:defRPr>
            </a:lvl1pPr>
          </a:lstStyle>
          <a:p>
            <a:pPr/>
            <a:r>
              <a:t>Data may be delayed</a:t>
            </a:r>
          </a:p>
        </p:txBody>
      </p:sp>
      <p:sp>
        <p:nvSpPr>
          <p:cNvPr id="952" name="TextBox 7"/>
          <p:cNvSpPr txBox="1"/>
          <p:nvPr/>
        </p:nvSpPr>
        <p:spPr>
          <a:xfrm>
            <a:off x="1207008" y="3337559"/>
            <a:ext cx="2542033" cy="1558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Cloud APIs expose data later</a:t>
            </a:r>
          </a:p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Crawler schedules add latency</a:t>
            </a:r>
          </a:p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Recent graph gaps may fill later</a:t>
            </a:r>
          </a:p>
        </p:txBody>
      </p:sp>
      <p:sp>
        <p:nvSpPr>
          <p:cNvPr id="953" name="Rounded Rectangle 8"/>
          <p:cNvSpPr/>
          <p:nvPr/>
        </p:nvSpPr>
        <p:spPr>
          <a:xfrm>
            <a:off x="4434840" y="1645920"/>
            <a:ext cx="3383281" cy="3401569"/>
          </a:xfrm>
          <a:prstGeom prst="roundRect">
            <a:avLst>
              <a:gd name="adj" fmla="val 16667"/>
            </a:avLst>
          </a:prstGeom>
          <a:solidFill>
            <a:srgbClr val="F7F7FC"/>
          </a:solidFill>
          <a:ln w="1270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4" name="Rounded Rectangle 9"/>
          <p:cNvSpPr/>
          <p:nvPr/>
        </p:nvSpPr>
        <p:spPr>
          <a:xfrm>
            <a:off x="4727447" y="1938527"/>
            <a:ext cx="1508761" cy="310897"/>
          </a:xfrm>
          <a:prstGeom prst="roundRect">
            <a:avLst>
              <a:gd name="adj" fmla="val 16667"/>
            </a:avLst>
          </a:prstGeom>
          <a:solidFill>
            <a:srgbClr val="632DBD"/>
          </a:solidFill>
          <a:ln>
            <a:solidFill>
              <a:srgbClr val="632DB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5" name="TextBox 10"/>
          <p:cNvSpPr txBox="1"/>
          <p:nvPr/>
        </p:nvSpPr>
        <p:spPr>
          <a:xfrm>
            <a:off x="4773167" y="1988820"/>
            <a:ext cx="141732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TIMING</a:t>
            </a:r>
          </a:p>
        </p:txBody>
      </p:sp>
      <p:sp>
        <p:nvSpPr>
          <p:cNvPr id="956" name="TextBox 11"/>
          <p:cNvSpPr txBox="1"/>
          <p:nvPr/>
        </p:nvSpPr>
        <p:spPr>
          <a:xfrm>
            <a:off x="4809744" y="2487167"/>
            <a:ext cx="2633473" cy="41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1E212B"/>
                </a:solidFill>
              </a:defRPr>
            </a:lvl1pPr>
          </a:lstStyle>
          <a:p>
            <a:pPr/>
            <a:r>
              <a:t>Delay evaluation</a:t>
            </a:r>
          </a:p>
        </p:txBody>
      </p:sp>
      <p:sp>
        <p:nvSpPr>
          <p:cNvPr id="957" name="TextBox 12"/>
          <p:cNvSpPr txBox="1"/>
          <p:nvPr/>
        </p:nvSpPr>
        <p:spPr>
          <a:xfrm>
            <a:off x="4864608" y="3337559"/>
            <a:ext cx="2542033" cy="1126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Use evaluation delay</a:t>
            </a:r>
          </a:p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Use a realistic timeframe</a:t>
            </a:r>
          </a:p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Do not page on incomplete data</a:t>
            </a:r>
          </a:p>
        </p:txBody>
      </p:sp>
      <p:sp>
        <p:nvSpPr>
          <p:cNvPr id="958" name="Rounded Rectangle 13"/>
          <p:cNvSpPr/>
          <p:nvPr/>
        </p:nvSpPr>
        <p:spPr>
          <a:xfrm>
            <a:off x="8092440" y="1645920"/>
            <a:ext cx="3383281" cy="3401569"/>
          </a:xfrm>
          <a:prstGeom prst="roundRect">
            <a:avLst>
              <a:gd name="adj" fmla="val 16667"/>
            </a:avLst>
          </a:prstGeom>
          <a:solidFill>
            <a:srgbClr val="F7F7FC"/>
          </a:solidFill>
          <a:ln w="1270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9" name="Rounded Rectangle 14"/>
          <p:cNvSpPr/>
          <p:nvPr/>
        </p:nvSpPr>
        <p:spPr>
          <a:xfrm>
            <a:off x="8385047" y="1938527"/>
            <a:ext cx="1508761" cy="310897"/>
          </a:xfrm>
          <a:prstGeom prst="roundRect">
            <a:avLst>
              <a:gd name="adj" fmla="val 16667"/>
            </a:avLst>
          </a:prstGeom>
          <a:solidFill>
            <a:srgbClr val="EE4D83"/>
          </a:solidFill>
          <a:ln>
            <a:solidFill>
              <a:srgbClr val="EE4D8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0" name="TextBox 15"/>
          <p:cNvSpPr txBox="1"/>
          <p:nvPr/>
        </p:nvSpPr>
        <p:spPr>
          <a:xfrm>
            <a:off x="8430767" y="1988820"/>
            <a:ext cx="1417321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SPARSITY</a:t>
            </a:r>
          </a:p>
        </p:txBody>
      </p:sp>
      <p:sp>
        <p:nvSpPr>
          <p:cNvPr id="961" name="TextBox 16"/>
          <p:cNvSpPr txBox="1"/>
          <p:nvPr/>
        </p:nvSpPr>
        <p:spPr>
          <a:xfrm>
            <a:off x="8467343" y="2487167"/>
            <a:ext cx="2633473" cy="74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1E212B"/>
                </a:solidFill>
              </a:defRPr>
            </a:lvl1pPr>
          </a:lstStyle>
          <a:p>
            <a:pPr/>
            <a:r>
              <a:t>No data is not always outage</a:t>
            </a:r>
          </a:p>
        </p:txBody>
      </p:sp>
      <p:sp>
        <p:nvSpPr>
          <p:cNvPr id="962" name="TextBox 17"/>
          <p:cNvSpPr txBox="1"/>
          <p:nvPr/>
        </p:nvSpPr>
        <p:spPr>
          <a:xfrm>
            <a:off x="8522207" y="3337559"/>
            <a:ext cx="2542033" cy="1342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Some metrics report infrequently</a:t>
            </a:r>
          </a:p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Full window can skip sparse data</a:t>
            </a:r>
          </a:p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Check no-data behavior</a:t>
            </a:r>
          </a:p>
        </p:txBody>
      </p:sp>
      <p:sp>
        <p:nvSpPr>
          <p:cNvPr id="963" name="Rounded Rectangle 18"/>
          <p:cNvSpPr/>
          <p:nvPr/>
        </p:nvSpPr>
        <p:spPr>
          <a:xfrm>
            <a:off x="1303019" y="5324983"/>
            <a:ext cx="9555482" cy="53035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632DB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4" name="TextBox 19"/>
          <p:cNvSpPr txBox="1"/>
          <p:nvPr/>
        </p:nvSpPr>
        <p:spPr>
          <a:xfrm>
            <a:off x="1577339" y="5433462"/>
            <a:ext cx="9006842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1E212B"/>
                </a:solidFill>
              </a:defRPr>
            </a:lvl1pPr>
          </a:lstStyle>
          <a:p>
            <a:pPr/>
            <a:r>
              <a:t>TSE move: compare metric arrival time before declaring the monitor broken.</a:t>
            </a:r>
          </a:p>
        </p:txBody>
      </p:sp>
      <p:sp>
        <p:nvSpPr>
          <p:cNvPr id="965" name="Rounded Rectangle 20"/>
          <p:cNvSpPr/>
          <p:nvPr/>
        </p:nvSpPr>
        <p:spPr>
          <a:xfrm>
            <a:off x="658368" y="6053328"/>
            <a:ext cx="2843784" cy="3108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6" name="TextBox 21"/>
          <p:cNvSpPr txBox="1"/>
          <p:nvPr/>
        </p:nvSpPr>
        <p:spPr>
          <a:xfrm>
            <a:off x="832103" y="6126479"/>
            <a:ext cx="1838336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800">
                <a:solidFill>
                  <a:srgbClr val="1F222C"/>
                </a:solidFill>
              </a:defRPr>
            </a:pPr>
            <a:r>
              <a:t>Related cases: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2" invalidUrl="" action="" tgtFrame="" tooltip="" history="1" highlightClick="0" endSnd="0"/>
              </a:rPr>
              <a:t>#2543610</a:t>
            </a:r>
            <a:r>
              <a:rPr b="0"/>
              <a:t> ·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3" invalidUrl="" action="" tgtFrame="" tooltip="" history="1" highlightClick="0" endSnd="0"/>
              </a:rPr>
              <a:t>#2535898</a:t>
            </a:r>
          </a:p>
        </p:txBody>
      </p:sp>
      <p:sp>
        <p:nvSpPr>
          <p:cNvPr id="967" name="Reference Pill Background"/>
          <p:cNvSpPr/>
          <p:nvPr/>
        </p:nvSpPr>
        <p:spPr>
          <a:xfrm>
            <a:off x="6318503" y="6053328"/>
            <a:ext cx="4480561" cy="3108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8" name="TextBox 23"/>
          <p:cNvSpPr txBox="1"/>
          <p:nvPr/>
        </p:nvSpPr>
        <p:spPr>
          <a:xfrm>
            <a:off x="6492240" y="6126479"/>
            <a:ext cx="2339837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800">
                <a:solidFill>
                  <a:srgbClr val="1E212B"/>
                </a:solidFill>
              </a:defRPr>
            </a:pPr>
            <a:r>
              <a:t>Reference: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4" invalidUrl="" action="" tgtFrame="" tooltip="" history="1" highlightClick="0" endSnd="0"/>
              </a:rPr>
              <a:t>Cloud metric delay</a:t>
            </a:r>
            <a:r>
              <a:rPr b="0"/>
              <a:t> ·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5" invalidUrl="" action="" tgtFrame="" tooltip="" history="1" highlightClick="0" endSnd="0"/>
              </a:rPr>
              <a:t>No Data guide</a:t>
            </a:r>
          </a:p>
        </p:txBody>
      </p:sp>
      <p:sp>
        <p:nvSpPr>
          <p:cNvPr id="969" name="Hybrid Rail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32DBD"/>
          </a:solidFill>
          <a:ln>
            <a:solidFill>
              <a:srgbClr val="632DB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0" name="Hybrid Rail Accent"/>
          <p:cNvSpPr/>
          <p:nvPr/>
        </p:nvSpPr>
        <p:spPr>
          <a:xfrm>
            <a:off x="457200" y="0"/>
            <a:ext cx="64008" cy="6858000"/>
          </a:xfrm>
          <a:prstGeom prst="rect">
            <a:avLst/>
          </a:prstGeom>
          <a:solidFill>
            <a:srgbClr val="EE4D83"/>
          </a:solidFill>
          <a:ln>
            <a:solidFill>
              <a:srgbClr val="EE4D8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1" name="Hybrid Rail Top"/>
          <p:cNvSpPr/>
          <p:nvPr/>
        </p:nvSpPr>
        <p:spPr>
          <a:xfrm>
            <a:off x="0" y="-1"/>
            <a:ext cx="457200" cy="1051562"/>
          </a:xfrm>
          <a:prstGeom prst="rect">
            <a:avLst/>
          </a:prstGeom>
          <a:solidFill>
            <a:srgbClr val="5014A0"/>
          </a:solidFill>
          <a:ln>
            <a:solidFill>
              <a:srgbClr val="5014A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2" name="Hybrid Label"/>
          <p:cNvSpPr txBox="1"/>
          <p:nvPr/>
        </p:nvSpPr>
        <p:spPr>
          <a:xfrm rot="16200000">
            <a:off x="-246163" y="2834015"/>
            <a:ext cx="950774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CLOUD METRICS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TextBox 1"/>
          <p:cNvSpPr txBox="1"/>
          <p:nvPr/>
        </p:nvSpPr>
        <p:spPr>
          <a:xfrm>
            <a:off x="731519" y="411480"/>
            <a:ext cx="10698482" cy="560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E212B"/>
                </a:solidFill>
              </a:defRPr>
            </a:lvl1pPr>
          </a:lstStyle>
          <a:p>
            <a:pPr/>
            <a:r>
              <a:t>Cloud monitor troubleshooting path</a:t>
            </a:r>
          </a:p>
        </p:txBody>
      </p:sp>
      <p:sp>
        <p:nvSpPr>
          <p:cNvPr id="975" name="TextBox 2"/>
          <p:cNvSpPr txBox="1"/>
          <p:nvPr/>
        </p:nvSpPr>
        <p:spPr>
          <a:xfrm>
            <a:off x="758951" y="987552"/>
            <a:ext cx="9784082" cy="592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55E6F"/>
                </a:solidFill>
              </a:defRPr>
            </a:lvl1pPr>
          </a:lstStyle>
          <a:p>
            <a:pPr/>
            <a:r>
              <a:t>For AWS, Azure, GCP, and other cloud integrations, debug ingestion timing before changing the alert threshold.</a:t>
            </a:r>
          </a:p>
        </p:txBody>
      </p:sp>
      <p:sp>
        <p:nvSpPr>
          <p:cNvPr id="976" name="Rounded Rectangle 3"/>
          <p:cNvSpPr/>
          <p:nvPr/>
        </p:nvSpPr>
        <p:spPr>
          <a:xfrm>
            <a:off x="658368" y="2148839"/>
            <a:ext cx="1572768" cy="69494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1F82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7" name="TextBox 4"/>
          <p:cNvSpPr txBox="1"/>
          <p:nvPr/>
        </p:nvSpPr>
        <p:spPr>
          <a:xfrm>
            <a:off x="777239" y="2267711"/>
            <a:ext cx="1335025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1F82FF"/>
                </a:solidFill>
              </a:defRPr>
            </a:lvl1pPr>
          </a:lstStyle>
          <a:p>
            <a:pPr/>
            <a:r>
              <a:t>Provider emits</a:t>
            </a:r>
          </a:p>
        </p:txBody>
      </p:sp>
      <p:sp>
        <p:nvSpPr>
          <p:cNvPr id="978" name="TextBox 5"/>
          <p:cNvSpPr txBox="1"/>
          <p:nvPr/>
        </p:nvSpPr>
        <p:spPr>
          <a:xfrm>
            <a:off x="795527" y="2532888"/>
            <a:ext cx="129845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555E6F"/>
                </a:solidFill>
              </a:defRPr>
            </a:lvl1pPr>
          </a:lstStyle>
          <a:p>
            <a:pPr/>
            <a:r>
              <a:t>source time</a:t>
            </a:r>
          </a:p>
        </p:txBody>
      </p:sp>
      <p:sp>
        <p:nvSpPr>
          <p:cNvPr id="979" name="Connector 6"/>
          <p:cNvSpPr/>
          <p:nvPr/>
        </p:nvSpPr>
        <p:spPr>
          <a:xfrm>
            <a:off x="2231135" y="2496311"/>
            <a:ext cx="374905" cy="1"/>
          </a:xfrm>
          <a:prstGeom prst="line">
            <a:avLst/>
          </a:prstGeom>
          <a:ln w="25400">
            <a:solidFill>
              <a:srgbClr val="DBE0E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980" name="Rounded Rectangle 7"/>
          <p:cNvSpPr/>
          <p:nvPr/>
        </p:nvSpPr>
        <p:spPr>
          <a:xfrm>
            <a:off x="2606039" y="2148839"/>
            <a:ext cx="1572769" cy="69494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632DB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1" name="TextBox 8"/>
          <p:cNvSpPr txBox="1"/>
          <p:nvPr/>
        </p:nvSpPr>
        <p:spPr>
          <a:xfrm>
            <a:off x="2724912" y="2267711"/>
            <a:ext cx="1335025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632DBD"/>
                </a:solidFill>
              </a:defRPr>
            </a:lvl1pPr>
          </a:lstStyle>
          <a:p>
            <a:pPr/>
            <a:r>
              <a:t>Crawler pulls</a:t>
            </a:r>
          </a:p>
        </p:txBody>
      </p:sp>
      <p:sp>
        <p:nvSpPr>
          <p:cNvPr id="982" name="TextBox 9"/>
          <p:cNvSpPr txBox="1"/>
          <p:nvPr/>
        </p:nvSpPr>
        <p:spPr>
          <a:xfrm>
            <a:off x="2743200" y="2532888"/>
            <a:ext cx="1298449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555E6F"/>
                </a:solidFill>
              </a:defRPr>
            </a:lvl1pPr>
          </a:lstStyle>
          <a:p>
            <a:pPr/>
            <a:r>
              <a:t>API schedule</a:t>
            </a:r>
          </a:p>
        </p:txBody>
      </p:sp>
      <p:sp>
        <p:nvSpPr>
          <p:cNvPr id="983" name="Connector 10"/>
          <p:cNvSpPr/>
          <p:nvPr/>
        </p:nvSpPr>
        <p:spPr>
          <a:xfrm>
            <a:off x="4178808" y="2496311"/>
            <a:ext cx="374905" cy="1"/>
          </a:xfrm>
          <a:prstGeom prst="line">
            <a:avLst/>
          </a:prstGeom>
          <a:ln w="25400">
            <a:solidFill>
              <a:srgbClr val="DBE0E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984" name="Rounded Rectangle 11"/>
          <p:cNvSpPr/>
          <p:nvPr/>
        </p:nvSpPr>
        <p:spPr>
          <a:xfrm>
            <a:off x="4553711" y="2148839"/>
            <a:ext cx="1572769" cy="69494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009C7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5" name="TextBox 12"/>
          <p:cNvSpPr txBox="1"/>
          <p:nvPr/>
        </p:nvSpPr>
        <p:spPr>
          <a:xfrm>
            <a:off x="4672584" y="2267711"/>
            <a:ext cx="1335025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009C70"/>
                </a:solidFill>
              </a:defRPr>
            </a:lvl1pPr>
          </a:lstStyle>
          <a:p>
            <a:pPr/>
            <a:r>
              <a:t>Metric arrives</a:t>
            </a:r>
          </a:p>
        </p:txBody>
      </p:sp>
      <p:sp>
        <p:nvSpPr>
          <p:cNvPr id="986" name="TextBox 13"/>
          <p:cNvSpPr txBox="1"/>
          <p:nvPr/>
        </p:nvSpPr>
        <p:spPr>
          <a:xfrm>
            <a:off x="4690872" y="2532888"/>
            <a:ext cx="1298449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555E6F"/>
                </a:solidFill>
              </a:defRPr>
            </a:lvl1pPr>
          </a:lstStyle>
          <a:p>
            <a:pPr/>
            <a:r>
              <a:t>Datadog time</a:t>
            </a:r>
          </a:p>
        </p:txBody>
      </p:sp>
      <p:sp>
        <p:nvSpPr>
          <p:cNvPr id="987" name="Connector 14"/>
          <p:cNvSpPr/>
          <p:nvPr/>
        </p:nvSpPr>
        <p:spPr>
          <a:xfrm>
            <a:off x="6126479" y="2496311"/>
            <a:ext cx="374905" cy="1"/>
          </a:xfrm>
          <a:prstGeom prst="line">
            <a:avLst/>
          </a:prstGeom>
          <a:ln w="25400">
            <a:solidFill>
              <a:srgbClr val="DBE0E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988" name="Rounded Rectangle 15"/>
          <p:cNvSpPr/>
          <p:nvPr/>
        </p:nvSpPr>
        <p:spPr>
          <a:xfrm>
            <a:off x="6501384" y="2148839"/>
            <a:ext cx="1572769" cy="69494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FF7B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9" name="TextBox 16"/>
          <p:cNvSpPr txBox="1"/>
          <p:nvPr/>
        </p:nvSpPr>
        <p:spPr>
          <a:xfrm>
            <a:off x="6620255" y="2267711"/>
            <a:ext cx="1335025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7B00"/>
                </a:solidFill>
              </a:defRPr>
            </a:lvl1pPr>
          </a:lstStyle>
          <a:p>
            <a:pPr/>
            <a:r>
              <a:t>Delay applies</a:t>
            </a:r>
          </a:p>
        </p:txBody>
      </p:sp>
      <p:sp>
        <p:nvSpPr>
          <p:cNvPr id="990" name="TextBox 17"/>
          <p:cNvSpPr txBox="1"/>
          <p:nvPr/>
        </p:nvSpPr>
        <p:spPr>
          <a:xfrm>
            <a:off x="6638543" y="2532888"/>
            <a:ext cx="1298449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555E6F"/>
                </a:solidFill>
              </a:defRPr>
            </a:lvl1pPr>
          </a:lstStyle>
          <a:p>
            <a:pPr/>
            <a:r>
              <a:t>evaluation delay</a:t>
            </a:r>
          </a:p>
        </p:txBody>
      </p:sp>
      <p:sp>
        <p:nvSpPr>
          <p:cNvPr id="991" name="Connector 18"/>
          <p:cNvSpPr/>
          <p:nvPr/>
        </p:nvSpPr>
        <p:spPr>
          <a:xfrm>
            <a:off x="8074152" y="2496311"/>
            <a:ext cx="374905" cy="1"/>
          </a:xfrm>
          <a:prstGeom prst="line">
            <a:avLst/>
          </a:prstGeom>
          <a:ln w="25400">
            <a:solidFill>
              <a:srgbClr val="DBE0E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992" name="Rounded Rectangle 19"/>
          <p:cNvSpPr/>
          <p:nvPr/>
        </p:nvSpPr>
        <p:spPr>
          <a:xfrm>
            <a:off x="8449056" y="2148839"/>
            <a:ext cx="1572769" cy="69494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EE4D8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3" name="TextBox 20"/>
          <p:cNvSpPr txBox="1"/>
          <p:nvPr/>
        </p:nvSpPr>
        <p:spPr>
          <a:xfrm>
            <a:off x="8567927" y="2267711"/>
            <a:ext cx="1335025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EE4D83"/>
                </a:solidFill>
              </a:defRPr>
            </a:lvl1pPr>
          </a:lstStyle>
          <a:p>
            <a:pPr/>
            <a:r>
              <a:t>Window evaluates</a:t>
            </a:r>
          </a:p>
        </p:txBody>
      </p:sp>
      <p:sp>
        <p:nvSpPr>
          <p:cNvPr id="994" name="TextBox 21"/>
          <p:cNvSpPr txBox="1"/>
          <p:nvPr/>
        </p:nvSpPr>
        <p:spPr>
          <a:xfrm>
            <a:off x="8586215" y="2532888"/>
            <a:ext cx="1298449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555E6F"/>
                </a:solidFill>
              </a:defRPr>
            </a:lvl1pPr>
          </a:lstStyle>
          <a:p>
            <a:pPr/>
            <a:r>
              <a:t>threshold check</a:t>
            </a:r>
          </a:p>
        </p:txBody>
      </p:sp>
      <p:sp>
        <p:nvSpPr>
          <p:cNvPr id="995" name="Connector 22"/>
          <p:cNvSpPr/>
          <p:nvPr/>
        </p:nvSpPr>
        <p:spPr>
          <a:xfrm>
            <a:off x="10021823" y="2496311"/>
            <a:ext cx="82297" cy="1"/>
          </a:xfrm>
          <a:prstGeom prst="line">
            <a:avLst/>
          </a:prstGeom>
          <a:ln w="25400">
            <a:solidFill>
              <a:srgbClr val="DBE0E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996" name="Rounded Rectangle 23"/>
          <p:cNvSpPr/>
          <p:nvPr/>
        </p:nvSpPr>
        <p:spPr>
          <a:xfrm>
            <a:off x="10104119" y="2148839"/>
            <a:ext cx="1572769" cy="69494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632DB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7" name="TextBox 24"/>
          <p:cNvSpPr txBox="1"/>
          <p:nvPr/>
        </p:nvSpPr>
        <p:spPr>
          <a:xfrm>
            <a:off x="10222991" y="2267711"/>
            <a:ext cx="1335025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632DBD"/>
                </a:solidFill>
              </a:defRPr>
            </a:lvl1pPr>
          </a:lstStyle>
          <a:p>
            <a:pPr/>
            <a:r>
              <a:t>Alert routes</a:t>
            </a:r>
          </a:p>
        </p:txBody>
      </p:sp>
      <p:sp>
        <p:nvSpPr>
          <p:cNvPr id="998" name="TextBox 25"/>
          <p:cNvSpPr txBox="1"/>
          <p:nvPr/>
        </p:nvSpPr>
        <p:spPr>
          <a:xfrm>
            <a:off x="10241279" y="2532888"/>
            <a:ext cx="1298449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555E6F"/>
                </a:solidFill>
              </a:defRPr>
            </a:lvl1pPr>
          </a:lstStyle>
          <a:p>
            <a:pPr/>
            <a:r>
              <a:t>notification</a:t>
            </a:r>
          </a:p>
        </p:txBody>
      </p:sp>
      <p:sp>
        <p:nvSpPr>
          <p:cNvPr id="999" name="Rounded Rectangle 26"/>
          <p:cNvSpPr/>
          <p:nvPr/>
        </p:nvSpPr>
        <p:spPr>
          <a:xfrm>
            <a:off x="868680" y="4023359"/>
            <a:ext cx="5120641" cy="1417321"/>
          </a:xfrm>
          <a:prstGeom prst="roundRect">
            <a:avLst>
              <a:gd name="adj" fmla="val 16667"/>
            </a:avLst>
          </a:prstGeom>
          <a:solidFill>
            <a:srgbClr val="F7F7FC"/>
          </a:solidFill>
          <a:ln w="1270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0" name="Rounded Rectangle 27"/>
          <p:cNvSpPr/>
          <p:nvPr/>
        </p:nvSpPr>
        <p:spPr>
          <a:xfrm>
            <a:off x="6263640" y="4023359"/>
            <a:ext cx="4892041" cy="1417321"/>
          </a:xfrm>
          <a:prstGeom prst="roundRect">
            <a:avLst>
              <a:gd name="adj" fmla="val 16667"/>
            </a:avLst>
          </a:prstGeom>
          <a:solidFill>
            <a:srgbClr val="F7F7FC"/>
          </a:solidFill>
          <a:ln w="1270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1" name="TextBox 28"/>
          <p:cNvSpPr txBox="1"/>
          <p:nvPr/>
        </p:nvSpPr>
        <p:spPr>
          <a:xfrm>
            <a:off x="1188719" y="4297679"/>
            <a:ext cx="1188722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632DBD"/>
                </a:solidFill>
              </a:defRPr>
            </a:lvl1pPr>
          </a:lstStyle>
          <a:p>
            <a:pPr/>
            <a:r>
              <a:t>Ask first</a:t>
            </a:r>
          </a:p>
        </p:txBody>
      </p:sp>
      <p:sp>
        <p:nvSpPr>
          <p:cNvPr id="1002" name="TextBox 29"/>
          <p:cNvSpPr txBox="1"/>
          <p:nvPr/>
        </p:nvSpPr>
        <p:spPr>
          <a:xfrm>
            <a:off x="2468879" y="4224528"/>
            <a:ext cx="3154682" cy="695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1E212B"/>
                </a:solidFill>
              </a:defRPr>
            </a:lvl1pPr>
          </a:lstStyle>
          <a:p>
            <a:pPr/>
            <a:r>
              <a:t>Is the graph using the same window the monitor evaluates, or are we looking at data after it arrived?</a:t>
            </a:r>
          </a:p>
        </p:txBody>
      </p:sp>
      <p:sp>
        <p:nvSpPr>
          <p:cNvPr id="1003" name="TextBox 30"/>
          <p:cNvSpPr txBox="1"/>
          <p:nvPr/>
        </p:nvSpPr>
        <p:spPr>
          <a:xfrm>
            <a:off x="6583679" y="4297679"/>
            <a:ext cx="1325881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EE4D83"/>
                </a:solidFill>
              </a:defRPr>
            </a:lvl1pPr>
          </a:lstStyle>
          <a:p>
            <a:pPr/>
            <a:r>
              <a:t>Then tune</a:t>
            </a:r>
          </a:p>
        </p:txBody>
      </p:sp>
      <p:sp>
        <p:nvSpPr>
          <p:cNvPr id="1004" name="TextBox 31"/>
          <p:cNvSpPr txBox="1"/>
          <p:nvPr/>
        </p:nvSpPr>
        <p:spPr>
          <a:xfrm>
            <a:off x="8046719" y="4224528"/>
            <a:ext cx="2697481" cy="898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Evaluation delay, timeframe, require full window, and no-data settings before changing threshold.</a:t>
            </a:r>
          </a:p>
        </p:txBody>
      </p:sp>
      <p:sp>
        <p:nvSpPr>
          <p:cNvPr id="1005" name="Rounded Rectangle 32"/>
          <p:cNvSpPr/>
          <p:nvPr/>
        </p:nvSpPr>
        <p:spPr>
          <a:xfrm>
            <a:off x="658368" y="6053328"/>
            <a:ext cx="2185807" cy="3108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6" name="TextBox 33"/>
          <p:cNvSpPr txBox="1"/>
          <p:nvPr/>
        </p:nvSpPr>
        <p:spPr>
          <a:xfrm>
            <a:off x="832103" y="6126479"/>
            <a:ext cx="1838336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800">
                <a:solidFill>
                  <a:srgbClr val="1F222C"/>
                </a:solidFill>
              </a:defRPr>
            </a:pPr>
            <a:r>
              <a:t>Related cases: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2" invalidUrl="" action="" tgtFrame="" tooltip="" history="1" highlightClick="0" endSnd="0"/>
              </a:rPr>
              <a:t>#2538260</a:t>
            </a:r>
            <a:r>
              <a:rPr b="0"/>
              <a:t> ·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3" invalidUrl="" action="" tgtFrame="" tooltip="" history="1" highlightClick="0" endSnd="0"/>
              </a:rPr>
              <a:t>#2535898</a:t>
            </a:r>
          </a:p>
        </p:txBody>
      </p:sp>
      <p:sp>
        <p:nvSpPr>
          <p:cNvPr id="1007" name="Reference Pill Background"/>
          <p:cNvSpPr/>
          <p:nvPr/>
        </p:nvSpPr>
        <p:spPr>
          <a:xfrm>
            <a:off x="6318503" y="6053328"/>
            <a:ext cx="2709684" cy="3108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8" name="TextBox 35"/>
          <p:cNvSpPr txBox="1"/>
          <p:nvPr/>
        </p:nvSpPr>
        <p:spPr>
          <a:xfrm>
            <a:off x="6492240" y="6126479"/>
            <a:ext cx="236221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800">
                <a:solidFill>
                  <a:srgbClr val="1E212B"/>
                </a:solidFill>
              </a:defRPr>
            </a:pPr>
            <a:r>
              <a:t>Reference: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4" invalidUrl="" action="" tgtFrame="" tooltip="" history="1" highlightClick="0" endSnd="0"/>
              </a:rPr>
              <a:t>Cloud metric delay</a:t>
            </a:r>
            <a:r>
              <a:rPr b="0"/>
              <a:t> ·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5" invalidUrl="" action="" tgtFrame="" tooltip="" history="1" highlightClick="0" endSnd="0"/>
              </a:rPr>
              <a:t>Monitor config</a:t>
            </a:r>
          </a:p>
        </p:txBody>
      </p:sp>
      <p:sp>
        <p:nvSpPr>
          <p:cNvPr id="1009" name="Hybrid Rail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32DBD"/>
          </a:solidFill>
          <a:ln>
            <a:solidFill>
              <a:srgbClr val="632DB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0" name="Hybrid Rail Accent"/>
          <p:cNvSpPr/>
          <p:nvPr/>
        </p:nvSpPr>
        <p:spPr>
          <a:xfrm>
            <a:off x="457200" y="0"/>
            <a:ext cx="64008" cy="6858000"/>
          </a:xfrm>
          <a:prstGeom prst="rect">
            <a:avLst/>
          </a:prstGeom>
          <a:solidFill>
            <a:srgbClr val="EE4D83"/>
          </a:solidFill>
          <a:ln>
            <a:solidFill>
              <a:srgbClr val="EE4D8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1" name="Hybrid Rail Top"/>
          <p:cNvSpPr/>
          <p:nvPr/>
        </p:nvSpPr>
        <p:spPr>
          <a:xfrm>
            <a:off x="0" y="-1"/>
            <a:ext cx="457200" cy="1051562"/>
          </a:xfrm>
          <a:prstGeom prst="rect">
            <a:avLst/>
          </a:prstGeom>
          <a:solidFill>
            <a:srgbClr val="5014A0"/>
          </a:solidFill>
          <a:ln>
            <a:solidFill>
              <a:srgbClr val="5014A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2" name="Hybrid Label"/>
          <p:cNvSpPr txBox="1"/>
          <p:nvPr/>
        </p:nvSpPr>
        <p:spPr>
          <a:xfrm rot="16200000">
            <a:off x="-246163" y="2834015"/>
            <a:ext cx="950774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CLOUD METRICS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TextBox 1"/>
          <p:cNvSpPr txBox="1"/>
          <p:nvPr/>
        </p:nvSpPr>
        <p:spPr>
          <a:xfrm>
            <a:off x="731519" y="411480"/>
            <a:ext cx="10698482" cy="560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E212B"/>
                </a:solidFill>
              </a:defRPr>
            </a:lvl1pPr>
          </a:lstStyle>
          <a:p>
            <a:pPr/>
            <a:r>
              <a:t>How a metric is submitted changes how it behaves</a:t>
            </a:r>
          </a:p>
        </p:txBody>
      </p:sp>
      <p:sp>
        <p:nvSpPr>
          <p:cNvPr id="1015" name="TextBox 2"/>
          <p:cNvSpPr txBox="1"/>
          <p:nvPr/>
        </p:nvSpPr>
        <p:spPr>
          <a:xfrm>
            <a:off x="758951" y="987552"/>
            <a:ext cx="9784082" cy="492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Accepted submission types: COUNT, RATE, GAUGE, SET, HISTOGRAM, DISTRIBUTION. The stored in-app type can still differ by path.</a:t>
            </a:r>
          </a:p>
        </p:txBody>
      </p:sp>
      <p:sp>
        <p:nvSpPr>
          <p:cNvPr id="1016" name="Rounded Rectangle 3"/>
          <p:cNvSpPr/>
          <p:nvPr/>
        </p:nvSpPr>
        <p:spPr>
          <a:xfrm>
            <a:off x="777240" y="1664207"/>
            <a:ext cx="3383280" cy="3429001"/>
          </a:xfrm>
          <a:prstGeom prst="roundRect">
            <a:avLst>
              <a:gd name="adj" fmla="val 16667"/>
            </a:avLst>
          </a:prstGeom>
          <a:solidFill>
            <a:srgbClr val="F7F7FC"/>
          </a:solidFill>
          <a:ln w="1270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7" name="Rounded Rectangle 4"/>
          <p:cNvSpPr/>
          <p:nvPr/>
        </p:nvSpPr>
        <p:spPr>
          <a:xfrm>
            <a:off x="1069847" y="1956816"/>
            <a:ext cx="1481329" cy="310897"/>
          </a:xfrm>
          <a:prstGeom prst="roundRect">
            <a:avLst>
              <a:gd name="adj" fmla="val 16667"/>
            </a:avLst>
          </a:prstGeom>
          <a:solidFill>
            <a:srgbClr val="1F82FF"/>
          </a:solidFill>
          <a:ln>
            <a:solidFill>
              <a:srgbClr val="1F82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8" name="TextBox 5"/>
          <p:cNvSpPr txBox="1"/>
          <p:nvPr/>
        </p:nvSpPr>
        <p:spPr>
          <a:xfrm>
            <a:off x="1115567" y="2007107"/>
            <a:ext cx="1389889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1019" name="TextBox 6"/>
          <p:cNvSpPr txBox="1"/>
          <p:nvPr/>
        </p:nvSpPr>
        <p:spPr>
          <a:xfrm>
            <a:off x="1152144" y="2505455"/>
            <a:ext cx="2633473" cy="387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1E212B"/>
                </a:solidFill>
              </a:defRPr>
            </a:lvl1pPr>
          </a:lstStyle>
          <a:p>
            <a:pPr/>
            <a:r>
              <a:t>Agent check</a:t>
            </a:r>
          </a:p>
        </p:txBody>
      </p:sp>
      <p:sp>
        <p:nvSpPr>
          <p:cNvPr id="1020" name="TextBox 7"/>
          <p:cNvSpPr txBox="1"/>
          <p:nvPr/>
        </p:nvSpPr>
        <p:spPr>
          <a:xfrm>
            <a:off x="1207008" y="3364991"/>
            <a:ext cx="2542033" cy="1126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Collected on a host</a:t>
            </a:r>
          </a:p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Agent aggregates per flush</a:t>
            </a:r>
          </a:p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Type controls the stored value</a:t>
            </a:r>
          </a:p>
        </p:txBody>
      </p:sp>
      <p:sp>
        <p:nvSpPr>
          <p:cNvPr id="1021" name="Rounded Rectangle 8"/>
          <p:cNvSpPr/>
          <p:nvPr/>
        </p:nvSpPr>
        <p:spPr>
          <a:xfrm>
            <a:off x="4434840" y="1664207"/>
            <a:ext cx="3383281" cy="3429001"/>
          </a:xfrm>
          <a:prstGeom prst="roundRect">
            <a:avLst>
              <a:gd name="adj" fmla="val 16667"/>
            </a:avLst>
          </a:prstGeom>
          <a:solidFill>
            <a:srgbClr val="F7F7FC"/>
          </a:solidFill>
          <a:ln w="1270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2" name="Rounded Rectangle 9"/>
          <p:cNvSpPr/>
          <p:nvPr/>
        </p:nvSpPr>
        <p:spPr>
          <a:xfrm>
            <a:off x="4727447" y="1956816"/>
            <a:ext cx="1481329" cy="310897"/>
          </a:xfrm>
          <a:prstGeom prst="roundRect">
            <a:avLst>
              <a:gd name="adj" fmla="val 16667"/>
            </a:avLst>
          </a:prstGeom>
          <a:solidFill>
            <a:srgbClr val="632DBD"/>
          </a:solidFill>
          <a:ln>
            <a:solidFill>
              <a:srgbClr val="632DB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3" name="TextBox 10"/>
          <p:cNvSpPr txBox="1"/>
          <p:nvPr/>
        </p:nvSpPr>
        <p:spPr>
          <a:xfrm>
            <a:off x="4773167" y="2007107"/>
            <a:ext cx="1389889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DOGSTATSD</a:t>
            </a:r>
          </a:p>
        </p:txBody>
      </p:sp>
      <p:sp>
        <p:nvSpPr>
          <p:cNvPr id="1024" name="TextBox 11"/>
          <p:cNvSpPr txBox="1"/>
          <p:nvPr/>
        </p:nvSpPr>
        <p:spPr>
          <a:xfrm>
            <a:off x="4809744" y="2505455"/>
            <a:ext cx="2633473" cy="387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1E212B"/>
                </a:solidFill>
              </a:defRPr>
            </a:lvl1pPr>
          </a:lstStyle>
          <a:p>
            <a:pPr/>
            <a:r>
              <a:t>App emits to Agent</a:t>
            </a:r>
          </a:p>
        </p:txBody>
      </p:sp>
      <p:sp>
        <p:nvSpPr>
          <p:cNvPr id="1025" name="TextBox 12"/>
          <p:cNvSpPr txBox="1"/>
          <p:nvPr/>
        </p:nvSpPr>
        <p:spPr>
          <a:xfrm>
            <a:off x="4864608" y="3364991"/>
            <a:ext cx="2542033" cy="910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Great for custom app KPIs</a:t>
            </a:r>
          </a:p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Count can appear as a rate</a:t>
            </a:r>
          </a:p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Tags arrive with the metric</a:t>
            </a:r>
          </a:p>
        </p:txBody>
      </p:sp>
      <p:sp>
        <p:nvSpPr>
          <p:cNvPr id="1026" name="Rounded Rectangle 13"/>
          <p:cNvSpPr/>
          <p:nvPr/>
        </p:nvSpPr>
        <p:spPr>
          <a:xfrm>
            <a:off x="8092440" y="1664207"/>
            <a:ext cx="3383281" cy="3429001"/>
          </a:xfrm>
          <a:prstGeom prst="roundRect">
            <a:avLst>
              <a:gd name="adj" fmla="val 16667"/>
            </a:avLst>
          </a:prstGeom>
          <a:solidFill>
            <a:srgbClr val="F7F7FC"/>
          </a:solidFill>
          <a:ln w="1270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7" name="Rounded Rectangle 14"/>
          <p:cNvSpPr/>
          <p:nvPr/>
        </p:nvSpPr>
        <p:spPr>
          <a:xfrm>
            <a:off x="8385047" y="1956816"/>
            <a:ext cx="1481329" cy="310897"/>
          </a:xfrm>
          <a:prstGeom prst="roundRect">
            <a:avLst>
              <a:gd name="adj" fmla="val 16667"/>
            </a:avLst>
          </a:prstGeom>
          <a:solidFill>
            <a:srgbClr val="EE4D83"/>
          </a:solidFill>
          <a:ln>
            <a:solidFill>
              <a:srgbClr val="EE4D8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8" name="TextBox 15"/>
          <p:cNvSpPr txBox="1"/>
          <p:nvPr/>
        </p:nvSpPr>
        <p:spPr>
          <a:xfrm>
            <a:off x="8430767" y="2007107"/>
            <a:ext cx="1389889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API / GENERATED</a:t>
            </a:r>
          </a:p>
        </p:txBody>
      </p:sp>
      <p:sp>
        <p:nvSpPr>
          <p:cNvPr id="1029" name="TextBox 16"/>
          <p:cNvSpPr txBox="1"/>
          <p:nvPr/>
        </p:nvSpPr>
        <p:spPr>
          <a:xfrm>
            <a:off x="8467343" y="2505455"/>
            <a:ext cx="2633473" cy="387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1E212B"/>
                </a:solidFill>
              </a:defRPr>
            </a:lvl1pPr>
          </a:lstStyle>
          <a:p>
            <a:pPr/>
            <a:r>
              <a:t>Direct or derived</a:t>
            </a:r>
          </a:p>
        </p:txBody>
      </p:sp>
      <p:sp>
        <p:nvSpPr>
          <p:cNvPr id="1030" name="TextBox 17"/>
          <p:cNvSpPr txBox="1"/>
          <p:nvPr/>
        </p:nvSpPr>
        <p:spPr>
          <a:xfrm>
            <a:off x="8522207" y="3364991"/>
            <a:ext cx="2542033" cy="1126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API stores submitted points</a:t>
            </a:r>
          </a:p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Log/APM/RUM metrics derive from events</a:t>
            </a:r>
          </a:p>
          <a:p>
            <a:pPr>
              <a:spcBef>
                <a:spcPts val="700"/>
              </a:spcBef>
              <a:defRPr sz="1500">
                <a:solidFill>
                  <a:srgbClr val="555E6F"/>
                </a:solidFill>
              </a:defRPr>
            </a:pPr>
            <a:r>
              <a:t>Timestamp and tags matter</a:t>
            </a:r>
          </a:p>
        </p:txBody>
      </p:sp>
      <p:sp>
        <p:nvSpPr>
          <p:cNvPr id="1031" name="Rounded Rectangle 18"/>
          <p:cNvSpPr/>
          <p:nvPr/>
        </p:nvSpPr>
        <p:spPr>
          <a:xfrm>
            <a:off x="1280160" y="5347842"/>
            <a:ext cx="9601201" cy="53035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632DB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2" name="TextBox 19"/>
          <p:cNvSpPr txBox="1"/>
          <p:nvPr/>
        </p:nvSpPr>
        <p:spPr>
          <a:xfrm>
            <a:off x="1554480" y="5456322"/>
            <a:ext cx="9052560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1E212B"/>
                </a:solidFill>
              </a:defRPr>
            </a:lvl1pPr>
          </a:lstStyle>
          <a:p>
            <a:pPr/>
            <a:r>
              <a:t>TSE move: ask how the metric is produced before deciding the query is wrong.</a:t>
            </a:r>
          </a:p>
        </p:txBody>
      </p:sp>
      <p:sp>
        <p:nvSpPr>
          <p:cNvPr id="1033" name="Rounded Rectangle 20"/>
          <p:cNvSpPr/>
          <p:nvPr/>
        </p:nvSpPr>
        <p:spPr>
          <a:xfrm>
            <a:off x="658368" y="6053328"/>
            <a:ext cx="2185807" cy="3108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4" name="TextBox 21"/>
          <p:cNvSpPr txBox="1"/>
          <p:nvPr/>
        </p:nvSpPr>
        <p:spPr>
          <a:xfrm>
            <a:off x="832103" y="6126479"/>
            <a:ext cx="1838336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800">
                <a:solidFill>
                  <a:srgbClr val="1F222C"/>
                </a:solidFill>
              </a:defRPr>
            </a:pPr>
            <a:r>
              <a:t>Related cases: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2" invalidUrl="" action="" tgtFrame="" tooltip="" history="1" highlightClick="0" endSnd="0"/>
              </a:rPr>
              <a:t>#2530392</a:t>
            </a:r>
            <a:r>
              <a:rPr b="0"/>
              <a:t> ·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3" invalidUrl="" action="" tgtFrame="" tooltip="" history="1" highlightClick="0" endSnd="0"/>
              </a:rPr>
              <a:t>#2543035</a:t>
            </a:r>
          </a:p>
        </p:txBody>
      </p:sp>
      <p:sp>
        <p:nvSpPr>
          <p:cNvPr id="1035" name="Reference Pill Background"/>
          <p:cNvSpPr/>
          <p:nvPr/>
        </p:nvSpPr>
        <p:spPr>
          <a:xfrm>
            <a:off x="6318503" y="6053328"/>
            <a:ext cx="2992060" cy="3108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6" name="TextBox 23"/>
          <p:cNvSpPr txBox="1"/>
          <p:nvPr/>
        </p:nvSpPr>
        <p:spPr>
          <a:xfrm>
            <a:off x="6492240" y="6126479"/>
            <a:ext cx="2644587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800">
                <a:solidFill>
                  <a:srgbClr val="1E212B"/>
                </a:solidFill>
              </a:defRPr>
            </a:pPr>
            <a:r>
              <a:t>Reference: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4" invalidUrl="" action="" tgtFrame="" tooltip="" history="1" highlightClick="0" endSnd="0"/>
              </a:rPr>
              <a:t>Metric types</a:t>
            </a:r>
            <a:r>
              <a:rPr b="0"/>
              <a:t> ·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5" invalidUrl="" action="" tgtFrame="" tooltip="" history="1" highlightClick="0" endSnd="0"/>
              </a:rPr>
              <a:t>DogStatsD</a:t>
            </a:r>
            <a:r>
              <a:rPr b="0"/>
              <a:t> ·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6" invalidUrl="" action="" tgtFrame="" tooltip="" history="1" highlightClick="0" endSnd="0"/>
              </a:rPr>
              <a:t>DogStatsD KB</a:t>
            </a:r>
          </a:p>
        </p:txBody>
      </p:sp>
      <p:sp>
        <p:nvSpPr>
          <p:cNvPr id="1037" name="Hybrid Rail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32DBD"/>
          </a:solidFill>
          <a:ln>
            <a:solidFill>
              <a:srgbClr val="632DB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8" name="Hybrid Rail Accent"/>
          <p:cNvSpPr/>
          <p:nvPr/>
        </p:nvSpPr>
        <p:spPr>
          <a:xfrm>
            <a:off x="457200" y="0"/>
            <a:ext cx="64008" cy="6858000"/>
          </a:xfrm>
          <a:prstGeom prst="rect">
            <a:avLst/>
          </a:prstGeom>
          <a:solidFill>
            <a:srgbClr val="EE4D83"/>
          </a:solidFill>
          <a:ln>
            <a:solidFill>
              <a:srgbClr val="EE4D8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9" name="Hybrid Rail Top"/>
          <p:cNvSpPr/>
          <p:nvPr/>
        </p:nvSpPr>
        <p:spPr>
          <a:xfrm>
            <a:off x="0" y="-1"/>
            <a:ext cx="457200" cy="1051562"/>
          </a:xfrm>
          <a:prstGeom prst="rect">
            <a:avLst/>
          </a:prstGeom>
          <a:solidFill>
            <a:srgbClr val="5014A0"/>
          </a:solidFill>
          <a:ln>
            <a:solidFill>
              <a:srgbClr val="5014A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0" name="Hybrid Label"/>
          <p:cNvSpPr txBox="1"/>
          <p:nvPr/>
        </p:nvSpPr>
        <p:spPr>
          <a:xfrm rot="16200000">
            <a:off x="-284759" y="2834015"/>
            <a:ext cx="1027966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CUSTOM METRICS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TextBox 1"/>
          <p:cNvSpPr txBox="1"/>
          <p:nvPr/>
        </p:nvSpPr>
        <p:spPr>
          <a:xfrm>
            <a:off x="731519" y="411480"/>
            <a:ext cx="10698482" cy="560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E212B"/>
                </a:solidFill>
              </a:defRPr>
            </a:lvl1pPr>
          </a:lstStyle>
          <a:p>
            <a:pPr/>
            <a:r>
              <a:t>Custom metrics: one name can become many series</a:t>
            </a:r>
          </a:p>
        </p:txBody>
      </p:sp>
      <p:sp>
        <p:nvSpPr>
          <p:cNvPr id="1043" name="TextBox 2"/>
          <p:cNvSpPr txBox="1"/>
          <p:nvPr/>
        </p:nvSpPr>
        <p:spPr>
          <a:xfrm>
            <a:off x="758951" y="987552"/>
            <a:ext cx="978408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A custom metric is identified by its name plus tag-value combinations, including the host tag.</a:t>
            </a:r>
          </a:p>
        </p:txBody>
      </p:sp>
      <p:sp>
        <p:nvSpPr>
          <p:cNvPr id="1044" name="Rounded Rectangle 3"/>
          <p:cNvSpPr/>
          <p:nvPr/>
        </p:nvSpPr>
        <p:spPr>
          <a:xfrm>
            <a:off x="749808" y="1920239"/>
            <a:ext cx="1691640" cy="56692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145">
            <a:solidFill>
              <a:srgbClr val="1F82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5" name="TextBox 4"/>
          <p:cNvSpPr txBox="1"/>
          <p:nvPr/>
        </p:nvSpPr>
        <p:spPr>
          <a:xfrm>
            <a:off x="868680" y="2093976"/>
            <a:ext cx="1453897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1F82FF"/>
                </a:solidFill>
              </a:defRPr>
            </a:lvl1pPr>
          </a:lstStyle>
          <a:p>
            <a:pPr/>
            <a:r>
              <a:t>metric name</a:t>
            </a:r>
          </a:p>
        </p:txBody>
      </p:sp>
      <p:sp>
        <p:nvSpPr>
          <p:cNvPr id="1046" name="Connector 5"/>
          <p:cNvSpPr/>
          <p:nvPr/>
        </p:nvSpPr>
        <p:spPr>
          <a:xfrm>
            <a:off x="2441448" y="2203704"/>
            <a:ext cx="301753" cy="1"/>
          </a:xfrm>
          <a:prstGeom prst="line">
            <a:avLst/>
          </a:prstGeom>
          <a:ln w="25400">
            <a:solidFill>
              <a:srgbClr val="DBE0E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047" name="Rounded Rectangle 6"/>
          <p:cNvSpPr/>
          <p:nvPr/>
        </p:nvSpPr>
        <p:spPr>
          <a:xfrm>
            <a:off x="2743200" y="1920239"/>
            <a:ext cx="1691640" cy="56692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145">
            <a:solidFill>
              <a:srgbClr val="632DB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8" name="TextBox 7"/>
          <p:cNvSpPr txBox="1"/>
          <p:nvPr/>
        </p:nvSpPr>
        <p:spPr>
          <a:xfrm>
            <a:off x="2862072" y="2093976"/>
            <a:ext cx="1453897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632DBD"/>
                </a:solidFill>
              </a:defRPr>
            </a:lvl1pPr>
          </a:lstStyle>
          <a:p>
            <a:pPr/>
            <a:r>
              <a:t>tag values</a:t>
            </a:r>
          </a:p>
        </p:txBody>
      </p:sp>
      <p:sp>
        <p:nvSpPr>
          <p:cNvPr id="1049" name="Connector 8"/>
          <p:cNvSpPr/>
          <p:nvPr/>
        </p:nvSpPr>
        <p:spPr>
          <a:xfrm>
            <a:off x="4434840" y="2203704"/>
            <a:ext cx="301753" cy="1"/>
          </a:xfrm>
          <a:prstGeom prst="line">
            <a:avLst/>
          </a:prstGeom>
          <a:ln w="25400">
            <a:solidFill>
              <a:srgbClr val="DBE0E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050" name="Rounded Rectangle 9"/>
          <p:cNvSpPr/>
          <p:nvPr/>
        </p:nvSpPr>
        <p:spPr>
          <a:xfrm>
            <a:off x="4736591" y="1920239"/>
            <a:ext cx="1691641" cy="56692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145">
            <a:solidFill>
              <a:srgbClr val="009C7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1" name="TextBox 10"/>
          <p:cNvSpPr txBox="1"/>
          <p:nvPr/>
        </p:nvSpPr>
        <p:spPr>
          <a:xfrm>
            <a:off x="4855464" y="2093976"/>
            <a:ext cx="1453897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009C70"/>
                </a:solidFill>
              </a:defRPr>
            </a:lvl1pPr>
          </a:lstStyle>
          <a:p>
            <a:pPr/>
            <a:r>
              <a:t>host tag</a:t>
            </a:r>
          </a:p>
        </p:txBody>
      </p:sp>
      <p:sp>
        <p:nvSpPr>
          <p:cNvPr id="1052" name="Connector 11"/>
          <p:cNvSpPr/>
          <p:nvPr/>
        </p:nvSpPr>
        <p:spPr>
          <a:xfrm>
            <a:off x="6428232" y="2203704"/>
            <a:ext cx="301753" cy="1"/>
          </a:xfrm>
          <a:prstGeom prst="line">
            <a:avLst/>
          </a:prstGeom>
          <a:ln w="25400">
            <a:solidFill>
              <a:srgbClr val="DBE0E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053" name="Rounded Rectangle 12"/>
          <p:cNvSpPr/>
          <p:nvPr/>
        </p:nvSpPr>
        <p:spPr>
          <a:xfrm>
            <a:off x="6729983" y="1920239"/>
            <a:ext cx="1691641" cy="56692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145">
            <a:solidFill>
              <a:srgbClr val="FF7B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4" name="TextBox 13"/>
          <p:cNvSpPr txBox="1"/>
          <p:nvPr/>
        </p:nvSpPr>
        <p:spPr>
          <a:xfrm>
            <a:off x="6848855" y="2093976"/>
            <a:ext cx="1453897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7B00"/>
                </a:solidFill>
              </a:defRPr>
            </a:lvl1pPr>
          </a:lstStyle>
          <a:p>
            <a:pPr/>
            <a:r>
              <a:t>time series</a:t>
            </a:r>
          </a:p>
        </p:txBody>
      </p:sp>
      <p:sp>
        <p:nvSpPr>
          <p:cNvPr id="1055" name="Connector 14"/>
          <p:cNvSpPr/>
          <p:nvPr/>
        </p:nvSpPr>
        <p:spPr>
          <a:xfrm>
            <a:off x="8421623" y="2203704"/>
            <a:ext cx="301753" cy="1"/>
          </a:xfrm>
          <a:prstGeom prst="line">
            <a:avLst/>
          </a:prstGeom>
          <a:ln w="25400">
            <a:solidFill>
              <a:srgbClr val="DBE0E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056" name="Rounded Rectangle 15"/>
          <p:cNvSpPr/>
          <p:nvPr/>
        </p:nvSpPr>
        <p:spPr>
          <a:xfrm>
            <a:off x="8723376" y="1920239"/>
            <a:ext cx="1691641" cy="56692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145">
            <a:solidFill>
              <a:srgbClr val="EE4D8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7" name="TextBox 16"/>
          <p:cNvSpPr txBox="1"/>
          <p:nvPr/>
        </p:nvSpPr>
        <p:spPr>
          <a:xfrm>
            <a:off x="8842247" y="2093976"/>
            <a:ext cx="1453897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EE4D83"/>
                </a:solidFill>
              </a:defRPr>
            </a:lvl1pPr>
          </a:lstStyle>
          <a:p>
            <a:pPr/>
            <a:r>
              <a:t>cost + noise</a:t>
            </a:r>
          </a:p>
        </p:txBody>
      </p:sp>
      <p:sp>
        <p:nvSpPr>
          <p:cNvPr id="1058" name="Rounded Rectangle 17"/>
          <p:cNvSpPr/>
          <p:nvPr/>
        </p:nvSpPr>
        <p:spPr>
          <a:xfrm>
            <a:off x="868680" y="3246120"/>
            <a:ext cx="4983480" cy="1828801"/>
          </a:xfrm>
          <a:prstGeom prst="roundRect">
            <a:avLst>
              <a:gd name="adj" fmla="val 16667"/>
            </a:avLst>
          </a:prstGeom>
          <a:solidFill>
            <a:srgbClr val="F7F7FC"/>
          </a:solidFill>
          <a:ln w="1270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9" name="Rounded Rectangle 18"/>
          <p:cNvSpPr/>
          <p:nvPr/>
        </p:nvSpPr>
        <p:spPr>
          <a:xfrm>
            <a:off x="6172200" y="3246120"/>
            <a:ext cx="4983480" cy="1828801"/>
          </a:xfrm>
          <a:prstGeom prst="roundRect">
            <a:avLst>
              <a:gd name="adj" fmla="val 16667"/>
            </a:avLst>
          </a:prstGeom>
          <a:solidFill>
            <a:srgbClr val="F7F7FC"/>
          </a:solidFill>
          <a:ln w="1270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0" name="TextBox 19"/>
          <p:cNvSpPr txBox="1"/>
          <p:nvPr/>
        </p:nvSpPr>
        <p:spPr>
          <a:xfrm>
            <a:off x="1249372" y="3435598"/>
            <a:ext cx="2375060" cy="33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700">
                <a:solidFill>
                  <a:srgbClr val="632DBD"/>
                </a:solidFill>
              </a:defRPr>
            </a:lvl1pPr>
          </a:lstStyle>
          <a:p>
            <a:pPr/>
            <a:r>
              <a:t>Troubleshoot value</a:t>
            </a:r>
          </a:p>
        </p:txBody>
      </p:sp>
      <p:sp>
        <p:nvSpPr>
          <p:cNvPr id="1061" name="TextBox 20"/>
          <p:cNvSpPr txBox="1"/>
          <p:nvPr/>
        </p:nvSpPr>
        <p:spPr>
          <a:xfrm>
            <a:off x="1336008" y="3813969"/>
            <a:ext cx="4251961" cy="1165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>
                <a:solidFill>
                  <a:srgbClr val="555E6F"/>
                </a:solidFill>
              </a:defRPr>
            </a:pPr>
            <a:r>
              <a:t>submission type</a:t>
            </a:r>
          </a:p>
          <a:p>
            <a:pPr>
              <a:spcBef>
                <a:spcPts val="700"/>
              </a:spcBef>
              <a:defRPr>
                <a:solidFill>
                  <a:srgbClr val="555E6F"/>
                </a:solidFill>
              </a:defRPr>
            </a:pPr>
            <a:r>
              <a:t>unit and timestamp</a:t>
            </a:r>
          </a:p>
          <a:p>
            <a:pPr>
              <a:spcBef>
                <a:spcPts val="700"/>
              </a:spcBef>
              <a:defRPr>
                <a:solidFill>
                  <a:srgbClr val="555E6F"/>
                </a:solidFill>
              </a:defRPr>
            </a:pPr>
            <a:r>
              <a:t>reporting frequency</a:t>
            </a:r>
          </a:p>
          <a:p>
            <a:pPr>
              <a:spcBef>
                <a:spcPts val="700"/>
              </a:spcBef>
              <a:defRPr>
                <a:solidFill>
                  <a:srgbClr val="555E6F"/>
                </a:solidFill>
              </a:defRPr>
            </a:pPr>
            <a:r>
              <a:t>query statistic</a:t>
            </a:r>
          </a:p>
        </p:txBody>
      </p:sp>
      <p:sp>
        <p:nvSpPr>
          <p:cNvPr id="1062" name="TextBox 21"/>
          <p:cNvSpPr txBox="1"/>
          <p:nvPr/>
        </p:nvSpPr>
        <p:spPr>
          <a:xfrm>
            <a:off x="6436804" y="3435598"/>
            <a:ext cx="2510547" cy="33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700">
                <a:solidFill>
                  <a:srgbClr val="EE4D83"/>
                </a:solidFill>
              </a:defRPr>
            </a:lvl1pPr>
          </a:lstStyle>
          <a:p>
            <a:pPr/>
            <a:r>
              <a:t>Troubleshoot volume</a:t>
            </a:r>
          </a:p>
        </p:txBody>
      </p:sp>
      <p:sp>
        <p:nvSpPr>
          <p:cNvPr id="1063" name="TextBox 22"/>
          <p:cNvSpPr txBox="1"/>
          <p:nvPr/>
        </p:nvSpPr>
        <p:spPr>
          <a:xfrm>
            <a:off x="6398005" y="3728548"/>
            <a:ext cx="4251961" cy="11651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>
                <a:solidFill>
                  <a:srgbClr val="555E6F"/>
                </a:solidFill>
              </a:defRPr>
            </a:pPr>
            <a:r>
              <a:t>high-cardinality tags</a:t>
            </a:r>
          </a:p>
          <a:p>
            <a:pPr>
              <a:spcBef>
                <a:spcPts val="700"/>
              </a:spcBef>
              <a:defRPr>
                <a:solidFill>
                  <a:srgbClr val="555E6F"/>
                </a:solidFill>
              </a:defRPr>
            </a:pPr>
            <a:r>
              <a:t>unbounded IDs</a:t>
            </a:r>
          </a:p>
          <a:p>
            <a:pPr>
              <a:spcBef>
                <a:spcPts val="700"/>
              </a:spcBef>
              <a:defRPr>
                <a:solidFill>
                  <a:srgbClr val="555E6F"/>
                </a:solidFill>
              </a:defRPr>
            </a:pPr>
            <a:r>
              <a:t>host and container dimensions</a:t>
            </a:r>
          </a:p>
          <a:p>
            <a:pPr>
              <a:spcBef>
                <a:spcPts val="700"/>
              </a:spcBef>
              <a:defRPr>
                <a:solidFill>
                  <a:srgbClr val="555E6F"/>
                </a:solidFill>
              </a:defRPr>
            </a:pPr>
            <a:r>
              <a:t>multi-alert group count</a:t>
            </a:r>
          </a:p>
        </p:txBody>
      </p:sp>
      <p:sp>
        <p:nvSpPr>
          <p:cNvPr id="1064" name="TextBox 23"/>
          <p:cNvSpPr txBox="1"/>
          <p:nvPr/>
        </p:nvSpPr>
        <p:spPr>
          <a:xfrm>
            <a:off x="904239" y="5408380"/>
            <a:ext cx="10353042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1E212B"/>
                </a:solidFill>
              </a:defRPr>
            </a:lvl1pPr>
          </a:lstStyle>
          <a:p>
            <a:pPr/>
            <a:r>
              <a:t>Good custom metrics are designed for action: stable name, useful tags, bounded cardinality, clear unit.</a:t>
            </a:r>
          </a:p>
        </p:txBody>
      </p:sp>
      <p:sp>
        <p:nvSpPr>
          <p:cNvPr id="1065" name="Rounded Rectangle 24"/>
          <p:cNvSpPr/>
          <p:nvPr/>
        </p:nvSpPr>
        <p:spPr>
          <a:xfrm>
            <a:off x="658368" y="6053328"/>
            <a:ext cx="2588039" cy="3108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6" name="TextBox 25"/>
          <p:cNvSpPr txBox="1"/>
          <p:nvPr/>
        </p:nvSpPr>
        <p:spPr>
          <a:xfrm>
            <a:off x="832103" y="6126479"/>
            <a:ext cx="2375060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800">
                <a:solidFill>
                  <a:srgbClr val="1F222C"/>
                </a:solidFill>
              </a:defRPr>
            </a:pPr>
            <a:r>
              <a:t>Related cases: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2" invalidUrl="" action="" tgtFrame="" tooltip="" history="1" highlightClick="0" endSnd="0"/>
              </a:rPr>
              <a:t>#2537553</a:t>
            </a:r>
            <a:r>
              <a:rPr b="0"/>
              <a:t> ·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3" invalidUrl="" action="" tgtFrame="" tooltip="" history="1" highlightClick="0" endSnd="0"/>
              </a:rPr>
              <a:t>#2513073</a:t>
            </a:r>
            <a:r>
              <a:rPr b="0"/>
              <a:t> ·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4" invalidUrl="" action="" tgtFrame="" tooltip="" history="1" highlightClick="0" endSnd="0"/>
              </a:rPr>
              <a:t>#2869511</a:t>
            </a:r>
          </a:p>
        </p:txBody>
      </p:sp>
      <p:sp>
        <p:nvSpPr>
          <p:cNvPr id="1067" name="Reference Pill Background"/>
          <p:cNvSpPr/>
          <p:nvPr/>
        </p:nvSpPr>
        <p:spPr>
          <a:xfrm>
            <a:off x="6318503" y="6053328"/>
            <a:ext cx="2563187" cy="3108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8" name="TextBox 27"/>
          <p:cNvSpPr txBox="1"/>
          <p:nvPr/>
        </p:nvSpPr>
        <p:spPr>
          <a:xfrm>
            <a:off x="6492240" y="6126479"/>
            <a:ext cx="2215714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800">
                <a:solidFill>
                  <a:srgbClr val="1E212B"/>
                </a:solidFill>
              </a:defRPr>
            </a:pPr>
            <a:r>
              <a:t>Reference: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5" invalidUrl="" action="" tgtFrame="" tooltip="" history="1" highlightClick="0" endSnd="0"/>
              </a:rPr>
              <a:t>Custom metrics</a:t>
            </a:r>
            <a:r>
              <a:rPr b="0"/>
              <a:t> ·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6" invalidUrl="" action="" tgtFrame="" tooltip="" history="1" highlightClick="0" endSnd="0"/>
              </a:rPr>
              <a:t>Cardinality KB</a:t>
            </a:r>
          </a:p>
        </p:txBody>
      </p:sp>
      <p:sp>
        <p:nvSpPr>
          <p:cNvPr id="1069" name="Hybrid Rail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32DBD"/>
          </a:solidFill>
          <a:ln>
            <a:solidFill>
              <a:srgbClr val="632DB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0" name="Hybrid Rail Accent"/>
          <p:cNvSpPr/>
          <p:nvPr/>
        </p:nvSpPr>
        <p:spPr>
          <a:xfrm>
            <a:off x="457200" y="0"/>
            <a:ext cx="64008" cy="6858000"/>
          </a:xfrm>
          <a:prstGeom prst="rect">
            <a:avLst/>
          </a:prstGeom>
          <a:solidFill>
            <a:srgbClr val="EE4D83"/>
          </a:solidFill>
          <a:ln>
            <a:solidFill>
              <a:srgbClr val="EE4D8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1" name="Hybrid Rail Top"/>
          <p:cNvSpPr/>
          <p:nvPr/>
        </p:nvSpPr>
        <p:spPr>
          <a:xfrm>
            <a:off x="0" y="-1"/>
            <a:ext cx="457200" cy="1051562"/>
          </a:xfrm>
          <a:prstGeom prst="rect">
            <a:avLst/>
          </a:prstGeom>
          <a:solidFill>
            <a:srgbClr val="5014A0"/>
          </a:solidFill>
          <a:ln>
            <a:solidFill>
              <a:srgbClr val="5014A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2" name="Hybrid Label"/>
          <p:cNvSpPr txBox="1"/>
          <p:nvPr/>
        </p:nvSpPr>
        <p:spPr>
          <a:xfrm rot="16200000">
            <a:off x="-284759" y="2834015"/>
            <a:ext cx="1027966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CUSTOM METRICS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>
              <a:defRPr sz="23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Common Metrics cases are pattern-recognition drills</a:t>
            </a:r>
          </a:p>
        </p:txBody>
      </p:sp>
      <p:sp>
        <p:nvSpPr>
          <p:cNvPr id="1075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TSE mindset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You will not know every metric. You can still reason from first principles.</a:t>
            </a:r>
          </a:p>
        </p:txBody>
      </p:sp>
      <p:sp>
        <p:nvSpPr>
          <p:cNvPr id="1076" name="TextBox 4"/>
          <p:cNvSpPr txBox="1"/>
          <p:nvPr/>
        </p:nvSpPr>
        <p:spPr>
          <a:xfrm>
            <a:off x="4416552" y="749808"/>
            <a:ext cx="6126481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50391">
              <a:defRPr b="1" sz="1953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When a case feels unfamiliar, classify the failure</a:t>
            </a:r>
          </a:p>
        </p:txBody>
      </p:sp>
      <p:sp>
        <p:nvSpPr>
          <p:cNvPr id="1077" name="TextBox 5"/>
          <p:cNvSpPr txBox="1"/>
          <p:nvPr/>
        </p:nvSpPr>
        <p:spPr>
          <a:xfrm>
            <a:off x="4453128" y="1298447"/>
            <a:ext cx="2057401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04672">
              <a:defRPr b="1" sz="1232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Missing data</a:t>
            </a:r>
          </a:p>
        </p:txBody>
      </p:sp>
      <p:sp>
        <p:nvSpPr>
          <p:cNvPr id="1078" name="TextBox 6"/>
          <p:cNvSpPr txBox="1"/>
          <p:nvPr/>
        </p:nvSpPr>
        <p:spPr>
          <a:xfrm>
            <a:off x="6537959" y="1298447"/>
            <a:ext cx="402336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last reported, source, tag filter, no-data behavior</a:t>
            </a:r>
          </a:p>
        </p:txBody>
      </p:sp>
      <p:sp>
        <p:nvSpPr>
          <p:cNvPr id="1079" name="Rectangle 7"/>
          <p:cNvSpPr/>
          <p:nvPr/>
        </p:nvSpPr>
        <p:spPr>
          <a:xfrm>
            <a:off x="4407408" y="1746504"/>
            <a:ext cx="5989321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0" name="TextBox 8"/>
          <p:cNvSpPr txBox="1"/>
          <p:nvPr/>
        </p:nvSpPr>
        <p:spPr>
          <a:xfrm>
            <a:off x="4453128" y="1956816"/>
            <a:ext cx="2057401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04672">
              <a:defRPr b="1" sz="1232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Wrong-looking value</a:t>
            </a:r>
          </a:p>
        </p:txBody>
      </p:sp>
      <p:sp>
        <p:nvSpPr>
          <p:cNvPr id="1081" name="TextBox 9"/>
          <p:cNvSpPr txBox="1"/>
          <p:nvPr/>
        </p:nvSpPr>
        <p:spPr>
          <a:xfrm>
            <a:off x="6537959" y="1956816"/>
            <a:ext cx="402336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type, unit, rollup, as_count/as_rate</a:t>
            </a:r>
          </a:p>
        </p:txBody>
      </p:sp>
      <p:sp>
        <p:nvSpPr>
          <p:cNvPr id="1082" name="Rectangle 10"/>
          <p:cNvSpPr/>
          <p:nvPr/>
        </p:nvSpPr>
        <p:spPr>
          <a:xfrm>
            <a:off x="4407408" y="2404872"/>
            <a:ext cx="5989321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3" name="TextBox 11"/>
          <p:cNvSpPr txBox="1"/>
          <p:nvPr/>
        </p:nvSpPr>
        <p:spPr>
          <a:xfrm>
            <a:off x="4453128" y="2615183"/>
            <a:ext cx="2057401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04672">
              <a:defRPr b="1" sz="1232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Hidden segment</a:t>
            </a:r>
          </a:p>
        </p:txBody>
      </p:sp>
      <p:sp>
        <p:nvSpPr>
          <p:cNvPr id="1084" name="TextBox 12"/>
          <p:cNvSpPr txBox="1"/>
          <p:nvPr/>
        </p:nvSpPr>
        <p:spPr>
          <a:xfrm>
            <a:off x="6537959" y="2615183"/>
            <a:ext cx="402336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group by the action dimension</a:t>
            </a:r>
          </a:p>
        </p:txBody>
      </p:sp>
      <p:sp>
        <p:nvSpPr>
          <p:cNvPr id="1085" name="Rectangle 13"/>
          <p:cNvSpPr/>
          <p:nvPr/>
        </p:nvSpPr>
        <p:spPr>
          <a:xfrm>
            <a:off x="4407408" y="3063239"/>
            <a:ext cx="5989321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6" name="TextBox 14"/>
          <p:cNvSpPr txBox="1"/>
          <p:nvPr/>
        </p:nvSpPr>
        <p:spPr>
          <a:xfrm>
            <a:off x="4453128" y="3273552"/>
            <a:ext cx="2057401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04672">
              <a:defRPr b="1" sz="1232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Too much noise</a:t>
            </a:r>
          </a:p>
        </p:txBody>
      </p:sp>
      <p:sp>
        <p:nvSpPr>
          <p:cNvPr id="1087" name="TextBox 15"/>
          <p:cNvSpPr txBox="1"/>
          <p:nvPr/>
        </p:nvSpPr>
        <p:spPr>
          <a:xfrm>
            <a:off x="6537959" y="3273552"/>
            <a:ext cx="402336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68680">
              <a:defRPr sz="1235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cardinality, group-by count, threshold, evaluation window</a:t>
            </a:r>
          </a:p>
        </p:txBody>
      </p:sp>
      <p:sp>
        <p:nvSpPr>
          <p:cNvPr id="1088" name="Rectangle 16"/>
          <p:cNvSpPr/>
          <p:nvPr/>
        </p:nvSpPr>
        <p:spPr>
          <a:xfrm>
            <a:off x="4407408" y="3721608"/>
            <a:ext cx="5989321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9" name="TextBox 17"/>
          <p:cNvSpPr txBox="1"/>
          <p:nvPr/>
        </p:nvSpPr>
        <p:spPr>
          <a:xfrm>
            <a:off x="4453128" y="3931920"/>
            <a:ext cx="2057401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04672">
              <a:defRPr b="1" sz="1232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Cost/cardinality spike</a:t>
            </a:r>
          </a:p>
        </p:txBody>
      </p:sp>
      <p:sp>
        <p:nvSpPr>
          <p:cNvPr id="1090" name="TextBox 18"/>
          <p:cNvSpPr txBox="1"/>
          <p:nvPr/>
        </p:nvSpPr>
        <p:spPr>
          <a:xfrm>
            <a:off x="6537959" y="3931920"/>
            <a:ext cx="402336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77823">
              <a:defRPr sz="1248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new tags, custom metric volume, high-cardinality values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Title 1"/>
          <p:cNvSpPr txBox="1"/>
          <p:nvPr>
            <p:ph type="title"/>
          </p:nvPr>
        </p:nvSpPr>
        <p:spPr>
          <a:xfrm>
            <a:off x="695322" y="4395789"/>
            <a:ext cx="10795004" cy="1881186"/>
          </a:xfrm>
          <a:prstGeom prst="rect">
            <a:avLst/>
          </a:prstGeom>
        </p:spPr>
        <p:txBody>
          <a:bodyPr anchor="t"/>
          <a:lstStyle>
            <a:lvl1pPr>
              <a:defRPr sz="30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Metrics takeaway: a monitor is only as good as the signal it evaluates.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Title 1"/>
          <p:cNvSpPr txBox="1"/>
          <p:nvPr>
            <p:ph type="title"/>
          </p:nvPr>
        </p:nvSpPr>
        <p:spPr>
          <a:xfrm>
            <a:off x="695084" y="695325"/>
            <a:ext cx="10773018" cy="1244600"/>
          </a:xfrm>
          <a:prstGeom prst="rect">
            <a:avLst/>
          </a:prstGeom>
        </p:spPr>
        <p:txBody>
          <a:bodyPr/>
          <a:lstStyle/>
          <a:p>
            <a:pPr>
              <a:defRPr sz="3800">
                <a:latin typeface="Aptos"/>
                <a:ea typeface="Aptos"/>
                <a:cs typeface="Aptos"/>
                <a:sym typeface="Aptos"/>
              </a:defRPr>
            </a:pPr>
            <a:r>
              <a:t>DAY 1</a:t>
            </a:r>
          </a:p>
          <a:p>
            <a:pPr>
              <a:defRPr sz="3800">
                <a:latin typeface="Aptos"/>
                <a:ea typeface="Aptos"/>
                <a:cs typeface="Aptos"/>
                <a:sym typeface="Aptos"/>
              </a:defRPr>
            </a:pPr>
            <a:r>
              <a:t>APM: The Latency Lie</a:t>
            </a:r>
          </a:p>
        </p:txBody>
      </p:sp>
      <p:sp>
        <p:nvSpPr>
          <p:cNvPr id="1095" name="Subtitle 2"/>
          <p:cNvSpPr txBox="1"/>
          <p:nvPr>
            <p:ph type="body" sz="quarter" idx="1"/>
          </p:nvPr>
        </p:nvSpPr>
        <p:spPr>
          <a:xfrm>
            <a:off x="695084" y="2077085"/>
            <a:ext cx="10773018" cy="1107440"/>
          </a:xfrm>
          <a:prstGeom prst="rect">
            <a:avLst/>
          </a:prstGeom>
        </p:spPr>
        <p:txBody>
          <a:bodyPr/>
          <a:lstStyle>
            <a:lvl1pPr>
              <a:defRPr sz="21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Average latency can look healthy while checkout users wait seconds.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Title 1"/>
          <p:cNvSpPr txBox="1"/>
          <p:nvPr>
            <p:ph type="title"/>
          </p:nvPr>
        </p:nvSpPr>
        <p:spPr>
          <a:xfrm>
            <a:off x="695322" y="357808"/>
            <a:ext cx="10795004" cy="8683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Start with the bad user experience</a:t>
            </a:r>
          </a:p>
        </p:txBody>
      </p:sp>
      <p:pic>
        <p:nvPicPr>
          <p:cNvPr id="109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21234" y="1234439"/>
            <a:ext cx="8181893" cy="44805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Average is not experience</a:t>
            </a:r>
          </a:p>
        </p:txBody>
      </p:sp>
      <p:sp>
        <p:nvSpPr>
          <p:cNvPr id="1101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What learners should feel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The monitor says OK.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Users still wait.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The metric was not wrong; the question was.</a:t>
            </a:r>
          </a:p>
        </p:txBody>
      </p:sp>
      <p:sp>
        <p:nvSpPr>
          <p:cNvPr id="1102" name="TextBox 4"/>
          <p:cNvSpPr txBox="1"/>
          <p:nvPr/>
        </p:nvSpPr>
        <p:spPr>
          <a:xfrm>
            <a:off x="4416552" y="749808"/>
            <a:ext cx="612648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100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Better monitor instinct</a:t>
            </a:r>
          </a:p>
        </p:txBody>
      </p:sp>
      <p:sp>
        <p:nvSpPr>
          <p:cNvPr id="1103" name="TextBox 5"/>
          <p:cNvSpPr txBox="1"/>
          <p:nvPr/>
        </p:nvSpPr>
        <p:spPr>
          <a:xfrm>
            <a:off x="4453128" y="1261872"/>
            <a:ext cx="5943601" cy="1645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Latency needs percentiles, not only avg.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For checkout, segment by resource_name.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 distribution metrics when you need p95/p99.</a:t>
            </a:r>
          </a:p>
        </p:txBody>
      </p:sp>
      <p:sp>
        <p:nvSpPr>
          <p:cNvPr id="1104" name="Rectangle 6"/>
          <p:cNvSpPr/>
          <p:nvPr/>
        </p:nvSpPr>
        <p:spPr>
          <a:xfrm>
            <a:off x="4389120" y="3154679"/>
            <a:ext cx="5715001" cy="2148841"/>
          </a:xfrm>
          <a:prstGeom prst="rect">
            <a:avLst/>
          </a:prstGeom>
          <a:solidFill>
            <a:srgbClr val="FBFAFF"/>
          </a:solidFill>
          <a:ln w="12700">
            <a:solidFill>
              <a:srgbClr val="D6CF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5" name="Rectangle 7"/>
          <p:cNvSpPr/>
          <p:nvPr/>
        </p:nvSpPr>
        <p:spPr>
          <a:xfrm>
            <a:off x="4709159" y="4892040"/>
            <a:ext cx="5074921" cy="38101"/>
          </a:xfrm>
          <a:prstGeom prst="rect">
            <a:avLst/>
          </a:prstGeom>
          <a:solidFill>
            <a:srgbClr val="DCD8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6" name="Rectangle 8"/>
          <p:cNvSpPr/>
          <p:nvPr/>
        </p:nvSpPr>
        <p:spPr>
          <a:xfrm>
            <a:off x="4709159" y="3474720"/>
            <a:ext cx="25401" cy="1417321"/>
          </a:xfrm>
          <a:prstGeom prst="rect">
            <a:avLst/>
          </a:prstGeom>
          <a:solidFill>
            <a:srgbClr val="DCD8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" name="Connector 9"/>
          <p:cNvSpPr/>
          <p:nvPr/>
        </p:nvSpPr>
        <p:spPr>
          <a:xfrm flipV="1">
            <a:off x="5115152" y="4378148"/>
            <a:ext cx="608991" cy="58521"/>
          </a:xfrm>
          <a:prstGeom prst="line">
            <a:avLst/>
          </a:prstGeom>
          <a:ln w="27940">
            <a:solidFill>
              <a:srgbClr val="612CC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08" name="Connector 10"/>
          <p:cNvSpPr/>
          <p:nvPr/>
        </p:nvSpPr>
        <p:spPr>
          <a:xfrm flipV="1">
            <a:off x="5724143" y="4334256"/>
            <a:ext cx="558242" cy="43892"/>
          </a:xfrm>
          <a:prstGeom prst="line">
            <a:avLst/>
          </a:prstGeom>
          <a:ln w="27940">
            <a:solidFill>
              <a:srgbClr val="612CC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09" name="Connector 11"/>
          <p:cNvSpPr/>
          <p:nvPr/>
        </p:nvSpPr>
        <p:spPr>
          <a:xfrm flipV="1">
            <a:off x="6282385" y="3646626"/>
            <a:ext cx="355245" cy="687629"/>
          </a:xfrm>
          <a:prstGeom prst="line">
            <a:avLst/>
          </a:prstGeom>
          <a:ln w="27940">
            <a:solidFill>
              <a:srgbClr val="612CC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10" name="Connector 12"/>
          <p:cNvSpPr/>
          <p:nvPr/>
        </p:nvSpPr>
        <p:spPr>
          <a:xfrm>
            <a:off x="6637628" y="3646627"/>
            <a:ext cx="304496" cy="760780"/>
          </a:xfrm>
          <a:prstGeom prst="line">
            <a:avLst/>
          </a:prstGeom>
          <a:ln w="27940">
            <a:solidFill>
              <a:srgbClr val="612CC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11" name="Connector 13"/>
          <p:cNvSpPr/>
          <p:nvPr/>
        </p:nvSpPr>
        <p:spPr>
          <a:xfrm flipV="1">
            <a:off x="6942124" y="4363515"/>
            <a:ext cx="710489" cy="43892"/>
          </a:xfrm>
          <a:prstGeom prst="line">
            <a:avLst/>
          </a:prstGeom>
          <a:ln w="27940">
            <a:solidFill>
              <a:srgbClr val="612CC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12" name="Connector 14"/>
          <p:cNvSpPr/>
          <p:nvPr/>
        </p:nvSpPr>
        <p:spPr>
          <a:xfrm flipV="1">
            <a:off x="7652612" y="4319625"/>
            <a:ext cx="710489" cy="43892"/>
          </a:xfrm>
          <a:prstGeom prst="line">
            <a:avLst/>
          </a:prstGeom>
          <a:ln w="27940">
            <a:solidFill>
              <a:srgbClr val="612CC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13" name="Connector 15"/>
          <p:cNvSpPr/>
          <p:nvPr/>
        </p:nvSpPr>
        <p:spPr>
          <a:xfrm>
            <a:off x="8363101" y="4319624"/>
            <a:ext cx="913486" cy="58521"/>
          </a:xfrm>
          <a:prstGeom prst="line">
            <a:avLst/>
          </a:prstGeom>
          <a:ln w="27940">
            <a:solidFill>
              <a:srgbClr val="612CC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14" name="Connector 16"/>
          <p:cNvSpPr/>
          <p:nvPr/>
        </p:nvSpPr>
        <p:spPr>
          <a:xfrm flipV="1">
            <a:off x="5115152" y="4261103"/>
            <a:ext cx="811988" cy="29261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15" name="Connector 17"/>
          <p:cNvSpPr/>
          <p:nvPr/>
        </p:nvSpPr>
        <p:spPr>
          <a:xfrm flipV="1">
            <a:off x="5927140" y="4202582"/>
            <a:ext cx="811988" cy="58521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16" name="Connector 18"/>
          <p:cNvSpPr/>
          <p:nvPr/>
        </p:nvSpPr>
        <p:spPr>
          <a:xfrm>
            <a:off x="6739127" y="4202581"/>
            <a:ext cx="913487" cy="43892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17" name="Connector 19"/>
          <p:cNvSpPr/>
          <p:nvPr/>
        </p:nvSpPr>
        <p:spPr>
          <a:xfrm>
            <a:off x="7652612" y="4246473"/>
            <a:ext cx="1014985" cy="29261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18" name="Connector 20"/>
          <p:cNvSpPr/>
          <p:nvPr/>
        </p:nvSpPr>
        <p:spPr>
          <a:xfrm>
            <a:off x="8667597" y="4275734"/>
            <a:ext cx="608991" cy="14630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19" name="TextBox 21"/>
          <p:cNvSpPr txBox="1"/>
          <p:nvPr/>
        </p:nvSpPr>
        <p:spPr>
          <a:xfrm>
            <a:off x="4892040" y="3300984"/>
            <a:ext cx="82296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722376">
              <a:defRPr b="1" sz="711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raw signal</a:t>
            </a:r>
          </a:p>
        </p:txBody>
      </p:sp>
      <p:sp>
        <p:nvSpPr>
          <p:cNvPr id="1120" name="TextBox 22"/>
          <p:cNvSpPr txBox="1"/>
          <p:nvPr/>
        </p:nvSpPr>
        <p:spPr>
          <a:xfrm>
            <a:off x="9006839" y="3300984"/>
            <a:ext cx="73152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722376">
              <a:defRPr b="1" sz="711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10m avg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Rollup can erase the incident</a:t>
            </a:r>
          </a:p>
        </p:txBody>
      </p:sp>
      <p:sp>
        <p:nvSpPr>
          <p:cNvPr id="1123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The trap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A 30 second spike disappears inside a 10 minute average.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The graph becomes calm because we smoothed the evidence.</a:t>
            </a:r>
          </a:p>
        </p:txBody>
      </p:sp>
      <p:sp>
        <p:nvSpPr>
          <p:cNvPr id="1124" name="TextBox 4"/>
          <p:cNvSpPr txBox="1"/>
          <p:nvPr/>
        </p:nvSpPr>
        <p:spPr>
          <a:xfrm>
            <a:off x="4416552" y="749808"/>
            <a:ext cx="612648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100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Fix the shape of the query</a:t>
            </a:r>
          </a:p>
        </p:txBody>
      </p:sp>
      <p:sp>
        <p:nvSpPr>
          <p:cNvPr id="1125" name="TextBox 5"/>
          <p:cNvSpPr txBox="1"/>
          <p:nvPr/>
        </p:nvSpPr>
        <p:spPr>
          <a:xfrm>
            <a:off x="4453128" y="1261872"/>
            <a:ext cx="5943601" cy="1645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 a rollup interval that matches the failure mode.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 max rollup when the peak is what matters.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Then tune the evaluation window for noise.</a:t>
            </a:r>
          </a:p>
        </p:txBody>
      </p:sp>
      <p:sp>
        <p:nvSpPr>
          <p:cNvPr id="1126" name="Rectangle 6"/>
          <p:cNvSpPr/>
          <p:nvPr/>
        </p:nvSpPr>
        <p:spPr>
          <a:xfrm>
            <a:off x="4389120" y="3154679"/>
            <a:ext cx="5715001" cy="2148841"/>
          </a:xfrm>
          <a:prstGeom prst="rect">
            <a:avLst/>
          </a:prstGeom>
          <a:solidFill>
            <a:srgbClr val="FBFAFF"/>
          </a:solidFill>
          <a:ln w="12700">
            <a:solidFill>
              <a:srgbClr val="D6CF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7" name="Rectangle 7"/>
          <p:cNvSpPr/>
          <p:nvPr/>
        </p:nvSpPr>
        <p:spPr>
          <a:xfrm>
            <a:off x="4709159" y="4892040"/>
            <a:ext cx="5074921" cy="38101"/>
          </a:xfrm>
          <a:prstGeom prst="rect">
            <a:avLst/>
          </a:prstGeom>
          <a:solidFill>
            <a:srgbClr val="DCD8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8" name="Rectangle 8"/>
          <p:cNvSpPr/>
          <p:nvPr/>
        </p:nvSpPr>
        <p:spPr>
          <a:xfrm>
            <a:off x="4709159" y="3474720"/>
            <a:ext cx="25401" cy="1417321"/>
          </a:xfrm>
          <a:prstGeom prst="rect">
            <a:avLst/>
          </a:prstGeom>
          <a:solidFill>
            <a:srgbClr val="DCD8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9" name="Connector 9"/>
          <p:cNvSpPr/>
          <p:nvPr/>
        </p:nvSpPr>
        <p:spPr>
          <a:xfrm flipV="1">
            <a:off x="5115152" y="4378148"/>
            <a:ext cx="608991" cy="58521"/>
          </a:xfrm>
          <a:prstGeom prst="line">
            <a:avLst/>
          </a:prstGeom>
          <a:ln w="27940">
            <a:solidFill>
              <a:srgbClr val="612CC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30" name="Connector 10"/>
          <p:cNvSpPr/>
          <p:nvPr/>
        </p:nvSpPr>
        <p:spPr>
          <a:xfrm flipV="1">
            <a:off x="5724143" y="4334256"/>
            <a:ext cx="558242" cy="43892"/>
          </a:xfrm>
          <a:prstGeom prst="line">
            <a:avLst/>
          </a:prstGeom>
          <a:ln w="27940">
            <a:solidFill>
              <a:srgbClr val="612CC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31" name="Connector 11"/>
          <p:cNvSpPr/>
          <p:nvPr/>
        </p:nvSpPr>
        <p:spPr>
          <a:xfrm flipV="1">
            <a:off x="6282385" y="3646626"/>
            <a:ext cx="355245" cy="687629"/>
          </a:xfrm>
          <a:prstGeom prst="line">
            <a:avLst/>
          </a:prstGeom>
          <a:ln w="27940">
            <a:solidFill>
              <a:srgbClr val="612CC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32" name="Connector 12"/>
          <p:cNvSpPr/>
          <p:nvPr/>
        </p:nvSpPr>
        <p:spPr>
          <a:xfrm>
            <a:off x="6637628" y="3646627"/>
            <a:ext cx="304496" cy="760780"/>
          </a:xfrm>
          <a:prstGeom prst="line">
            <a:avLst/>
          </a:prstGeom>
          <a:ln w="27940">
            <a:solidFill>
              <a:srgbClr val="612CC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33" name="Connector 13"/>
          <p:cNvSpPr/>
          <p:nvPr/>
        </p:nvSpPr>
        <p:spPr>
          <a:xfrm flipV="1">
            <a:off x="6942124" y="4363515"/>
            <a:ext cx="710489" cy="43892"/>
          </a:xfrm>
          <a:prstGeom prst="line">
            <a:avLst/>
          </a:prstGeom>
          <a:ln w="27940">
            <a:solidFill>
              <a:srgbClr val="612CC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34" name="Connector 14"/>
          <p:cNvSpPr/>
          <p:nvPr/>
        </p:nvSpPr>
        <p:spPr>
          <a:xfrm flipV="1">
            <a:off x="7652612" y="4319625"/>
            <a:ext cx="710489" cy="43892"/>
          </a:xfrm>
          <a:prstGeom prst="line">
            <a:avLst/>
          </a:prstGeom>
          <a:ln w="27940">
            <a:solidFill>
              <a:srgbClr val="612CC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35" name="Connector 15"/>
          <p:cNvSpPr/>
          <p:nvPr/>
        </p:nvSpPr>
        <p:spPr>
          <a:xfrm>
            <a:off x="8363101" y="4319624"/>
            <a:ext cx="913486" cy="58521"/>
          </a:xfrm>
          <a:prstGeom prst="line">
            <a:avLst/>
          </a:prstGeom>
          <a:ln w="27940">
            <a:solidFill>
              <a:srgbClr val="612CC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36" name="Connector 16"/>
          <p:cNvSpPr/>
          <p:nvPr/>
        </p:nvSpPr>
        <p:spPr>
          <a:xfrm flipV="1">
            <a:off x="5115152" y="4261103"/>
            <a:ext cx="811988" cy="29261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37" name="Connector 17"/>
          <p:cNvSpPr/>
          <p:nvPr/>
        </p:nvSpPr>
        <p:spPr>
          <a:xfrm flipV="1">
            <a:off x="5927140" y="4202582"/>
            <a:ext cx="811988" cy="58521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38" name="Connector 18"/>
          <p:cNvSpPr/>
          <p:nvPr/>
        </p:nvSpPr>
        <p:spPr>
          <a:xfrm>
            <a:off x="6739127" y="4202581"/>
            <a:ext cx="913487" cy="43892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39" name="Connector 19"/>
          <p:cNvSpPr/>
          <p:nvPr/>
        </p:nvSpPr>
        <p:spPr>
          <a:xfrm>
            <a:off x="7652612" y="4246473"/>
            <a:ext cx="1014985" cy="29261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40" name="Connector 20"/>
          <p:cNvSpPr/>
          <p:nvPr/>
        </p:nvSpPr>
        <p:spPr>
          <a:xfrm>
            <a:off x="8667597" y="4275734"/>
            <a:ext cx="608991" cy="14630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41" name="TextBox 21"/>
          <p:cNvSpPr txBox="1"/>
          <p:nvPr/>
        </p:nvSpPr>
        <p:spPr>
          <a:xfrm>
            <a:off x="4892040" y="3300984"/>
            <a:ext cx="82296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722376">
              <a:defRPr b="1" sz="711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raw signal</a:t>
            </a:r>
          </a:p>
        </p:txBody>
      </p:sp>
      <p:sp>
        <p:nvSpPr>
          <p:cNvPr id="1142" name="TextBox 22"/>
          <p:cNvSpPr txBox="1"/>
          <p:nvPr/>
        </p:nvSpPr>
        <p:spPr>
          <a:xfrm>
            <a:off x="9006839" y="3300984"/>
            <a:ext cx="73152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722376">
              <a:defRPr b="1" sz="711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10m avg</a:t>
            </a:r>
          </a:p>
        </p:txBody>
      </p:sp>
      <p:sp>
        <p:nvSpPr>
          <p:cNvPr id="1143" name="Rounded Rectangle 23"/>
          <p:cNvSpPr/>
          <p:nvPr/>
        </p:nvSpPr>
        <p:spPr>
          <a:xfrm>
            <a:off x="769709" y="6053328"/>
            <a:ext cx="2074466" cy="3108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4" name="TextBox 24"/>
          <p:cNvSpPr txBox="1"/>
          <p:nvPr/>
        </p:nvSpPr>
        <p:spPr>
          <a:xfrm>
            <a:off x="832103" y="6126479"/>
            <a:ext cx="1838336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800">
                <a:solidFill>
                  <a:srgbClr val="1F222C"/>
                </a:solidFill>
              </a:defRPr>
            </a:pPr>
            <a:r>
              <a:t>Related cases: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2" invalidUrl="" action="" tgtFrame="" tooltip="" history="1" highlightClick="0" endSnd="0"/>
              </a:rPr>
              <a:t>#2879820</a:t>
            </a:r>
            <a:r>
              <a:rPr b="0"/>
              <a:t> ·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3" invalidUrl="" action="" tgtFrame="" tooltip="" history="1" highlightClick="0" endSnd="0"/>
              </a:rPr>
              <a:t>#2547404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Segment where action happens</a:t>
            </a:r>
          </a:p>
        </p:txBody>
      </p:sp>
      <p:sp>
        <p:nvSpPr>
          <p:cNvPr id="1147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Tag logic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Service-level totals answer: is anything wrong?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resource_name answers: where do I fix it?</a:t>
            </a:r>
          </a:p>
        </p:txBody>
      </p:sp>
      <p:sp>
        <p:nvSpPr>
          <p:cNvPr id="1148" name="TextBox 4"/>
          <p:cNvSpPr txBox="1"/>
          <p:nvPr/>
        </p:nvSpPr>
        <p:spPr>
          <a:xfrm>
            <a:off x="4416552" y="749808"/>
            <a:ext cx="612648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100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query move</a:t>
            </a:r>
          </a:p>
        </p:txBody>
      </p:sp>
      <p:sp>
        <p:nvSpPr>
          <p:cNvPr id="1149" name="TextBox 5"/>
          <p:cNvSpPr txBox="1"/>
          <p:nvPr/>
        </p:nvSpPr>
        <p:spPr>
          <a:xfrm>
            <a:off x="4453128" y="1261872"/>
            <a:ext cx="5943601" cy="1645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Errors without group-by can hide a broken endpoint.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 by {resource_name} when each endpoint deserves its own state.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Then route with context in the alert message.</a:t>
            </a:r>
          </a:p>
        </p:txBody>
      </p:sp>
      <p:sp>
        <p:nvSpPr>
          <p:cNvPr id="1150" name="Rounded Rectangle 6"/>
          <p:cNvSpPr/>
          <p:nvPr/>
        </p:nvSpPr>
        <p:spPr>
          <a:xfrm>
            <a:off x="4407408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612CC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1" name="TextBox 7"/>
          <p:cNvSpPr txBox="1"/>
          <p:nvPr/>
        </p:nvSpPr>
        <p:spPr>
          <a:xfrm>
            <a:off x="4526279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Metric</a:t>
            </a:r>
          </a:p>
        </p:txBody>
      </p:sp>
      <p:sp>
        <p:nvSpPr>
          <p:cNvPr id="1152" name="TextBox 8"/>
          <p:cNvSpPr txBox="1"/>
          <p:nvPr/>
        </p:nvSpPr>
        <p:spPr>
          <a:xfrm>
            <a:off x="4526279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raw signal</a:t>
            </a:r>
          </a:p>
        </p:txBody>
      </p:sp>
      <p:sp>
        <p:nvSpPr>
          <p:cNvPr id="1153" name="TextBox 9"/>
          <p:cNvSpPr txBox="1"/>
          <p:nvPr/>
        </p:nvSpPr>
        <p:spPr>
          <a:xfrm>
            <a:off x="5907023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154" name="Rounded Rectangle 10"/>
          <p:cNvSpPr/>
          <p:nvPr/>
        </p:nvSpPr>
        <p:spPr>
          <a:xfrm>
            <a:off x="6117335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612CC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5" name="TextBox 11"/>
          <p:cNvSpPr txBox="1"/>
          <p:nvPr/>
        </p:nvSpPr>
        <p:spPr>
          <a:xfrm>
            <a:off x="6236208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Aggregator</a:t>
            </a:r>
          </a:p>
        </p:txBody>
      </p:sp>
      <p:sp>
        <p:nvSpPr>
          <p:cNvPr id="1156" name="TextBox 12"/>
          <p:cNvSpPr txBox="1"/>
          <p:nvPr/>
        </p:nvSpPr>
        <p:spPr>
          <a:xfrm>
            <a:off x="6236208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time + space</a:t>
            </a:r>
          </a:p>
        </p:txBody>
      </p:sp>
      <p:sp>
        <p:nvSpPr>
          <p:cNvPr id="1157" name="TextBox 13"/>
          <p:cNvSpPr txBox="1"/>
          <p:nvPr/>
        </p:nvSpPr>
        <p:spPr>
          <a:xfrm>
            <a:off x="7616951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158" name="Rounded Rectangle 14"/>
          <p:cNvSpPr/>
          <p:nvPr/>
        </p:nvSpPr>
        <p:spPr>
          <a:xfrm>
            <a:off x="7827264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612CC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9" name="TextBox 15"/>
          <p:cNvSpPr txBox="1"/>
          <p:nvPr/>
        </p:nvSpPr>
        <p:spPr>
          <a:xfrm>
            <a:off x="7946135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Group</a:t>
            </a:r>
          </a:p>
        </p:txBody>
      </p:sp>
      <p:sp>
        <p:nvSpPr>
          <p:cNvPr id="1160" name="TextBox 16"/>
          <p:cNvSpPr txBox="1"/>
          <p:nvPr/>
        </p:nvSpPr>
        <p:spPr>
          <a:xfrm>
            <a:off x="7946135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owner</a:t>
            </a:r>
          </a:p>
        </p:txBody>
      </p:sp>
      <p:sp>
        <p:nvSpPr>
          <p:cNvPr id="1161" name="TextBox 17"/>
          <p:cNvSpPr txBox="1"/>
          <p:nvPr/>
        </p:nvSpPr>
        <p:spPr>
          <a:xfrm>
            <a:off x="9326879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162" name="Rounded Rectangle 18"/>
          <p:cNvSpPr/>
          <p:nvPr/>
        </p:nvSpPr>
        <p:spPr>
          <a:xfrm>
            <a:off x="9537192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612CC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3" name="TextBox 19"/>
          <p:cNvSpPr txBox="1"/>
          <p:nvPr/>
        </p:nvSpPr>
        <p:spPr>
          <a:xfrm>
            <a:off x="9656063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Threshold</a:t>
            </a:r>
          </a:p>
        </p:txBody>
      </p:sp>
      <p:sp>
        <p:nvSpPr>
          <p:cNvPr id="1164" name="TextBox 20"/>
          <p:cNvSpPr txBox="1"/>
          <p:nvPr/>
        </p:nvSpPr>
        <p:spPr>
          <a:xfrm>
            <a:off x="9656063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65" name="Rounded Rectangle 21"/>
          <p:cNvSpPr/>
          <p:nvPr/>
        </p:nvSpPr>
        <p:spPr>
          <a:xfrm>
            <a:off x="658368" y="6053328"/>
            <a:ext cx="2496312" cy="3108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6" name="TextBox 22"/>
          <p:cNvSpPr txBox="1"/>
          <p:nvPr/>
        </p:nvSpPr>
        <p:spPr>
          <a:xfrm>
            <a:off x="832104" y="6126479"/>
            <a:ext cx="1296006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800">
                <a:solidFill>
                  <a:srgbClr val="1F222C"/>
                </a:solidFill>
              </a:defRPr>
            </a:pPr>
            <a:r>
              <a:t>Related cases: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2" invalidUrl="" action="" tgtFrame="" tooltip="" history="1" highlightClick="0" endSnd="0"/>
              </a:rPr>
              <a:t>#2457050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>
              <a:defRPr sz="25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Lab missions</a:t>
            </a:r>
          </a:p>
        </p:txBody>
      </p:sp>
      <p:sp>
        <p:nvSpPr>
          <p:cNvPr id="1169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defRPr b="1" sz="1500">
                <a:latin typeface="+mj-lt"/>
                <a:ea typeface="+mj-ea"/>
                <a:cs typeface="+mj-cs"/>
                <a:sym typeface="Arial"/>
              </a:defRPr>
            </a:pPr>
            <a:r>
              <a:t>The rule</a:t>
            </a: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Bring evidence, one rejected hypothesis, and two possible fixes.</a:t>
            </a: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The slide gives the case and the question.</a:t>
            </a: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The final answer stays for the live discussion.</a:t>
            </a:r>
          </a:p>
        </p:txBody>
      </p:sp>
      <p:sp>
        <p:nvSpPr>
          <p:cNvPr id="1170" name="TextBox 4"/>
          <p:cNvSpPr txBox="1"/>
          <p:nvPr/>
        </p:nvSpPr>
        <p:spPr>
          <a:xfrm>
            <a:off x="4416551" y="749808"/>
            <a:ext cx="6217921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50391">
              <a:defRPr b="1" sz="1953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Day 1 lab: four broken APM monitors</a:t>
            </a:r>
          </a:p>
        </p:txBody>
      </p:sp>
      <p:sp>
        <p:nvSpPr>
          <p:cNvPr id="1171" name="TextBox 5"/>
          <p:cNvSpPr txBox="1"/>
          <p:nvPr/>
        </p:nvSpPr>
        <p:spPr>
          <a:xfrm>
            <a:off x="4453128" y="1307591"/>
            <a:ext cx="329185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32104">
              <a:defRPr b="1" sz="1092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172" name="TextBox 6"/>
          <p:cNvSpPr txBox="1"/>
          <p:nvPr/>
        </p:nvSpPr>
        <p:spPr>
          <a:xfrm>
            <a:off x="4983479" y="1280160"/>
            <a:ext cx="541324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67512">
              <a:defRPr b="1" sz="1095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APM Latency - All Good</a:t>
            </a:r>
          </a:p>
        </p:txBody>
      </p:sp>
      <p:sp>
        <p:nvSpPr>
          <p:cNvPr id="1173" name="TextBox 7"/>
          <p:cNvSpPr txBox="1"/>
          <p:nvPr/>
        </p:nvSpPr>
        <p:spPr>
          <a:xfrm>
            <a:off x="4983479" y="1554480"/>
            <a:ext cx="5413249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Why does the monitor say OK while checkout users still feel pain?</a:t>
            </a:r>
          </a:p>
        </p:txBody>
      </p:sp>
      <p:sp>
        <p:nvSpPr>
          <p:cNvPr id="1174" name="Rectangle 8"/>
          <p:cNvSpPr/>
          <p:nvPr/>
        </p:nvSpPr>
        <p:spPr>
          <a:xfrm>
            <a:off x="4407408" y="2002535"/>
            <a:ext cx="6035041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5" name="TextBox 9"/>
          <p:cNvSpPr txBox="1"/>
          <p:nvPr/>
        </p:nvSpPr>
        <p:spPr>
          <a:xfrm>
            <a:off x="4453128" y="2093976"/>
            <a:ext cx="329185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32104">
              <a:defRPr b="1" sz="1092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176" name="TextBox 10"/>
          <p:cNvSpPr txBox="1"/>
          <p:nvPr/>
        </p:nvSpPr>
        <p:spPr>
          <a:xfrm>
            <a:off x="4983479" y="2066544"/>
            <a:ext cx="541324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67512">
              <a:defRPr b="1" sz="1095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APM Spike Detector</a:t>
            </a:r>
          </a:p>
        </p:txBody>
      </p:sp>
      <p:sp>
        <p:nvSpPr>
          <p:cNvPr id="1177" name="TextBox 11"/>
          <p:cNvSpPr txBox="1"/>
          <p:nvPr/>
        </p:nvSpPr>
        <p:spPr>
          <a:xfrm>
            <a:off x="4983479" y="2340864"/>
            <a:ext cx="5413249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Where did the short incident go when the graph was rolled up?</a:t>
            </a:r>
          </a:p>
        </p:txBody>
      </p:sp>
      <p:sp>
        <p:nvSpPr>
          <p:cNvPr id="1178" name="Rectangle 12"/>
          <p:cNvSpPr/>
          <p:nvPr/>
        </p:nvSpPr>
        <p:spPr>
          <a:xfrm>
            <a:off x="4407408" y="2788920"/>
            <a:ext cx="6035041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9" name="TextBox 13"/>
          <p:cNvSpPr txBox="1"/>
          <p:nvPr/>
        </p:nvSpPr>
        <p:spPr>
          <a:xfrm>
            <a:off x="4453128" y="2880360"/>
            <a:ext cx="329185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32104">
              <a:defRPr b="1" sz="1092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180" name="TextBox 14"/>
          <p:cNvSpPr txBox="1"/>
          <p:nvPr/>
        </p:nvSpPr>
        <p:spPr>
          <a:xfrm>
            <a:off x="4983479" y="2852927"/>
            <a:ext cx="541324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67512">
              <a:defRPr b="1" sz="1095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APM Error Surge</a:t>
            </a:r>
          </a:p>
        </p:txBody>
      </p:sp>
      <p:sp>
        <p:nvSpPr>
          <p:cNvPr id="1181" name="TextBox 15"/>
          <p:cNvSpPr txBox="1"/>
          <p:nvPr/>
        </p:nvSpPr>
        <p:spPr>
          <a:xfrm>
            <a:off x="4983479" y="3127248"/>
            <a:ext cx="5413249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Which endpoint owns the error pattern?</a:t>
            </a:r>
          </a:p>
        </p:txBody>
      </p:sp>
      <p:sp>
        <p:nvSpPr>
          <p:cNvPr id="1182" name="Rectangle 16"/>
          <p:cNvSpPr/>
          <p:nvPr/>
        </p:nvSpPr>
        <p:spPr>
          <a:xfrm>
            <a:off x="4407408" y="3575303"/>
            <a:ext cx="6035041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3" name="TextBox 17"/>
          <p:cNvSpPr txBox="1"/>
          <p:nvPr/>
        </p:nvSpPr>
        <p:spPr>
          <a:xfrm>
            <a:off x="4453128" y="3666744"/>
            <a:ext cx="329185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32104">
              <a:defRPr b="1" sz="1092">
                <a:solidFill>
                  <a:srgbClr val="612CC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184" name="TextBox 18"/>
          <p:cNvSpPr txBox="1"/>
          <p:nvPr/>
        </p:nvSpPr>
        <p:spPr>
          <a:xfrm>
            <a:off x="4983479" y="3639311"/>
            <a:ext cx="541324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67512">
              <a:defRPr b="1" sz="1095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APM Throughput Alert</a:t>
            </a:r>
          </a:p>
        </p:txBody>
      </p:sp>
      <p:sp>
        <p:nvSpPr>
          <p:cNvPr id="1185" name="TextBox 19"/>
          <p:cNvSpPr txBox="1"/>
          <p:nvPr/>
        </p:nvSpPr>
        <p:spPr>
          <a:xfrm>
            <a:off x="4983479" y="3913632"/>
            <a:ext cx="5413249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Is the alert detecting customer impact or normal traffic shape?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Title 1"/>
          <p:cNvSpPr txBox="1"/>
          <p:nvPr>
            <p:ph type="title"/>
          </p:nvPr>
        </p:nvSpPr>
        <p:spPr>
          <a:xfrm>
            <a:off x="695322" y="4395789"/>
            <a:ext cx="10795004" cy="1881186"/>
          </a:xfrm>
          <a:prstGeom prst="rect">
            <a:avLst/>
          </a:prstGeom>
        </p:spPr>
        <p:txBody>
          <a:bodyPr anchor="t"/>
          <a:lstStyle>
            <a:lvl1pPr>
              <a:defRPr sz="30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Day 1 takeaway: when user impact lives in the tail, average is camouflage.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Title 1"/>
          <p:cNvSpPr txBox="1"/>
          <p:nvPr>
            <p:ph type="title"/>
          </p:nvPr>
        </p:nvSpPr>
        <p:spPr>
          <a:xfrm>
            <a:off x="695084" y="695325"/>
            <a:ext cx="10773018" cy="1244600"/>
          </a:xfrm>
          <a:prstGeom prst="rect">
            <a:avLst/>
          </a:prstGeom>
        </p:spPr>
        <p:txBody>
          <a:bodyPr/>
          <a:lstStyle/>
          <a:p>
            <a:pPr>
              <a:defRPr sz="3800">
                <a:latin typeface="Aptos"/>
                <a:ea typeface="Aptos"/>
                <a:cs typeface="Aptos"/>
                <a:sym typeface="Aptos"/>
              </a:defRPr>
            </a:pPr>
            <a:r>
              <a:t>DAY 2</a:t>
            </a:r>
          </a:p>
          <a:p>
            <a:pPr>
              <a:defRPr sz="3800">
                <a:latin typeface="Aptos"/>
                <a:ea typeface="Aptos"/>
                <a:cs typeface="Aptos"/>
                <a:sym typeface="Aptos"/>
              </a:defRPr>
            </a:pPr>
            <a:r>
              <a:t>Containers: The Kubernetes Resource Crisis</a:t>
            </a:r>
          </a:p>
        </p:txBody>
      </p:sp>
      <p:sp>
        <p:nvSpPr>
          <p:cNvPr id="1190" name="Subtitle 2"/>
          <p:cNvSpPr txBox="1"/>
          <p:nvPr>
            <p:ph type="body" sz="quarter" idx="1"/>
          </p:nvPr>
        </p:nvSpPr>
        <p:spPr>
          <a:xfrm>
            <a:off x="695084" y="2077085"/>
            <a:ext cx="10773018" cy="1107440"/>
          </a:xfrm>
          <a:prstGeom prst="rect">
            <a:avLst/>
          </a:prstGeom>
        </p:spPr>
        <p:txBody>
          <a:bodyPr/>
          <a:lstStyle>
            <a:lvl1pPr>
              <a:defRPr sz="21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Cluster averages hide the workload that needs action.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Title 1"/>
          <p:cNvSpPr txBox="1"/>
          <p:nvPr>
            <p:ph type="title"/>
          </p:nvPr>
        </p:nvSpPr>
        <p:spPr>
          <a:xfrm>
            <a:off x="695322" y="357808"/>
            <a:ext cx="10795004" cy="8683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Make the cluster visible</a:t>
            </a:r>
          </a:p>
        </p:txBody>
      </p:sp>
      <p:pic>
        <p:nvPicPr>
          <p:cNvPr id="119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21234" y="1234439"/>
            <a:ext cx="8181893" cy="44805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Average by cluster is usually not a diagnosis</a:t>
            </a:r>
          </a:p>
        </p:txBody>
      </p:sp>
      <p:sp>
        <p:nvSpPr>
          <p:cNvPr id="1196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The trap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One deployment is hot.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Another is tiny.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The cluster average says almost nothing useful.</a:t>
            </a:r>
          </a:p>
        </p:txBody>
      </p:sp>
      <p:sp>
        <p:nvSpPr>
          <p:cNvPr id="1197" name="TextBox 4"/>
          <p:cNvSpPr txBox="1"/>
          <p:nvPr/>
        </p:nvSpPr>
        <p:spPr>
          <a:xfrm>
            <a:off x="4416552" y="749808"/>
            <a:ext cx="612648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100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Better monitor instinct</a:t>
            </a:r>
          </a:p>
        </p:txBody>
      </p:sp>
      <p:sp>
        <p:nvSpPr>
          <p:cNvPr id="1198" name="TextBox 5"/>
          <p:cNvSpPr txBox="1"/>
          <p:nvPr/>
        </p:nvSpPr>
        <p:spPr>
          <a:xfrm>
            <a:off x="4453128" y="1261872"/>
            <a:ext cx="5943601" cy="1645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Group by kube_deployment when deployment owners take action.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 pod_name only when the pod identity matters.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Avoid group-bys that create alert storms.</a:t>
            </a:r>
          </a:p>
        </p:txBody>
      </p:sp>
      <p:sp>
        <p:nvSpPr>
          <p:cNvPr id="1199" name="Rounded Rectangle 6"/>
          <p:cNvSpPr/>
          <p:nvPr/>
        </p:nvSpPr>
        <p:spPr>
          <a:xfrm>
            <a:off x="4407408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007E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0" name="TextBox 7"/>
          <p:cNvSpPr txBox="1"/>
          <p:nvPr/>
        </p:nvSpPr>
        <p:spPr>
          <a:xfrm>
            <a:off x="4526279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Metric</a:t>
            </a:r>
          </a:p>
        </p:txBody>
      </p:sp>
      <p:sp>
        <p:nvSpPr>
          <p:cNvPr id="1201" name="TextBox 8"/>
          <p:cNvSpPr txBox="1"/>
          <p:nvPr/>
        </p:nvSpPr>
        <p:spPr>
          <a:xfrm>
            <a:off x="4526279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raw signal</a:t>
            </a:r>
          </a:p>
        </p:txBody>
      </p:sp>
      <p:sp>
        <p:nvSpPr>
          <p:cNvPr id="1202" name="TextBox 9"/>
          <p:cNvSpPr txBox="1"/>
          <p:nvPr/>
        </p:nvSpPr>
        <p:spPr>
          <a:xfrm>
            <a:off x="5907023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203" name="Rounded Rectangle 10"/>
          <p:cNvSpPr/>
          <p:nvPr/>
        </p:nvSpPr>
        <p:spPr>
          <a:xfrm>
            <a:off x="6117335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007E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4" name="TextBox 11"/>
          <p:cNvSpPr txBox="1"/>
          <p:nvPr/>
        </p:nvSpPr>
        <p:spPr>
          <a:xfrm>
            <a:off x="6236208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Aggregator</a:t>
            </a:r>
          </a:p>
        </p:txBody>
      </p:sp>
      <p:sp>
        <p:nvSpPr>
          <p:cNvPr id="1205" name="TextBox 12"/>
          <p:cNvSpPr txBox="1"/>
          <p:nvPr/>
        </p:nvSpPr>
        <p:spPr>
          <a:xfrm>
            <a:off x="6236208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time + space</a:t>
            </a:r>
          </a:p>
        </p:txBody>
      </p:sp>
      <p:sp>
        <p:nvSpPr>
          <p:cNvPr id="1206" name="TextBox 13"/>
          <p:cNvSpPr txBox="1"/>
          <p:nvPr/>
        </p:nvSpPr>
        <p:spPr>
          <a:xfrm>
            <a:off x="7616951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207" name="Rounded Rectangle 14"/>
          <p:cNvSpPr/>
          <p:nvPr/>
        </p:nvSpPr>
        <p:spPr>
          <a:xfrm>
            <a:off x="7827264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007E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8" name="TextBox 15"/>
          <p:cNvSpPr txBox="1"/>
          <p:nvPr/>
        </p:nvSpPr>
        <p:spPr>
          <a:xfrm>
            <a:off x="7946135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Group</a:t>
            </a:r>
          </a:p>
        </p:txBody>
      </p:sp>
      <p:sp>
        <p:nvSpPr>
          <p:cNvPr id="1209" name="TextBox 16"/>
          <p:cNvSpPr txBox="1"/>
          <p:nvPr/>
        </p:nvSpPr>
        <p:spPr>
          <a:xfrm>
            <a:off x="7946135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owner</a:t>
            </a:r>
          </a:p>
        </p:txBody>
      </p:sp>
      <p:sp>
        <p:nvSpPr>
          <p:cNvPr id="1210" name="TextBox 17"/>
          <p:cNvSpPr txBox="1"/>
          <p:nvPr/>
        </p:nvSpPr>
        <p:spPr>
          <a:xfrm>
            <a:off x="9326879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211" name="Rounded Rectangle 18"/>
          <p:cNvSpPr/>
          <p:nvPr/>
        </p:nvSpPr>
        <p:spPr>
          <a:xfrm>
            <a:off x="9537192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007E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2" name="TextBox 19"/>
          <p:cNvSpPr txBox="1"/>
          <p:nvPr/>
        </p:nvSpPr>
        <p:spPr>
          <a:xfrm>
            <a:off x="9656063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Threshold</a:t>
            </a:r>
          </a:p>
        </p:txBody>
      </p:sp>
      <p:sp>
        <p:nvSpPr>
          <p:cNvPr id="1213" name="TextBox 20"/>
          <p:cNvSpPr txBox="1"/>
          <p:nvPr/>
        </p:nvSpPr>
        <p:spPr>
          <a:xfrm>
            <a:off x="9656063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Cumulative counters need recent change</a:t>
            </a:r>
          </a:p>
        </p:txBody>
      </p:sp>
      <p:sp>
        <p:nvSpPr>
          <p:cNvPr id="1216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The trap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Restart counters only go up.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A raw threshold can stay ALERT after the incident is over.</a:t>
            </a:r>
          </a:p>
        </p:txBody>
      </p:sp>
      <p:sp>
        <p:nvSpPr>
          <p:cNvPr id="1217" name="TextBox 4"/>
          <p:cNvSpPr txBox="1"/>
          <p:nvPr/>
        </p:nvSpPr>
        <p:spPr>
          <a:xfrm>
            <a:off x="4416552" y="749808"/>
            <a:ext cx="612648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100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query move</a:t>
            </a:r>
          </a:p>
        </p:txBody>
      </p:sp>
      <p:sp>
        <p:nvSpPr>
          <p:cNvPr id="1218" name="TextBox 5"/>
          <p:cNvSpPr txBox="1"/>
          <p:nvPr/>
        </p:nvSpPr>
        <p:spPr>
          <a:xfrm>
            <a:off x="4453128" y="1261872"/>
            <a:ext cx="5943601" cy="1645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 change() for recent restarts.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 static gauges directly only when the value itself is actionable.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Ask: is this number a state, a count, or a rate?</a:t>
            </a:r>
          </a:p>
        </p:txBody>
      </p:sp>
      <p:sp>
        <p:nvSpPr>
          <p:cNvPr id="1219" name="Rectangle 6"/>
          <p:cNvSpPr/>
          <p:nvPr/>
        </p:nvSpPr>
        <p:spPr>
          <a:xfrm>
            <a:off x="4389120" y="3154679"/>
            <a:ext cx="5715001" cy="2148841"/>
          </a:xfrm>
          <a:prstGeom prst="rect">
            <a:avLst/>
          </a:prstGeom>
          <a:solidFill>
            <a:srgbClr val="FBFAFF"/>
          </a:solidFill>
          <a:ln w="12700">
            <a:solidFill>
              <a:srgbClr val="D6CF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0" name="Rectangle 7"/>
          <p:cNvSpPr/>
          <p:nvPr/>
        </p:nvSpPr>
        <p:spPr>
          <a:xfrm>
            <a:off x="4709159" y="4892040"/>
            <a:ext cx="5074921" cy="38101"/>
          </a:xfrm>
          <a:prstGeom prst="rect">
            <a:avLst/>
          </a:prstGeom>
          <a:solidFill>
            <a:srgbClr val="DCD8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1" name="Rectangle 8"/>
          <p:cNvSpPr/>
          <p:nvPr/>
        </p:nvSpPr>
        <p:spPr>
          <a:xfrm>
            <a:off x="4709159" y="3474720"/>
            <a:ext cx="25401" cy="1417321"/>
          </a:xfrm>
          <a:prstGeom prst="rect">
            <a:avLst/>
          </a:prstGeom>
          <a:solidFill>
            <a:srgbClr val="DCD8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2" name="Connector 9"/>
          <p:cNvSpPr/>
          <p:nvPr/>
        </p:nvSpPr>
        <p:spPr>
          <a:xfrm flipV="1">
            <a:off x="5115152" y="4378148"/>
            <a:ext cx="608991" cy="58521"/>
          </a:xfrm>
          <a:prstGeom prst="line">
            <a:avLst/>
          </a:prstGeom>
          <a:ln w="27940">
            <a:solidFill>
              <a:srgbClr val="007EC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223" name="Connector 10"/>
          <p:cNvSpPr/>
          <p:nvPr/>
        </p:nvSpPr>
        <p:spPr>
          <a:xfrm flipV="1">
            <a:off x="5724143" y="4334256"/>
            <a:ext cx="558242" cy="43892"/>
          </a:xfrm>
          <a:prstGeom prst="line">
            <a:avLst/>
          </a:prstGeom>
          <a:ln w="27940">
            <a:solidFill>
              <a:srgbClr val="007EC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224" name="Connector 11"/>
          <p:cNvSpPr/>
          <p:nvPr/>
        </p:nvSpPr>
        <p:spPr>
          <a:xfrm flipV="1">
            <a:off x="6282385" y="3646626"/>
            <a:ext cx="355245" cy="687629"/>
          </a:xfrm>
          <a:prstGeom prst="line">
            <a:avLst/>
          </a:prstGeom>
          <a:ln w="27940">
            <a:solidFill>
              <a:srgbClr val="007EC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225" name="Connector 12"/>
          <p:cNvSpPr/>
          <p:nvPr/>
        </p:nvSpPr>
        <p:spPr>
          <a:xfrm>
            <a:off x="6637628" y="3646627"/>
            <a:ext cx="304496" cy="760780"/>
          </a:xfrm>
          <a:prstGeom prst="line">
            <a:avLst/>
          </a:prstGeom>
          <a:ln w="27940">
            <a:solidFill>
              <a:srgbClr val="007EC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226" name="Connector 13"/>
          <p:cNvSpPr/>
          <p:nvPr/>
        </p:nvSpPr>
        <p:spPr>
          <a:xfrm flipV="1">
            <a:off x="6942124" y="4363515"/>
            <a:ext cx="710489" cy="43892"/>
          </a:xfrm>
          <a:prstGeom prst="line">
            <a:avLst/>
          </a:prstGeom>
          <a:ln w="27940">
            <a:solidFill>
              <a:srgbClr val="007EC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227" name="Connector 14"/>
          <p:cNvSpPr/>
          <p:nvPr/>
        </p:nvSpPr>
        <p:spPr>
          <a:xfrm flipV="1">
            <a:off x="7652612" y="4319625"/>
            <a:ext cx="710489" cy="43892"/>
          </a:xfrm>
          <a:prstGeom prst="line">
            <a:avLst/>
          </a:prstGeom>
          <a:ln w="27940">
            <a:solidFill>
              <a:srgbClr val="007EC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228" name="Connector 15"/>
          <p:cNvSpPr/>
          <p:nvPr/>
        </p:nvSpPr>
        <p:spPr>
          <a:xfrm>
            <a:off x="8363101" y="4319624"/>
            <a:ext cx="913486" cy="58521"/>
          </a:xfrm>
          <a:prstGeom prst="line">
            <a:avLst/>
          </a:prstGeom>
          <a:ln w="27940">
            <a:solidFill>
              <a:srgbClr val="007EC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229" name="Connector 16"/>
          <p:cNvSpPr/>
          <p:nvPr/>
        </p:nvSpPr>
        <p:spPr>
          <a:xfrm flipV="1">
            <a:off x="5115152" y="4261103"/>
            <a:ext cx="811988" cy="29261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230" name="Connector 17"/>
          <p:cNvSpPr/>
          <p:nvPr/>
        </p:nvSpPr>
        <p:spPr>
          <a:xfrm flipV="1">
            <a:off x="5927140" y="4202582"/>
            <a:ext cx="811988" cy="58521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231" name="Connector 18"/>
          <p:cNvSpPr/>
          <p:nvPr/>
        </p:nvSpPr>
        <p:spPr>
          <a:xfrm>
            <a:off x="6739127" y="4202581"/>
            <a:ext cx="913487" cy="43892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232" name="Connector 19"/>
          <p:cNvSpPr/>
          <p:nvPr/>
        </p:nvSpPr>
        <p:spPr>
          <a:xfrm>
            <a:off x="7652612" y="4246473"/>
            <a:ext cx="1014985" cy="29261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233" name="Connector 20"/>
          <p:cNvSpPr/>
          <p:nvPr/>
        </p:nvSpPr>
        <p:spPr>
          <a:xfrm>
            <a:off x="8667597" y="4275734"/>
            <a:ext cx="608991" cy="14630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234" name="TextBox 21"/>
          <p:cNvSpPr txBox="1"/>
          <p:nvPr/>
        </p:nvSpPr>
        <p:spPr>
          <a:xfrm>
            <a:off x="4892040" y="3300984"/>
            <a:ext cx="82296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722376">
              <a:defRPr b="1" sz="711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raw signal</a:t>
            </a:r>
          </a:p>
        </p:txBody>
      </p:sp>
      <p:sp>
        <p:nvSpPr>
          <p:cNvPr id="1235" name="TextBox 22"/>
          <p:cNvSpPr txBox="1"/>
          <p:nvPr/>
        </p:nvSpPr>
        <p:spPr>
          <a:xfrm>
            <a:off x="9006839" y="3300984"/>
            <a:ext cx="73152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722376">
              <a:defRPr b="1" sz="711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10m avg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Silent monitors are worse than noisy ones</a:t>
            </a:r>
          </a:p>
        </p:txBody>
      </p:sp>
      <p:sp>
        <p:nvSpPr>
          <p:cNvPr id="1238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Two quiet failures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Pod count can look OK while a deployment is unhealthy.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Require full window can skip sparse or crashy series.</a:t>
            </a:r>
          </a:p>
        </p:txBody>
      </p:sp>
      <p:sp>
        <p:nvSpPr>
          <p:cNvPr id="1239" name="TextBox 4"/>
          <p:cNvSpPr txBox="1"/>
          <p:nvPr/>
        </p:nvSpPr>
        <p:spPr>
          <a:xfrm>
            <a:off x="4416552" y="749808"/>
            <a:ext cx="612648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100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Better monitor instinct</a:t>
            </a:r>
          </a:p>
        </p:txBody>
      </p:sp>
      <p:sp>
        <p:nvSpPr>
          <p:cNvPr id="1240" name="TextBox 5"/>
          <p:cNvSpPr txBox="1"/>
          <p:nvPr/>
        </p:nvSpPr>
        <p:spPr>
          <a:xfrm>
            <a:off x="4453128" y="1261872"/>
            <a:ext cx="5943601" cy="1645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Compare desired vs ready when health is the question.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Be careful with require_full_window on sparse metrics.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Treat missing data as part of monitor design.</a:t>
            </a:r>
          </a:p>
        </p:txBody>
      </p:sp>
      <p:sp>
        <p:nvSpPr>
          <p:cNvPr id="1241" name="Rounded Rectangle 6"/>
          <p:cNvSpPr/>
          <p:nvPr/>
        </p:nvSpPr>
        <p:spPr>
          <a:xfrm>
            <a:off x="4407408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007E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2" name="TextBox 7"/>
          <p:cNvSpPr txBox="1"/>
          <p:nvPr/>
        </p:nvSpPr>
        <p:spPr>
          <a:xfrm>
            <a:off x="4526279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Metric</a:t>
            </a:r>
          </a:p>
        </p:txBody>
      </p:sp>
      <p:sp>
        <p:nvSpPr>
          <p:cNvPr id="1243" name="TextBox 8"/>
          <p:cNvSpPr txBox="1"/>
          <p:nvPr/>
        </p:nvSpPr>
        <p:spPr>
          <a:xfrm>
            <a:off x="4526279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raw signal</a:t>
            </a:r>
          </a:p>
        </p:txBody>
      </p:sp>
      <p:sp>
        <p:nvSpPr>
          <p:cNvPr id="1244" name="TextBox 9"/>
          <p:cNvSpPr txBox="1"/>
          <p:nvPr/>
        </p:nvSpPr>
        <p:spPr>
          <a:xfrm>
            <a:off x="5907023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245" name="Rounded Rectangle 10"/>
          <p:cNvSpPr/>
          <p:nvPr/>
        </p:nvSpPr>
        <p:spPr>
          <a:xfrm>
            <a:off x="6117335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007E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6" name="TextBox 11"/>
          <p:cNvSpPr txBox="1"/>
          <p:nvPr/>
        </p:nvSpPr>
        <p:spPr>
          <a:xfrm>
            <a:off x="6236208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Aggregator</a:t>
            </a:r>
          </a:p>
        </p:txBody>
      </p:sp>
      <p:sp>
        <p:nvSpPr>
          <p:cNvPr id="1247" name="TextBox 12"/>
          <p:cNvSpPr txBox="1"/>
          <p:nvPr/>
        </p:nvSpPr>
        <p:spPr>
          <a:xfrm>
            <a:off x="6236208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time + space</a:t>
            </a:r>
          </a:p>
        </p:txBody>
      </p:sp>
      <p:sp>
        <p:nvSpPr>
          <p:cNvPr id="1248" name="TextBox 13"/>
          <p:cNvSpPr txBox="1"/>
          <p:nvPr/>
        </p:nvSpPr>
        <p:spPr>
          <a:xfrm>
            <a:off x="7616951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249" name="Rounded Rectangle 14"/>
          <p:cNvSpPr/>
          <p:nvPr/>
        </p:nvSpPr>
        <p:spPr>
          <a:xfrm>
            <a:off x="7827264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007E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0" name="TextBox 15"/>
          <p:cNvSpPr txBox="1"/>
          <p:nvPr/>
        </p:nvSpPr>
        <p:spPr>
          <a:xfrm>
            <a:off x="7946135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Group</a:t>
            </a:r>
          </a:p>
        </p:txBody>
      </p:sp>
      <p:sp>
        <p:nvSpPr>
          <p:cNvPr id="1251" name="TextBox 16"/>
          <p:cNvSpPr txBox="1"/>
          <p:nvPr/>
        </p:nvSpPr>
        <p:spPr>
          <a:xfrm>
            <a:off x="7946135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owner</a:t>
            </a:r>
          </a:p>
        </p:txBody>
      </p:sp>
      <p:sp>
        <p:nvSpPr>
          <p:cNvPr id="1252" name="TextBox 17"/>
          <p:cNvSpPr txBox="1"/>
          <p:nvPr/>
        </p:nvSpPr>
        <p:spPr>
          <a:xfrm>
            <a:off x="9326879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253" name="Rounded Rectangle 18"/>
          <p:cNvSpPr/>
          <p:nvPr/>
        </p:nvSpPr>
        <p:spPr>
          <a:xfrm>
            <a:off x="9537192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007E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4" name="TextBox 19"/>
          <p:cNvSpPr txBox="1"/>
          <p:nvPr/>
        </p:nvSpPr>
        <p:spPr>
          <a:xfrm>
            <a:off x="9656063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Threshold</a:t>
            </a:r>
          </a:p>
        </p:txBody>
      </p:sp>
      <p:sp>
        <p:nvSpPr>
          <p:cNvPr id="1255" name="TextBox 20"/>
          <p:cNvSpPr txBox="1"/>
          <p:nvPr/>
        </p:nvSpPr>
        <p:spPr>
          <a:xfrm>
            <a:off x="9656063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256" name="Rounded Rectangle 21"/>
          <p:cNvSpPr/>
          <p:nvPr/>
        </p:nvSpPr>
        <p:spPr>
          <a:xfrm>
            <a:off x="769406" y="6053328"/>
            <a:ext cx="1532440" cy="3108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7" name="TextBox 22"/>
          <p:cNvSpPr txBox="1"/>
          <p:nvPr/>
        </p:nvSpPr>
        <p:spPr>
          <a:xfrm>
            <a:off x="832104" y="6126479"/>
            <a:ext cx="1296006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800">
                <a:solidFill>
                  <a:srgbClr val="1F222C"/>
                </a:solidFill>
              </a:defRPr>
            </a:pPr>
            <a:r>
              <a:t>Related cases: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2" invalidUrl="" action="" tgtFrame="" tooltip="" history="1" highlightClick="0" endSnd="0"/>
              </a:rPr>
              <a:t>#2517536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>
              <a:defRPr sz="25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Lab missions</a:t>
            </a:r>
          </a:p>
        </p:txBody>
      </p:sp>
      <p:sp>
        <p:nvSpPr>
          <p:cNvPr id="1260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defRPr b="1" sz="1500">
                <a:latin typeface="+mj-lt"/>
                <a:ea typeface="+mj-ea"/>
                <a:cs typeface="+mj-cs"/>
                <a:sym typeface="Arial"/>
              </a:defRPr>
            </a:pPr>
            <a:r>
              <a:t>The rule</a:t>
            </a: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Bring evidence, one rejected hypothesis, and two possible fixes.</a:t>
            </a: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The slide gives the case and the question.</a:t>
            </a: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The final answer stays for the live discussion.</a:t>
            </a:r>
          </a:p>
        </p:txBody>
      </p:sp>
      <p:sp>
        <p:nvSpPr>
          <p:cNvPr id="1261" name="TextBox 4"/>
          <p:cNvSpPr txBox="1"/>
          <p:nvPr/>
        </p:nvSpPr>
        <p:spPr>
          <a:xfrm>
            <a:off x="4416551" y="749808"/>
            <a:ext cx="6217921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50391">
              <a:defRPr b="1" sz="1953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Day 2 lab: Kubernetes monitor traps</a:t>
            </a:r>
          </a:p>
        </p:txBody>
      </p:sp>
      <p:sp>
        <p:nvSpPr>
          <p:cNvPr id="1262" name="TextBox 5"/>
          <p:cNvSpPr txBox="1"/>
          <p:nvPr/>
        </p:nvSpPr>
        <p:spPr>
          <a:xfrm>
            <a:off x="4453128" y="1307591"/>
            <a:ext cx="329185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32104">
              <a:defRPr b="1" sz="1092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263" name="TextBox 6"/>
          <p:cNvSpPr txBox="1"/>
          <p:nvPr/>
        </p:nvSpPr>
        <p:spPr>
          <a:xfrm>
            <a:off x="4983479" y="1280160"/>
            <a:ext cx="541324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67512">
              <a:defRPr b="1" sz="1095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CPU Limits - Cluster Average</a:t>
            </a:r>
          </a:p>
        </p:txBody>
      </p:sp>
      <p:sp>
        <p:nvSpPr>
          <p:cNvPr id="1264" name="TextBox 7"/>
          <p:cNvSpPr txBox="1"/>
          <p:nvPr/>
        </p:nvSpPr>
        <p:spPr>
          <a:xfrm>
            <a:off x="4983479" y="1554480"/>
            <a:ext cx="5413249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Which workload is hidden by the cluster average?</a:t>
            </a:r>
          </a:p>
        </p:txBody>
      </p:sp>
      <p:sp>
        <p:nvSpPr>
          <p:cNvPr id="1265" name="Rectangle 8"/>
          <p:cNvSpPr/>
          <p:nvPr/>
        </p:nvSpPr>
        <p:spPr>
          <a:xfrm>
            <a:off x="4407408" y="2002535"/>
            <a:ext cx="6035041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6" name="TextBox 9"/>
          <p:cNvSpPr txBox="1"/>
          <p:nvPr/>
        </p:nvSpPr>
        <p:spPr>
          <a:xfrm>
            <a:off x="4453128" y="2093976"/>
            <a:ext cx="329185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32104">
              <a:defRPr b="1" sz="1092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267" name="TextBox 10"/>
          <p:cNvSpPr txBox="1"/>
          <p:nvPr/>
        </p:nvSpPr>
        <p:spPr>
          <a:xfrm>
            <a:off x="4983479" y="2066544"/>
            <a:ext cx="541324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67512">
              <a:defRPr b="1" sz="1095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Pod Restart Alert</a:t>
            </a:r>
          </a:p>
        </p:txBody>
      </p:sp>
      <p:sp>
        <p:nvSpPr>
          <p:cNvPr id="1268" name="TextBox 11"/>
          <p:cNvSpPr txBox="1"/>
          <p:nvPr/>
        </p:nvSpPr>
        <p:spPr>
          <a:xfrm>
            <a:off x="4983479" y="2340864"/>
            <a:ext cx="5413249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Did restarts happen recently, or only sometime in the past?</a:t>
            </a:r>
          </a:p>
        </p:txBody>
      </p:sp>
      <p:sp>
        <p:nvSpPr>
          <p:cNvPr id="1269" name="Rectangle 12"/>
          <p:cNvSpPr/>
          <p:nvPr/>
        </p:nvSpPr>
        <p:spPr>
          <a:xfrm>
            <a:off x="4407408" y="2788920"/>
            <a:ext cx="6035041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0" name="TextBox 13"/>
          <p:cNvSpPr txBox="1"/>
          <p:nvPr/>
        </p:nvSpPr>
        <p:spPr>
          <a:xfrm>
            <a:off x="4453128" y="2880360"/>
            <a:ext cx="329185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32104">
              <a:defRPr b="1" sz="1092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271" name="TextBox 14"/>
          <p:cNvSpPr txBox="1"/>
          <p:nvPr/>
        </p:nvSpPr>
        <p:spPr>
          <a:xfrm>
            <a:off x="4983479" y="2852927"/>
            <a:ext cx="541324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67512">
              <a:defRPr b="1" sz="1095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Memory Limits - Watching Changes</a:t>
            </a:r>
          </a:p>
        </p:txBody>
      </p:sp>
      <p:sp>
        <p:nvSpPr>
          <p:cNvPr id="1272" name="TextBox 15"/>
          <p:cNvSpPr txBox="1"/>
          <p:nvPr/>
        </p:nvSpPr>
        <p:spPr>
          <a:xfrm>
            <a:off x="4983479" y="3127248"/>
            <a:ext cx="5413249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Is the metric changing, or is the query forcing it to look dynamic?</a:t>
            </a:r>
          </a:p>
        </p:txBody>
      </p:sp>
      <p:sp>
        <p:nvSpPr>
          <p:cNvPr id="1273" name="Rectangle 16"/>
          <p:cNvSpPr/>
          <p:nvPr/>
        </p:nvSpPr>
        <p:spPr>
          <a:xfrm>
            <a:off x="4407408" y="3575303"/>
            <a:ext cx="6035041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4" name="TextBox 17"/>
          <p:cNvSpPr txBox="1"/>
          <p:nvPr/>
        </p:nvSpPr>
        <p:spPr>
          <a:xfrm>
            <a:off x="4453128" y="3666744"/>
            <a:ext cx="329185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32104">
              <a:defRPr b="1" sz="1092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275" name="TextBox 18"/>
          <p:cNvSpPr txBox="1"/>
          <p:nvPr/>
        </p:nvSpPr>
        <p:spPr>
          <a:xfrm>
            <a:off x="4983479" y="3639311"/>
            <a:ext cx="541324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67512">
              <a:defRPr b="1" sz="1095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Pod Count - Static Check</a:t>
            </a:r>
          </a:p>
        </p:txBody>
      </p:sp>
      <p:sp>
        <p:nvSpPr>
          <p:cNvPr id="1276" name="TextBox 19"/>
          <p:cNvSpPr txBox="1"/>
          <p:nvPr/>
        </p:nvSpPr>
        <p:spPr>
          <a:xfrm>
            <a:off x="4983479" y="3913632"/>
            <a:ext cx="5413249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96111">
              <a:defRPr sz="1372"/>
            </a:lvl1pPr>
          </a:lstStyle>
          <a:p>
            <a:pPr/>
            <a:r>
              <a:t>Which number represents healthy capacity versus actual readiness?</a:t>
            </a:r>
          </a:p>
        </p:txBody>
      </p:sp>
      <p:sp>
        <p:nvSpPr>
          <p:cNvPr id="1277" name="Rectangle 20"/>
          <p:cNvSpPr/>
          <p:nvPr/>
        </p:nvSpPr>
        <p:spPr>
          <a:xfrm>
            <a:off x="4407408" y="4361688"/>
            <a:ext cx="6035041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8" name="TextBox 21"/>
          <p:cNvSpPr txBox="1"/>
          <p:nvPr/>
        </p:nvSpPr>
        <p:spPr>
          <a:xfrm>
            <a:off x="4453128" y="4453128"/>
            <a:ext cx="329185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32104">
              <a:defRPr b="1" sz="1092">
                <a:solidFill>
                  <a:srgbClr val="007EC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279" name="TextBox 22"/>
          <p:cNvSpPr txBox="1"/>
          <p:nvPr/>
        </p:nvSpPr>
        <p:spPr>
          <a:xfrm>
            <a:off x="4983479" y="4425696"/>
            <a:ext cx="541324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67512">
              <a:defRPr b="1" sz="1095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CrashLoop Silent Monitor</a:t>
            </a:r>
          </a:p>
        </p:txBody>
      </p:sp>
      <p:sp>
        <p:nvSpPr>
          <p:cNvPr id="1280" name="TextBox 23"/>
          <p:cNvSpPr txBox="1"/>
          <p:nvPr/>
        </p:nvSpPr>
        <p:spPr>
          <a:xfrm>
            <a:off x="4983479" y="4700015"/>
            <a:ext cx="5413249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Why can a broken pod stay silent during monitor evaluation?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Title 1"/>
          <p:cNvSpPr txBox="1"/>
          <p:nvPr>
            <p:ph type="title"/>
          </p:nvPr>
        </p:nvSpPr>
        <p:spPr>
          <a:xfrm>
            <a:off x="695322" y="4395789"/>
            <a:ext cx="10795004" cy="1881186"/>
          </a:xfrm>
          <a:prstGeom prst="rect">
            <a:avLst/>
          </a:prstGeom>
        </p:spPr>
        <p:txBody>
          <a:bodyPr anchor="t"/>
          <a:lstStyle>
            <a:lvl1pPr>
              <a:defRPr sz="30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Day 2 takeaway: group by the thing someone can fix.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Title 1"/>
          <p:cNvSpPr txBox="1"/>
          <p:nvPr>
            <p:ph type="title"/>
          </p:nvPr>
        </p:nvSpPr>
        <p:spPr>
          <a:xfrm>
            <a:off x="695084" y="695325"/>
            <a:ext cx="10773018" cy="1244600"/>
          </a:xfrm>
          <a:prstGeom prst="rect">
            <a:avLst/>
          </a:prstGeom>
        </p:spPr>
        <p:txBody>
          <a:bodyPr/>
          <a:lstStyle/>
          <a:p>
            <a:pPr>
              <a:defRPr sz="3800">
                <a:latin typeface="Aptos"/>
                <a:ea typeface="Aptos"/>
                <a:cs typeface="Aptos"/>
                <a:sym typeface="Aptos"/>
              </a:defRPr>
            </a:pPr>
            <a:r>
              <a:t>DAY 3</a:t>
            </a:r>
          </a:p>
          <a:p>
            <a:pPr>
              <a:defRPr sz="3800">
                <a:latin typeface="Aptos"/>
                <a:ea typeface="Aptos"/>
                <a:cs typeface="Aptos"/>
                <a:sym typeface="Aptos"/>
              </a:defRPr>
            </a:pPr>
            <a:r>
              <a:t>DBM: The Silent Database Killer</a:t>
            </a:r>
          </a:p>
        </p:txBody>
      </p:sp>
      <p:sp>
        <p:nvSpPr>
          <p:cNvPr id="1285" name="Subtitle 2"/>
          <p:cNvSpPr txBox="1"/>
          <p:nvPr>
            <p:ph type="body" sz="quarter" idx="1"/>
          </p:nvPr>
        </p:nvSpPr>
        <p:spPr>
          <a:xfrm>
            <a:off x="695084" y="2077085"/>
            <a:ext cx="10773018" cy="1107440"/>
          </a:xfrm>
          <a:prstGeom prst="rect">
            <a:avLst/>
          </a:prstGeom>
        </p:spPr>
        <p:txBody>
          <a:bodyPr/>
          <a:lstStyle>
            <a:lvl1pPr>
              <a:defRPr sz="21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database can be burning because of growth, spikes, or one query hidden inside an average.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Title 1"/>
          <p:cNvSpPr txBox="1"/>
          <p:nvPr>
            <p:ph type="title"/>
          </p:nvPr>
        </p:nvSpPr>
        <p:spPr>
          <a:xfrm>
            <a:off x="695322" y="357808"/>
            <a:ext cx="10795004" cy="8683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Show the query, not just the host</a:t>
            </a:r>
          </a:p>
        </p:txBody>
      </p:sp>
      <p:pic>
        <p:nvPicPr>
          <p:cNvPr id="128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21234" y="1234439"/>
            <a:ext cx="8181893" cy="44805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Thresholds need context</a:t>
            </a:r>
          </a:p>
        </p:txBody>
      </p:sp>
      <p:sp>
        <p:nvSpPr>
          <p:cNvPr id="1291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The trap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database_size &gt; 1MB is always true.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An always-red monitor stops being a signal.</a:t>
            </a:r>
          </a:p>
        </p:txBody>
      </p:sp>
      <p:sp>
        <p:nvSpPr>
          <p:cNvPr id="1292" name="TextBox 4"/>
          <p:cNvSpPr txBox="1"/>
          <p:nvPr/>
        </p:nvSpPr>
        <p:spPr>
          <a:xfrm>
            <a:off x="4416552" y="749808"/>
            <a:ext cx="612648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100">
                <a:solidFill>
                  <a:srgbClr val="D648A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Better monitor instinct</a:t>
            </a:r>
          </a:p>
        </p:txBody>
      </p:sp>
      <p:sp>
        <p:nvSpPr>
          <p:cNvPr id="1293" name="TextBox 5"/>
          <p:cNvSpPr txBox="1"/>
          <p:nvPr/>
        </p:nvSpPr>
        <p:spPr>
          <a:xfrm>
            <a:off x="4453128" y="1261872"/>
            <a:ext cx="5943601" cy="1645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Monitor growth, percent change, or sudden movement.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Segment by db so the alert names the database.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 static thresholds only when the absolute value means action.</a:t>
            </a:r>
          </a:p>
        </p:txBody>
      </p:sp>
      <p:sp>
        <p:nvSpPr>
          <p:cNvPr id="1294" name="Rectangle 6"/>
          <p:cNvSpPr/>
          <p:nvPr/>
        </p:nvSpPr>
        <p:spPr>
          <a:xfrm>
            <a:off x="4389120" y="3154679"/>
            <a:ext cx="5715001" cy="2148841"/>
          </a:xfrm>
          <a:prstGeom prst="rect">
            <a:avLst/>
          </a:prstGeom>
          <a:solidFill>
            <a:srgbClr val="FBFAFF"/>
          </a:solidFill>
          <a:ln w="12700">
            <a:solidFill>
              <a:srgbClr val="D6CF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5" name="Rectangle 7"/>
          <p:cNvSpPr/>
          <p:nvPr/>
        </p:nvSpPr>
        <p:spPr>
          <a:xfrm>
            <a:off x="4709159" y="4892040"/>
            <a:ext cx="5074921" cy="38101"/>
          </a:xfrm>
          <a:prstGeom prst="rect">
            <a:avLst/>
          </a:prstGeom>
          <a:solidFill>
            <a:srgbClr val="DCD8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6" name="Rectangle 8"/>
          <p:cNvSpPr/>
          <p:nvPr/>
        </p:nvSpPr>
        <p:spPr>
          <a:xfrm>
            <a:off x="4709159" y="3474720"/>
            <a:ext cx="25401" cy="1417321"/>
          </a:xfrm>
          <a:prstGeom prst="rect">
            <a:avLst/>
          </a:prstGeom>
          <a:solidFill>
            <a:srgbClr val="DCD8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7" name="Connector 9"/>
          <p:cNvSpPr/>
          <p:nvPr/>
        </p:nvSpPr>
        <p:spPr>
          <a:xfrm flipV="1">
            <a:off x="5115152" y="4378148"/>
            <a:ext cx="608991" cy="58521"/>
          </a:xfrm>
          <a:prstGeom prst="line">
            <a:avLst/>
          </a:prstGeom>
          <a:ln w="27940">
            <a:solidFill>
              <a:srgbClr val="D648A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298" name="Connector 10"/>
          <p:cNvSpPr/>
          <p:nvPr/>
        </p:nvSpPr>
        <p:spPr>
          <a:xfrm flipV="1">
            <a:off x="5724143" y="4334256"/>
            <a:ext cx="558242" cy="43892"/>
          </a:xfrm>
          <a:prstGeom prst="line">
            <a:avLst/>
          </a:prstGeom>
          <a:ln w="27940">
            <a:solidFill>
              <a:srgbClr val="D648A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299" name="Connector 11"/>
          <p:cNvSpPr/>
          <p:nvPr/>
        </p:nvSpPr>
        <p:spPr>
          <a:xfrm flipV="1">
            <a:off x="6282385" y="3646626"/>
            <a:ext cx="355245" cy="687629"/>
          </a:xfrm>
          <a:prstGeom prst="line">
            <a:avLst/>
          </a:prstGeom>
          <a:ln w="27940">
            <a:solidFill>
              <a:srgbClr val="D648A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00" name="Connector 12"/>
          <p:cNvSpPr/>
          <p:nvPr/>
        </p:nvSpPr>
        <p:spPr>
          <a:xfrm>
            <a:off x="6637628" y="3646627"/>
            <a:ext cx="304496" cy="760780"/>
          </a:xfrm>
          <a:prstGeom prst="line">
            <a:avLst/>
          </a:prstGeom>
          <a:ln w="27940">
            <a:solidFill>
              <a:srgbClr val="D648A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01" name="Connector 13"/>
          <p:cNvSpPr/>
          <p:nvPr/>
        </p:nvSpPr>
        <p:spPr>
          <a:xfrm flipV="1">
            <a:off x="6942124" y="4363515"/>
            <a:ext cx="710489" cy="43892"/>
          </a:xfrm>
          <a:prstGeom prst="line">
            <a:avLst/>
          </a:prstGeom>
          <a:ln w="27940">
            <a:solidFill>
              <a:srgbClr val="D648A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02" name="Connector 14"/>
          <p:cNvSpPr/>
          <p:nvPr/>
        </p:nvSpPr>
        <p:spPr>
          <a:xfrm flipV="1">
            <a:off x="7652612" y="4319625"/>
            <a:ext cx="710489" cy="43892"/>
          </a:xfrm>
          <a:prstGeom prst="line">
            <a:avLst/>
          </a:prstGeom>
          <a:ln w="27940">
            <a:solidFill>
              <a:srgbClr val="D648A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03" name="Connector 15"/>
          <p:cNvSpPr/>
          <p:nvPr/>
        </p:nvSpPr>
        <p:spPr>
          <a:xfrm>
            <a:off x="8363101" y="4319624"/>
            <a:ext cx="913486" cy="58521"/>
          </a:xfrm>
          <a:prstGeom prst="line">
            <a:avLst/>
          </a:prstGeom>
          <a:ln w="27940">
            <a:solidFill>
              <a:srgbClr val="D648A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04" name="Connector 16"/>
          <p:cNvSpPr/>
          <p:nvPr/>
        </p:nvSpPr>
        <p:spPr>
          <a:xfrm flipV="1">
            <a:off x="5115152" y="4261103"/>
            <a:ext cx="811988" cy="29261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05" name="Connector 17"/>
          <p:cNvSpPr/>
          <p:nvPr/>
        </p:nvSpPr>
        <p:spPr>
          <a:xfrm flipV="1">
            <a:off x="5927140" y="4202582"/>
            <a:ext cx="811988" cy="58521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06" name="Connector 18"/>
          <p:cNvSpPr/>
          <p:nvPr/>
        </p:nvSpPr>
        <p:spPr>
          <a:xfrm>
            <a:off x="6739127" y="4202581"/>
            <a:ext cx="913487" cy="43892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07" name="Connector 19"/>
          <p:cNvSpPr/>
          <p:nvPr/>
        </p:nvSpPr>
        <p:spPr>
          <a:xfrm>
            <a:off x="7652612" y="4246473"/>
            <a:ext cx="1014985" cy="29261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08" name="Connector 20"/>
          <p:cNvSpPr/>
          <p:nvPr/>
        </p:nvSpPr>
        <p:spPr>
          <a:xfrm>
            <a:off x="8667597" y="4275734"/>
            <a:ext cx="608991" cy="14630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09" name="TextBox 21"/>
          <p:cNvSpPr txBox="1"/>
          <p:nvPr/>
        </p:nvSpPr>
        <p:spPr>
          <a:xfrm>
            <a:off x="4892040" y="3300984"/>
            <a:ext cx="82296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722376">
              <a:defRPr b="1" sz="711">
                <a:solidFill>
                  <a:srgbClr val="D648A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raw signal</a:t>
            </a:r>
          </a:p>
        </p:txBody>
      </p:sp>
      <p:sp>
        <p:nvSpPr>
          <p:cNvPr id="1310" name="TextBox 22"/>
          <p:cNvSpPr txBox="1"/>
          <p:nvPr/>
        </p:nvSpPr>
        <p:spPr>
          <a:xfrm>
            <a:off x="9006839" y="3300984"/>
            <a:ext cx="73152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722376">
              <a:defRPr b="1" sz="711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10m avg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Spikes matter in databases too</a:t>
            </a:r>
          </a:p>
        </p:txBody>
      </p:sp>
      <p:sp>
        <p:nvSpPr>
          <p:cNvPr id="1313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Same pattern as Day 1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avg sessions can hide connection floods.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The peak is the risk when capacity is finite.</a:t>
            </a:r>
          </a:p>
        </p:txBody>
      </p:sp>
      <p:sp>
        <p:nvSpPr>
          <p:cNvPr id="1314" name="TextBox 4"/>
          <p:cNvSpPr txBox="1"/>
          <p:nvPr/>
        </p:nvSpPr>
        <p:spPr>
          <a:xfrm>
            <a:off x="4416552" y="749808"/>
            <a:ext cx="612648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100">
                <a:solidFill>
                  <a:srgbClr val="D648A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Better monitor instinct</a:t>
            </a:r>
          </a:p>
        </p:txBody>
      </p:sp>
      <p:sp>
        <p:nvSpPr>
          <p:cNvPr id="1315" name="TextBox 5"/>
          <p:cNvSpPr txBox="1"/>
          <p:nvPr/>
        </p:nvSpPr>
        <p:spPr>
          <a:xfrm>
            <a:off x="4453128" y="1261872"/>
            <a:ext cx="5943601" cy="1645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 max when saturation is the failure mode.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Group by state to explain connection pool behavior.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 DBM samples for query-level investigation.</a:t>
            </a:r>
          </a:p>
        </p:txBody>
      </p:sp>
      <p:sp>
        <p:nvSpPr>
          <p:cNvPr id="1316" name="Rectangle 6"/>
          <p:cNvSpPr/>
          <p:nvPr/>
        </p:nvSpPr>
        <p:spPr>
          <a:xfrm>
            <a:off x="4389120" y="3154679"/>
            <a:ext cx="5715001" cy="2148841"/>
          </a:xfrm>
          <a:prstGeom prst="rect">
            <a:avLst/>
          </a:prstGeom>
          <a:solidFill>
            <a:srgbClr val="FBFAFF"/>
          </a:solidFill>
          <a:ln w="12700">
            <a:solidFill>
              <a:srgbClr val="D6CF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7" name="Rectangle 7"/>
          <p:cNvSpPr/>
          <p:nvPr/>
        </p:nvSpPr>
        <p:spPr>
          <a:xfrm>
            <a:off x="4709159" y="4892040"/>
            <a:ext cx="5074921" cy="38101"/>
          </a:xfrm>
          <a:prstGeom prst="rect">
            <a:avLst/>
          </a:prstGeom>
          <a:solidFill>
            <a:srgbClr val="DCD8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8" name="Rectangle 8"/>
          <p:cNvSpPr/>
          <p:nvPr/>
        </p:nvSpPr>
        <p:spPr>
          <a:xfrm>
            <a:off x="4709159" y="3474720"/>
            <a:ext cx="25401" cy="1417321"/>
          </a:xfrm>
          <a:prstGeom prst="rect">
            <a:avLst/>
          </a:prstGeom>
          <a:solidFill>
            <a:srgbClr val="DCD8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9" name="Connector 9"/>
          <p:cNvSpPr/>
          <p:nvPr/>
        </p:nvSpPr>
        <p:spPr>
          <a:xfrm flipV="1">
            <a:off x="5115152" y="4378148"/>
            <a:ext cx="608991" cy="58521"/>
          </a:xfrm>
          <a:prstGeom prst="line">
            <a:avLst/>
          </a:prstGeom>
          <a:ln w="27940">
            <a:solidFill>
              <a:srgbClr val="D648A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20" name="Connector 10"/>
          <p:cNvSpPr/>
          <p:nvPr/>
        </p:nvSpPr>
        <p:spPr>
          <a:xfrm flipV="1">
            <a:off x="5724143" y="4334256"/>
            <a:ext cx="558242" cy="43892"/>
          </a:xfrm>
          <a:prstGeom prst="line">
            <a:avLst/>
          </a:prstGeom>
          <a:ln w="27940">
            <a:solidFill>
              <a:srgbClr val="D648A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21" name="Connector 11"/>
          <p:cNvSpPr/>
          <p:nvPr/>
        </p:nvSpPr>
        <p:spPr>
          <a:xfrm flipV="1">
            <a:off x="6282385" y="3646626"/>
            <a:ext cx="355245" cy="687629"/>
          </a:xfrm>
          <a:prstGeom prst="line">
            <a:avLst/>
          </a:prstGeom>
          <a:ln w="27940">
            <a:solidFill>
              <a:srgbClr val="D648A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22" name="Connector 12"/>
          <p:cNvSpPr/>
          <p:nvPr/>
        </p:nvSpPr>
        <p:spPr>
          <a:xfrm>
            <a:off x="6637628" y="3646627"/>
            <a:ext cx="304496" cy="760780"/>
          </a:xfrm>
          <a:prstGeom prst="line">
            <a:avLst/>
          </a:prstGeom>
          <a:ln w="27940">
            <a:solidFill>
              <a:srgbClr val="D648A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23" name="Connector 13"/>
          <p:cNvSpPr/>
          <p:nvPr/>
        </p:nvSpPr>
        <p:spPr>
          <a:xfrm flipV="1">
            <a:off x="6942124" y="4363515"/>
            <a:ext cx="710489" cy="43892"/>
          </a:xfrm>
          <a:prstGeom prst="line">
            <a:avLst/>
          </a:prstGeom>
          <a:ln w="27940">
            <a:solidFill>
              <a:srgbClr val="D648A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24" name="Connector 14"/>
          <p:cNvSpPr/>
          <p:nvPr/>
        </p:nvSpPr>
        <p:spPr>
          <a:xfrm flipV="1">
            <a:off x="7652612" y="4319625"/>
            <a:ext cx="710489" cy="43892"/>
          </a:xfrm>
          <a:prstGeom prst="line">
            <a:avLst/>
          </a:prstGeom>
          <a:ln w="27940">
            <a:solidFill>
              <a:srgbClr val="D648A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25" name="Connector 15"/>
          <p:cNvSpPr/>
          <p:nvPr/>
        </p:nvSpPr>
        <p:spPr>
          <a:xfrm>
            <a:off x="8363101" y="4319624"/>
            <a:ext cx="913486" cy="58521"/>
          </a:xfrm>
          <a:prstGeom prst="line">
            <a:avLst/>
          </a:prstGeom>
          <a:ln w="27940">
            <a:solidFill>
              <a:srgbClr val="D648A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26" name="Connector 16"/>
          <p:cNvSpPr/>
          <p:nvPr/>
        </p:nvSpPr>
        <p:spPr>
          <a:xfrm flipV="1">
            <a:off x="5115152" y="4261103"/>
            <a:ext cx="811988" cy="29261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27" name="Connector 17"/>
          <p:cNvSpPr/>
          <p:nvPr/>
        </p:nvSpPr>
        <p:spPr>
          <a:xfrm flipV="1">
            <a:off x="5927140" y="4202582"/>
            <a:ext cx="811988" cy="58521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28" name="Connector 18"/>
          <p:cNvSpPr/>
          <p:nvPr/>
        </p:nvSpPr>
        <p:spPr>
          <a:xfrm>
            <a:off x="6739127" y="4202581"/>
            <a:ext cx="913487" cy="43892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29" name="Connector 19"/>
          <p:cNvSpPr/>
          <p:nvPr/>
        </p:nvSpPr>
        <p:spPr>
          <a:xfrm>
            <a:off x="7652612" y="4246473"/>
            <a:ext cx="1014985" cy="29261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30" name="Connector 20"/>
          <p:cNvSpPr/>
          <p:nvPr/>
        </p:nvSpPr>
        <p:spPr>
          <a:xfrm>
            <a:off x="8667597" y="4275734"/>
            <a:ext cx="608991" cy="14630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31" name="TextBox 21"/>
          <p:cNvSpPr txBox="1"/>
          <p:nvPr/>
        </p:nvSpPr>
        <p:spPr>
          <a:xfrm>
            <a:off x="4892040" y="3300984"/>
            <a:ext cx="82296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722376">
              <a:defRPr b="1" sz="711">
                <a:solidFill>
                  <a:srgbClr val="D648A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raw signal</a:t>
            </a:r>
          </a:p>
        </p:txBody>
      </p:sp>
      <p:sp>
        <p:nvSpPr>
          <p:cNvPr id="1332" name="TextBox 22"/>
          <p:cNvSpPr txBox="1"/>
          <p:nvPr/>
        </p:nvSpPr>
        <p:spPr>
          <a:xfrm>
            <a:off x="9006839" y="3300984"/>
            <a:ext cx="73152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722376">
              <a:defRPr b="1" sz="711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10m avg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alert message is part of the fix</a:t>
            </a:r>
          </a:p>
        </p:txBody>
      </p:sp>
      <p:sp>
        <p:nvSpPr>
          <p:cNvPr id="1335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Bad page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Too many connections!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@slack-dba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No value, no state, no next step.</a:t>
            </a:r>
          </a:p>
        </p:txBody>
      </p:sp>
      <p:sp>
        <p:nvSpPr>
          <p:cNvPr id="1336" name="TextBox 4"/>
          <p:cNvSpPr txBox="1"/>
          <p:nvPr/>
        </p:nvSpPr>
        <p:spPr>
          <a:xfrm>
            <a:off x="4416552" y="749808"/>
            <a:ext cx="612648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100">
                <a:solidFill>
                  <a:srgbClr val="D648A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Good page</a:t>
            </a:r>
          </a:p>
        </p:txBody>
      </p:sp>
      <p:sp>
        <p:nvSpPr>
          <p:cNvPr id="1337" name="TextBox 5"/>
          <p:cNvSpPr txBox="1"/>
          <p:nvPr/>
        </p:nvSpPr>
        <p:spPr>
          <a:xfrm>
            <a:off x="4453128" y="1261872"/>
            <a:ext cx="5943601" cy="1645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Name current value and threshold.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Show likely impact and state.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Give the first query or dashboard to check.</a:t>
            </a:r>
          </a:p>
        </p:txBody>
      </p:sp>
      <p:sp>
        <p:nvSpPr>
          <p:cNvPr id="1338" name="Rounded Rectangle 6"/>
          <p:cNvSpPr/>
          <p:nvPr/>
        </p:nvSpPr>
        <p:spPr>
          <a:xfrm>
            <a:off x="4407408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D648A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9" name="TextBox 7"/>
          <p:cNvSpPr txBox="1"/>
          <p:nvPr/>
        </p:nvSpPr>
        <p:spPr>
          <a:xfrm>
            <a:off x="4526279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D648A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Metric</a:t>
            </a:r>
          </a:p>
        </p:txBody>
      </p:sp>
      <p:sp>
        <p:nvSpPr>
          <p:cNvPr id="1340" name="TextBox 8"/>
          <p:cNvSpPr txBox="1"/>
          <p:nvPr/>
        </p:nvSpPr>
        <p:spPr>
          <a:xfrm>
            <a:off x="4526279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raw signal</a:t>
            </a:r>
          </a:p>
        </p:txBody>
      </p:sp>
      <p:sp>
        <p:nvSpPr>
          <p:cNvPr id="1341" name="TextBox 9"/>
          <p:cNvSpPr txBox="1"/>
          <p:nvPr/>
        </p:nvSpPr>
        <p:spPr>
          <a:xfrm>
            <a:off x="5907023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D648A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342" name="Rounded Rectangle 10"/>
          <p:cNvSpPr/>
          <p:nvPr/>
        </p:nvSpPr>
        <p:spPr>
          <a:xfrm>
            <a:off x="6117335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D648A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3" name="TextBox 11"/>
          <p:cNvSpPr txBox="1"/>
          <p:nvPr/>
        </p:nvSpPr>
        <p:spPr>
          <a:xfrm>
            <a:off x="6236208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D648A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Aggregator</a:t>
            </a:r>
          </a:p>
        </p:txBody>
      </p:sp>
      <p:sp>
        <p:nvSpPr>
          <p:cNvPr id="1344" name="TextBox 12"/>
          <p:cNvSpPr txBox="1"/>
          <p:nvPr/>
        </p:nvSpPr>
        <p:spPr>
          <a:xfrm>
            <a:off x="6236208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time + space</a:t>
            </a:r>
          </a:p>
        </p:txBody>
      </p:sp>
      <p:sp>
        <p:nvSpPr>
          <p:cNvPr id="1345" name="TextBox 13"/>
          <p:cNvSpPr txBox="1"/>
          <p:nvPr/>
        </p:nvSpPr>
        <p:spPr>
          <a:xfrm>
            <a:off x="7616951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D648A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346" name="Rounded Rectangle 14"/>
          <p:cNvSpPr/>
          <p:nvPr/>
        </p:nvSpPr>
        <p:spPr>
          <a:xfrm>
            <a:off x="7827264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D648A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7" name="TextBox 15"/>
          <p:cNvSpPr txBox="1"/>
          <p:nvPr/>
        </p:nvSpPr>
        <p:spPr>
          <a:xfrm>
            <a:off x="7946135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D648A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Group</a:t>
            </a:r>
          </a:p>
        </p:txBody>
      </p:sp>
      <p:sp>
        <p:nvSpPr>
          <p:cNvPr id="1348" name="TextBox 16"/>
          <p:cNvSpPr txBox="1"/>
          <p:nvPr/>
        </p:nvSpPr>
        <p:spPr>
          <a:xfrm>
            <a:off x="7946135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owner</a:t>
            </a:r>
          </a:p>
        </p:txBody>
      </p:sp>
      <p:sp>
        <p:nvSpPr>
          <p:cNvPr id="1349" name="TextBox 17"/>
          <p:cNvSpPr txBox="1"/>
          <p:nvPr/>
        </p:nvSpPr>
        <p:spPr>
          <a:xfrm>
            <a:off x="9326879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D648A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350" name="Rounded Rectangle 18"/>
          <p:cNvSpPr/>
          <p:nvPr/>
        </p:nvSpPr>
        <p:spPr>
          <a:xfrm>
            <a:off x="9537192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D648A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1" name="TextBox 19"/>
          <p:cNvSpPr txBox="1"/>
          <p:nvPr/>
        </p:nvSpPr>
        <p:spPr>
          <a:xfrm>
            <a:off x="9656063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D648A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Threshold</a:t>
            </a:r>
          </a:p>
        </p:txBody>
      </p:sp>
      <p:sp>
        <p:nvSpPr>
          <p:cNvPr id="1352" name="TextBox 20"/>
          <p:cNvSpPr txBox="1"/>
          <p:nvPr/>
        </p:nvSpPr>
        <p:spPr>
          <a:xfrm>
            <a:off x="9656063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>
              <a:defRPr sz="25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Lab missions</a:t>
            </a:r>
          </a:p>
        </p:txBody>
      </p:sp>
      <p:sp>
        <p:nvSpPr>
          <p:cNvPr id="1355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defRPr b="1" sz="1500">
                <a:latin typeface="+mj-lt"/>
                <a:ea typeface="+mj-ea"/>
                <a:cs typeface="+mj-cs"/>
                <a:sym typeface="Arial"/>
              </a:defRPr>
            </a:pPr>
            <a:r>
              <a:t>The rule</a:t>
            </a: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Bring evidence, one rejected hypothesis, and two possible fixes.</a:t>
            </a: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The slide gives the case and the question.</a:t>
            </a: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The final answer stays for the live discussion.</a:t>
            </a:r>
          </a:p>
        </p:txBody>
      </p:sp>
      <p:sp>
        <p:nvSpPr>
          <p:cNvPr id="1356" name="TextBox 4"/>
          <p:cNvSpPr txBox="1"/>
          <p:nvPr/>
        </p:nvSpPr>
        <p:spPr>
          <a:xfrm>
            <a:off x="4416551" y="749808"/>
            <a:ext cx="6217921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50391">
              <a:defRPr b="1" sz="1953">
                <a:solidFill>
                  <a:srgbClr val="D648A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Day 3 lab: DBM monitor traps</a:t>
            </a:r>
          </a:p>
        </p:txBody>
      </p:sp>
      <p:sp>
        <p:nvSpPr>
          <p:cNvPr id="1357" name="TextBox 5"/>
          <p:cNvSpPr txBox="1"/>
          <p:nvPr/>
        </p:nvSpPr>
        <p:spPr>
          <a:xfrm>
            <a:off x="4453128" y="1307591"/>
            <a:ext cx="329185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32104">
              <a:defRPr b="1" sz="1092">
                <a:solidFill>
                  <a:srgbClr val="D648A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358" name="TextBox 6"/>
          <p:cNvSpPr txBox="1"/>
          <p:nvPr/>
        </p:nvSpPr>
        <p:spPr>
          <a:xfrm>
            <a:off x="4983479" y="1280160"/>
            <a:ext cx="541324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67512">
              <a:defRPr b="1" sz="1095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DB Size - Always Alerting</a:t>
            </a:r>
          </a:p>
        </p:txBody>
      </p:sp>
      <p:sp>
        <p:nvSpPr>
          <p:cNvPr id="1359" name="TextBox 7"/>
          <p:cNvSpPr txBox="1"/>
          <p:nvPr/>
        </p:nvSpPr>
        <p:spPr>
          <a:xfrm>
            <a:off x="4983479" y="1554480"/>
            <a:ext cx="5413249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Is size itself the problem, or the way it is changing?</a:t>
            </a:r>
          </a:p>
        </p:txBody>
      </p:sp>
      <p:sp>
        <p:nvSpPr>
          <p:cNvPr id="1360" name="Rectangle 8"/>
          <p:cNvSpPr/>
          <p:nvPr/>
        </p:nvSpPr>
        <p:spPr>
          <a:xfrm>
            <a:off x="4407408" y="2002535"/>
            <a:ext cx="6035041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1" name="TextBox 9"/>
          <p:cNvSpPr txBox="1"/>
          <p:nvPr/>
        </p:nvSpPr>
        <p:spPr>
          <a:xfrm>
            <a:off x="4453128" y="2093976"/>
            <a:ext cx="329185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32104">
              <a:defRPr b="1" sz="1092">
                <a:solidFill>
                  <a:srgbClr val="D648A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362" name="TextBox 10"/>
          <p:cNvSpPr txBox="1"/>
          <p:nvPr/>
        </p:nvSpPr>
        <p:spPr>
          <a:xfrm>
            <a:off x="4983479" y="2066544"/>
            <a:ext cx="541324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67512">
              <a:defRPr b="1" sz="1095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DB Session Spikes</a:t>
            </a:r>
          </a:p>
        </p:txBody>
      </p:sp>
      <p:sp>
        <p:nvSpPr>
          <p:cNvPr id="1363" name="TextBox 11"/>
          <p:cNvSpPr txBox="1"/>
          <p:nvPr/>
        </p:nvSpPr>
        <p:spPr>
          <a:xfrm>
            <a:off x="4983479" y="2340864"/>
            <a:ext cx="5413249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Are short database bursts visible in the monitor view?</a:t>
            </a:r>
          </a:p>
        </p:txBody>
      </p:sp>
      <p:sp>
        <p:nvSpPr>
          <p:cNvPr id="1364" name="Rectangle 12"/>
          <p:cNvSpPr/>
          <p:nvPr/>
        </p:nvSpPr>
        <p:spPr>
          <a:xfrm>
            <a:off x="4407408" y="2788920"/>
            <a:ext cx="6035041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5" name="TextBox 13"/>
          <p:cNvSpPr txBox="1"/>
          <p:nvPr/>
        </p:nvSpPr>
        <p:spPr>
          <a:xfrm>
            <a:off x="4453128" y="2880360"/>
            <a:ext cx="329185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32104">
              <a:defRPr b="1" sz="1092">
                <a:solidFill>
                  <a:srgbClr val="D648A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366" name="TextBox 14"/>
          <p:cNvSpPr txBox="1"/>
          <p:nvPr/>
        </p:nvSpPr>
        <p:spPr>
          <a:xfrm>
            <a:off x="4983479" y="2852927"/>
            <a:ext cx="541324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67512">
              <a:defRPr b="1" sz="1095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DB Row Volume</a:t>
            </a:r>
          </a:p>
        </p:txBody>
      </p:sp>
      <p:sp>
        <p:nvSpPr>
          <p:cNvPr id="1367" name="TextBox 15"/>
          <p:cNvSpPr txBox="1"/>
          <p:nvPr/>
        </p:nvSpPr>
        <p:spPr>
          <a:xfrm>
            <a:off x="4983479" y="3127248"/>
            <a:ext cx="5413249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Which database or workload owns the volume?</a:t>
            </a:r>
          </a:p>
        </p:txBody>
      </p:sp>
      <p:sp>
        <p:nvSpPr>
          <p:cNvPr id="1368" name="Rectangle 16"/>
          <p:cNvSpPr/>
          <p:nvPr/>
        </p:nvSpPr>
        <p:spPr>
          <a:xfrm>
            <a:off x="4407408" y="3575303"/>
            <a:ext cx="6035041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9" name="TextBox 17"/>
          <p:cNvSpPr txBox="1"/>
          <p:nvPr/>
        </p:nvSpPr>
        <p:spPr>
          <a:xfrm>
            <a:off x="4453128" y="3666744"/>
            <a:ext cx="329185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32104">
              <a:defRPr b="1" sz="1092">
                <a:solidFill>
                  <a:srgbClr val="D648A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370" name="TextBox 18"/>
          <p:cNvSpPr txBox="1"/>
          <p:nvPr/>
        </p:nvSpPr>
        <p:spPr>
          <a:xfrm>
            <a:off x="4983479" y="3639311"/>
            <a:ext cx="541324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67512">
              <a:defRPr b="1" sz="1095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DB Connections</a:t>
            </a:r>
          </a:p>
        </p:txBody>
      </p:sp>
      <p:sp>
        <p:nvSpPr>
          <p:cNvPr id="1371" name="TextBox 19"/>
          <p:cNvSpPr txBox="1"/>
          <p:nvPr/>
        </p:nvSpPr>
        <p:spPr>
          <a:xfrm>
            <a:off x="4983479" y="3913632"/>
            <a:ext cx="5413249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Would this page tell a DBA what to check first?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Title 1"/>
          <p:cNvSpPr txBox="1"/>
          <p:nvPr>
            <p:ph type="title"/>
          </p:nvPr>
        </p:nvSpPr>
        <p:spPr>
          <a:xfrm>
            <a:off x="695322" y="4395789"/>
            <a:ext cx="10795004" cy="1881186"/>
          </a:xfrm>
          <a:prstGeom prst="rect">
            <a:avLst/>
          </a:prstGeom>
        </p:spPr>
        <p:txBody>
          <a:bodyPr anchor="t"/>
          <a:lstStyle>
            <a:lvl1pPr>
              <a:defRPr sz="30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Day 3 takeaway: if the monitor wakes someone up, the message should already start the investigation.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Title 1"/>
          <p:cNvSpPr txBox="1"/>
          <p:nvPr>
            <p:ph type="title"/>
          </p:nvPr>
        </p:nvSpPr>
        <p:spPr>
          <a:xfrm>
            <a:off x="695084" y="695325"/>
            <a:ext cx="10773018" cy="1244600"/>
          </a:xfrm>
          <a:prstGeom prst="rect">
            <a:avLst/>
          </a:prstGeom>
        </p:spPr>
        <p:txBody>
          <a:bodyPr/>
          <a:lstStyle/>
          <a:p>
            <a:pPr>
              <a:defRPr sz="3800">
                <a:latin typeface="Aptos"/>
                <a:ea typeface="Aptos"/>
                <a:cs typeface="Aptos"/>
                <a:sym typeface="Aptos"/>
              </a:defRPr>
            </a:pPr>
            <a:r>
              <a:t>DAY 4</a:t>
            </a:r>
          </a:p>
          <a:p>
            <a:pPr>
              <a:defRPr sz="3800">
                <a:latin typeface="Aptos"/>
                <a:ea typeface="Aptos"/>
                <a:cs typeface="Aptos"/>
                <a:sym typeface="Aptos"/>
              </a:defRPr>
            </a:pPr>
            <a:r>
              <a:t>Logs: The Log Flood</a:t>
            </a:r>
          </a:p>
        </p:txBody>
      </p:sp>
      <p:sp>
        <p:nvSpPr>
          <p:cNvPr id="1376" name="Subtitle 2"/>
          <p:cNvSpPr txBox="1"/>
          <p:nvPr>
            <p:ph type="body" sz="quarter" idx="1"/>
          </p:nvPr>
        </p:nvSpPr>
        <p:spPr>
          <a:xfrm>
            <a:off x="695084" y="2077085"/>
            <a:ext cx="10773018" cy="1107440"/>
          </a:xfrm>
          <a:prstGeom prst="rect">
            <a:avLst/>
          </a:prstGeom>
        </p:spPr>
        <p:txBody>
          <a:bodyPr/>
          <a:lstStyle>
            <a:lvl1pPr>
              <a:defRPr sz="21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Log monitors fail when the query is too broad, the grouping is too granular, or the notification never stops.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Title 1"/>
          <p:cNvSpPr txBox="1"/>
          <p:nvPr>
            <p:ph type="title"/>
          </p:nvPr>
        </p:nvSpPr>
        <p:spPr>
          <a:xfrm>
            <a:off x="695322" y="357808"/>
            <a:ext cx="10795004" cy="8683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Show precision before alerting</a:t>
            </a:r>
          </a:p>
        </p:txBody>
      </p:sp>
      <p:sp>
        <p:nvSpPr>
          <p:cNvPr id="1379" name="Rounded Rectangle 3"/>
          <p:cNvSpPr/>
          <p:nvPr/>
        </p:nvSpPr>
        <p:spPr>
          <a:xfrm>
            <a:off x="658368" y="6053328"/>
            <a:ext cx="2185807" cy="3108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0" name="TextBox 4"/>
          <p:cNvSpPr txBox="1"/>
          <p:nvPr/>
        </p:nvSpPr>
        <p:spPr>
          <a:xfrm>
            <a:off x="832103" y="6126479"/>
            <a:ext cx="1838336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800">
                <a:solidFill>
                  <a:srgbClr val="1F222C"/>
                </a:solidFill>
              </a:defRPr>
            </a:pPr>
            <a:r>
              <a:t>Related cases: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2" invalidUrl="" action="" tgtFrame="" tooltip="" history="1" highlightClick="0" endSnd="0"/>
              </a:rPr>
              <a:t>#2868302</a:t>
            </a:r>
            <a:r>
              <a:rPr b="0"/>
              <a:t> ·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3" invalidUrl="" action="" tgtFrame="" tooltip="" history="1" highlightClick="0" endSnd="0"/>
              </a:rPr>
              <a:t>#2529585</a:t>
            </a:r>
          </a:p>
        </p:txBody>
      </p:sp>
      <p:pic>
        <p:nvPicPr>
          <p:cNvPr id="1381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73328" y="1138168"/>
            <a:ext cx="9045344" cy="45816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24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Text search is not an alert strategy</a:t>
            </a:r>
          </a:p>
        </p:txBody>
      </p:sp>
      <p:sp>
        <p:nvSpPr>
          <p:cNvPr id="1384" name="Text Placeholder 2"/>
          <p:cNvSpPr txBox="1"/>
          <p:nvPr>
            <p:ph type="body" sz="quarter" idx="1"/>
          </p:nvPr>
        </p:nvSpPr>
        <p:spPr>
          <a:xfrm>
            <a:off x="685800" y="1700622"/>
            <a:ext cx="2755801" cy="4560601"/>
          </a:xfrm>
          <a:prstGeom prst="rect">
            <a:avLst/>
          </a:prstGeom>
        </p:spPr>
        <p:txBody>
          <a:bodyPr/>
          <a:lstStyle/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The trap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logs("error") catches wording, not meaning.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It can mix real errors with harmless text.</a:t>
            </a:r>
          </a:p>
        </p:txBody>
      </p:sp>
      <p:sp>
        <p:nvSpPr>
          <p:cNvPr id="1385" name="TextBox 4"/>
          <p:cNvSpPr txBox="1"/>
          <p:nvPr/>
        </p:nvSpPr>
        <p:spPr>
          <a:xfrm>
            <a:off x="4416552" y="749808"/>
            <a:ext cx="612648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100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Better monitor instinct</a:t>
            </a:r>
          </a:p>
        </p:txBody>
      </p:sp>
      <p:sp>
        <p:nvSpPr>
          <p:cNvPr id="1386" name="TextBox 5"/>
          <p:cNvSpPr txBox="1"/>
          <p:nvPr/>
        </p:nvSpPr>
        <p:spPr>
          <a:xfrm>
            <a:off x="4453128" y="1261872"/>
            <a:ext cx="5943601" cy="1645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 facets: status:error, service, env, region.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Keep the query narrow enough to represent one failure mode.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 examples from Log Explorer before creating the monitor.</a:t>
            </a:r>
          </a:p>
        </p:txBody>
      </p:sp>
      <p:sp>
        <p:nvSpPr>
          <p:cNvPr id="1387" name="Rounded Rectangle 6"/>
          <p:cNvSpPr/>
          <p:nvPr/>
        </p:nvSpPr>
        <p:spPr>
          <a:xfrm>
            <a:off x="4407408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009B7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8" name="TextBox 7"/>
          <p:cNvSpPr txBox="1"/>
          <p:nvPr/>
        </p:nvSpPr>
        <p:spPr>
          <a:xfrm>
            <a:off x="4526279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Metric</a:t>
            </a:r>
          </a:p>
        </p:txBody>
      </p:sp>
      <p:sp>
        <p:nvSpPr>
          <p:cNvPr id="1389" name="TextBox 8"/>
          <p:cNvSpPr txBox="1"/>
          <p:nvPr/>
        </p:nvSpPr>
        <p:spPr>
          <a:xfrm>
            <a:off x="4526279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raw signal</a:t>
            </a:r>
          </a:p>
        </p:txBody>
      </p:sp>
      <p:sp>
        <p:nvSpPr>
          <p:cNvPr id="1390" name="TextBox 9"/>
          <p:cNvSpPr txBox="1"/>
          <p:nvPr/>
        </p:nvSpPr>
        <p:spPr>
          <a:xfrm>
            <a:off x="5907023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391" name="Rounded Rectangle 10"/>
          <p:cNvSpPr/>
          <p:nvPr/>
        </p:nvSpPr>
        <p:spPr>
          <a:xfrm>
            <a:off x="6117335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009B7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2" name="TextBox 11"/>
          <p:cNvSpPr txBox="1"/>
          <p:nvPr/>
        </p:nvSpPr>
        <p:spPr>
          <a:xfrm>
            <a:off x="6236208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Aggregator</a:t>
            </a:r>
          </a:p>
        </p:txBody>
      </p:sp>
      <p:sp>
        <p:nvSpPr>
          <p:cNvPr id="1393" name="TextBox 12"/>
          <p:cNvSpPr txBox="1"/>
          <p:nvPr/>
        </p:nvSpPr>
        <p:spPr>
          <a:xfrm>
            <a:off x="6236208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time + space</a:t>
            </a:r>
          </a:p>
        </p:txBody>
      </p:sp>
      <p:sp>
        <p:nvSpPr>
          <p:cNvPr id="1394" name="TextBox 13"/>
          <p:cNvSpPr txBox="1"/>
          <p:nvPr/>
        </p:nvSpPr>
        <p:spPr>
          <a:xfrm>
            <a:off x="7616951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395" name="Rounded Rectangle 14"/>
          <p:cNvSpPr/>
          <p:nvPr/>
        </p:nvSpPr>
        <p:spPr>
          <a:xfrm>
            <a:off x="7827264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009B7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6" name="TextBox 15"/>
          <p:cNvSpPr txBox="1"/>
          <p:nvPr/>
        </p:nvSpPr>
        <p:spPr>
          <a:xfrm>
            <a:off x="7946135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Group</a:t>
            </a:r>
          </a:p>
        </p:txBody>
      </p:sp>
      <p:sp>
        <p:nvSpPr>
          <p:cNvPr id="1397" name="TextBox 16"/>
          <p:cNvSpPr txBox="1"/>
          <p:nvPr/>
        </p:nvSpPr>
        <p:spPr>
          <a:xfrm>
            <a:off x="7946135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owner</a:t>
            </a:r>
          </a:p>
        </p:txBody>
      </p:sp>
      <p:sp>
        <p:nvSpPr>
          <p:cNvPr id="1398" name="TextBox 17"/>
          <p:cNvSpPr txBox="1"/>
          <p:nvPr/>
        </p:nvSpPr>
        <p:spPr>
          <a:xfrm>
            <a:off x="9326879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399" name="Rounded Rectangle 18"/>
          <p:cNvSpPr/>
          <p:nvPr/>
        </p:nvSpPr>
        <p:spPr>
          <a:xfrm>
            <a:off x="9537192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009B7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0" name="TextBox 19"/>
          <p:cNvSpPr txBox="1"/>
          <p:nvPr/>
        </p:nvSpPr>
        <p:spPr>
          <a:xfrm>
            <a:off x="9656063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Threshold</a:t>
            </a:r>
          </a:p>
        </p:txBody>
      </p:sp>
      <p:sp>
        <p:nvSpPr>
          <p:cNvPr id="1401" name="TextBox 20"/>
          <p:cNvSpPr txBox="1"/>
          <p:nvPr/>
        </p:nvSpPr>
        <p:spPr>
          <a:xfrm>
            <a:off x="9656063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402" name="Rounded Rectangle 21"/>
          <p:cNvSpPr/>
          <p:nvPr/>
        </p:nvSpPr>
        <p:spPr>
          <a:xfrm>
            <a:off x="658368" y="6053328"/>
            <a:ext cx="1643478" cy="3108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3" name="TextBox 22"/>
          <p:cNvSpPr txBox="1"/>
          <p:nvPr/>
        </p:nvSpPr>
        <p:spPr>
          <a:xfrm>
            <a:off x="832104" y="6126479"/>
            <a:ext cx="1296006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800">
                <a:solidFill>
                  <a:srgbClr val="1F222C"/>
                </a:solidFill>
              </a:defRPr>
            </a:pPr>
            <a:r>
              <a:t>Related cases: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2" invalidUrl="" action="" tgtFrame="" tooltip="" history="1" highlightClick="0" endSnd="0"/>
              </a:rPr>
              <a:t>#2868302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24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Group-by is a volume knob</a:t>
            </a:r>
          </a:p>
        </p:txBody>
      </p:sp>
      <p:sp>
        <p:nvSpPr>
          <p:cNvPr id="1406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The trap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host + service + region + level can create dozens of pages.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More context is not always more signal.</a:t>
            </a:r>
          </a:p>
        </p:txBody>
      </p:sp>
      <p:sp>
        <p:nvSpPr>
          <p:cNvPr id="1407" name="TextBox 4"/>
          <p:cNvSpPr txBox="1"/>
          <p:nvPr/>
        </p:nvSpPr>
        <p:spPr>
          <a:xfrm>
            <a:off x="4416552" y="749808"/>
            <a:ext cx="612648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100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Better monitor instinct</a:t>
            </a:r>
          </a:p>
        </p:txBody>
      </p:sp>
      <p:sp>
        <p:nvSpPr>
          <p:cNvPr id="1408" name="TextBox 5"/>
          <p:cNvSpPr txBox="1"/>
          <p:nvPr/>
        </p:nvSpPr>
        <p:spPr>
          <a:xfrm>
            <a:off x="4453128" y="1261872"/>
            <a:ext cx="5943601" cy="1645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Group by the dimension that changes ownership.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Keep extra dimensions in the message or dashboard.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 multi-alert only when each group needs separate action.</a:t>
            </a:r>
          </a:p>
        </p:txBody>
      </p:sp>
      <p:sp>
        <p:nvSpPr>
          <p:cNvPr id="1409" name="Rounded Rectangle 6"/>
          <p:cNvSpPr/>
          <p:nvPr/>
        </p:nvSpPr>
        <p:spPr>
          <a:xfrm>
            <a:off x="4407408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009B7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0" name="TextBox 7"/>
          <p:cNvSpPr txBox="1"/>
          <p:nvPr/>
        </p:nvSpPr>
        <p:spPr>
          <a:xfrm>
            <a:off x="4526279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Metric</a:t>
            </a:r>
          </a:p>
        </p:txBody>
      </p:sp>
      <p:sp>
        <p:nvSpPr>
          <p:cNvPr id="1411" name="TextBox 8"/>
          <p:cNvSpPr txBox="1"/>
          <p:nvPr/>
        </p:nvSpPr>
        <p:spPr>
          <a:xfrm>
            <a:off x="4526279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raw signal</a:t>
            </a:r>
          </a:p>
        </p:txBody>
      </p:sp>
      <p:sp>
        <p:nvSpPr>
          <p:cNvPr id="1412" name="TextBox 9"/>
          <p:cNvSpPr txBox="1"/>
          <p:nvPr/>
        </p:nvSpPr>
        <p:spPr>
          <a:xfrm>
            <a:off x="5907023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413" name="Rounded Rectangle 10"/>
          <p:cNvSpPr/>
          <p:nvPr/>
        </p:nvSpPr>
        <p:spPr>
          <a:xfrm>
            <a:off x="6117335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009B7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4" name="TextBox 11"/>
          <p:cNvSpPr txBox="1"/>
          <p:nvPr/>
        </p:nvSpPr>
        <p:spPr>
          <a:xfrm>
            <a:off x="6236208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Aggregator</a:t>
            </a:r>
          </a:p>
        </p:txBody>
      </p:sp>
      <p:sp>
        <p:nvSpPr>
          <p:cNvPr id="1415" name="TextBox 12"/>
          <p:cNvSpPr txBox="1"/>
          <p:nvPr/>
        </p:nvSpPr>
        <p:spPr>
          <a:xfrm>
            <a:off x="6236208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time + space</a:t>
            </a:r>
          </a:p>
        </p:txBody>
      </p:sp>
      <p:sp>
        <p:nvSpPr>
          <p:cNvPr id="1416" name="TextBox 13"/>
          <p:cNvSpPr txBox="1"/>
          <p:nvPr/>
        </p:nvSpPr>
        <p:spPr>
          <a:xfrm>
            <a:off x="7616951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417" name="Rounded Rectangle 14"/>
          <p:cNvSpPr/>
          <p:nvPr/>
        </p:nvSpPr>
        <p:spPr>
          <a:xfrm>
            <a:off x="7827264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009B7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8" name="TextBox 15"/>
          <p:cNvSpPr txBox="1"/>
          <p:nvPr/>
        </p:nvSpPr>
        <p:spPr>
          <a:xfrm>
            <a:off x="7946135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Group</a:t>
            </a:r>
          </a:p>
        </p:txBody>
      </p:sp>
      <p:sp>
        <p:nvSpPr>
          <p:cNvPr id="1419" name="TextBox 16"/>
          <p:cNvSpPr txBox="1"/>
          <p:nvPr/>
        </p:nvSpPr>
        <p:spPr>
          <a:xfrm>
            <a:off x="7946135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owner</a:t>
            </a:r>
          </a:p>
        </p:txBody>
      </p:sp>
      <p:sp>
        <p:nvSpPr>
          <p:cNvPr id="1420" name="TextBox 17"/>
          <p:cNvSpPr txBox="1"/>
          <p:nvPr/>
        </p:nvSpPr>
        <p:spPr>
          <a:xfrm>
            <a:off x="9326879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421" name="Rounded Rectangle 18"/>
          <p:cNvSpPr/>
          <p:nvPr/>
        </p:nvSpPr>
        <p:spPr>
          <a:xfrm>
            <a:off x="9537192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009B7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2" name="TextBox 19"/>
          <p:cNvSpPr txBox="1"/>
          <p:nvPr/>
        </p:nvSpPr>
        <p:spPr>
          <a:xfrm>
            <a:off x="9656063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Threshold</a:t>
            </a:r>
          </a:p>
        </p:txBody>
      </p:sp>
      <p:sp>
        <p:nvSpPr>
          <p:cNvPr id="1423" name="TextBox 20"/>
          <p:cNvSpPr txBox="1"/>
          <p:nvPr/>
        </p:nvSpPr>
        <p:spPr>
          <a:xfrm>
            <a:off x="9656063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424" name="Rounded Rectangle 21"/>
          <p:cNvSpPr/>
          <p:nvPr/>
        </p:nvSpPr>
        <p:spPr>
          <a:xfrm>
            <a:off x="658368" y="6053328"/>
            <a:ext cx="2185807" cy="3108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5" name="TextBox 22"/>
          <p:cNvSpPr txBox="1"/>
          <p:nvPr/>
        </p:nvSpPr>
        <p:spPr>
          <a:xfrm>
            <a:off x="832103" y="6126479"/>
            <a:ext cx="1838336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800">
                <a:solidFill>
                  <a:srgbClr val="1F222C"/>
                </a:solidFill>
              </a:defRPr>
            </a:pPr>
            <a:r>
              <a:t>Related cases: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2" invalidUrl="" action="" tgtFrame="" tooltip="" history="1" highlightClick="0" endSnd="0"/>
              </a:rPr>
              <a:t>#2545635</a:t>
            </a:r>
            <a:r>
              <a:rPr b="0"/>
              <a:t> ·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3" invalidUrl="" action="" tgtFrame="" tooltip="" history="1" highlightClick="0" endSnd="0"/>
              </a:rPr>
              <a:t>#2509862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24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Renotify should match urgency</a:t>
            </a:r>
          </a:p>
        </p:txBody>
      </p:sp>
      <p:sp>
        <p:nvSpPr>
          <p:cNvPr id="1428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The trap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Every repeat notification teaches people to ignore the monitor.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Escalation is not the same as spamming.</a:t>
            </a:r>
          </a:p>
        </p:txBody>
      </p:sp>
      <p:sp>
        <p:nvSpPr>
          <p:cNvPr id="1429" name="TextBox 4"/>
          <p:cNvSpPr txBox="1"/>
          <p:nvPr/>
        </p:nvSpPr>
        <p:spPr>
          <a:xfrm>
            <a:off x="4416552" y="749808"/>
            <a:ext cx="612648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100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Better monitor instinct</a:t>
            </a:r>
          </a:p>
        </p:txBody>
      </p:sp>
      <p:sp>
        <p:nvSpPr>
          <p:cNvPr id="1430" name="TextBox 5"/>
          <p:cNvSpPr txBox="1"/>
          <p:nvPr/>
        </p:nvSpPr>
        <p:spPr>
          <a:xfrm>
            <a:off x="4453128" y="1261872"/>
            <a:ext cx="5943601" cy="1645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Page only actionable critical conditions.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Send recovery so people know the incident ended.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 renotify for sustained impact, not every noisy blip.</a:t>
            </a:r>
          </a:p>
        </p:txBody>
      </p:sp>
      <p:sp>
        <p:nvSpPr>
          <p:cNvPr id="1431" name="Rectangle 6"/>
          <p:cNvSpPr/>
          <p:nvPr/>
        </p:nvSpPr>
        <p:spPr>
          <a:xfrm>
            <a:off x="4389120" y="3154679"/>
            <a:ext cx="5715001" cy="2148841"/>
          </a:xfrm>
          <a:prstGeom prst="rect">
            <a:avLst/>
          </a:prstGeom>
          <a:solidFill>
            <a:srgbClr val="FBFAFF"/>
          </a:solidFill>
          <a:ln w="12700">
            <a:solidFill>
              <a:srgbClr val="D6CF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2" name="Rectangle 7"/>
          <p:cNvSpPr/>
          <p:nvPr/>
        </p:nvSpPr>
        <p:spPr>
          <a:xfrm>
            <a:off x="4709159" y="4892040"/>
            <a:ext cx="5074921" cy="38101"/>
          </a:xfrm>
          <a:prstGeom prst="rect">
            <a:avLst/>
          </a:prstGeom>
          <a:solidFill>
            <a:srgbClr val="DCD8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3" name="Rectangle 8"/>
          <p:cNvSpPr/>
          <p:nvPr/>
        </p:nvSpPr>
        <p:spPr>
          <a:xfrm>
            <a:off x="4709159" y="3474720"/>
            <a:ext cx="25401" cy="1417321"/>
          </a:xfrm>
          <a:prstGeom prst="rect">
            <a:avLst/>
          </a:prstGeom>
          <a:solidFill>
            <a:srgbClr val="DCD8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4" name="Connector 9"/>
          <p:cNvSpPr/>
          <p:nvPr/>
        </p:nvSpPr>
        <p:spPr>
          <a:xfrm flipV="1">
            <a:off x="5115152" y="4378148"/>
            <a:ext cx="608991" cy="58521"/>
          </a:xfrm>
          <a:prstGeom prst="line">
            <a:avLst/>
          </a:prstGeom>
          <a:ln w="27940">
            <a:solidFill>
              <a:srgbClr val="009B7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435" name="Connector 10"/>
          <p:cNvSpPr/>
          <p:nvPr/>
        </p:nvSpPr>
        <p:spPr>
          <a:xfrm flipV="1">
            <a:off x="5724143" y="4334256"/>
            <a:ext cx="558242" cy="43892"/>
          </a:xfrm>
          <a:prstGeom prst="line">
            <a:avLst/>
          </a:prstGeom>
          <a:ln w="27940">
            <a:solidFill>
              <a:srgbClr val="009B7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436" name="Connector 11"/>
          <p:cNvSpPr/>
          <p:nvPr/>
        </p:nvSpPr>
        <p:spPr>
          <a:xfrm flipV="1">
            <a:off x="6282385" y="3646626"/>
            <a:ext cx="355245" cy="687629"/>
          </a:xfrm>
          <a:prstGeom prst="line">
            <a:avLst/>
          </a:prstGeom>
          <a:ln w="27940">
            <a:solidFill>
              <a:srgbClr val="009B7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437" name="Connector 12"/>
          <p:cNvSpPr/>
          <p:nvPr/>
        </p:nvSpPr>
        <p:spPr>
          <a:xfrm>
            <a:off x="6637628" y="3646627"/>
            <a:ext cx="304496" cy="760780"/>
          </a:xfrm>
          <a:prstGeom prst="line">
            <a:avLst/>
          </a:prstGeom>
          <a:ln w="27940">
            <a:solidFill>
              <a:srgbClr val="009B7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438" name="Connector 13"/>
          <p:cNvSpPr/>
          <p:nvPr/>
        </p:nvSpPr>
        <p:spPr>
          <a:xfrm flipV="1">
            <a:off x="6942124" y="4363515"/>
            <a:ext cx="710489" cy="43892"/>
          </a:xfrm>
          <a:prstGeom prst="line">
            <a:avLst/>
          </a:prstGeom>
          <a:ln w="27940">
            <a:solidFill>
              <a:srgbClr val="009B7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439" name="Connector 14"/>
          <p:cNvSpPr/>
          <p:nvPr/>
        </p:nvSpPr>
        <p:spPr>
          <a:xfrm flipV="1">
            <a:off x="7652612" y="4319625"/>
            <a:ext cx="710489" cy="43892"/>
          </a:xfrm>
          <a:prstGeom prst="line">
            <a:avLst/>
          </a:prstGeom>
          <a:ln w="27940">
            <a:solidFill>
              <a:srgbClr val="009B7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440" name="Connector 15"/>
          <p:cNvSpPr/>
          <p:nvPr/>
        </p:nvSpPr>
        <p:spPr>
          <a:xfrm>
            <a:off x="8363101" y="4319624"/>
            <a:ext cx="913486" cy="58521"/>
          </a:xfrm>
          <a:prstGeom prst="line">
            <a:avLst/>
          </a:prstGeom>
          <a:ln w="27940">
            <a:solidFill>
              <a:srgbClr val="009B7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441" name="Connector 16"/>
          <p:cNvSpPr/>
          <p:nvPr/>
        </p:nvSpPr>
        <p:spPr>
          <a:xfrm flipV="1">
            <a:off x="5115152" y="4261103"/>
            <a:ext cx="811988" cy="29261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442" name="Connector 17"/>
          <p:cNvSpPr/>
          <p:nvPr/>
        </p:nvSpPr>
        <p:spPr>
          <a:xfrm flipV="1">
            <a:off x="5927140" y="4202582"/>
            <a:ext cx="811988" cy="58521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443" name="Connector 18"/>
          <p:cNvSpPr/>
          <p:nvPr/>
        </p:nvSpPr>
        <p:spPr>
          <a:xfrm>
            <a:off x="6739127" y="4202581"/>
            <a:ext cx="913487" cy="43892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444" name="Connector 19"/>
          <p:cNvSpPr/>
          <p:nvPr/>
        </p:nvSpPr>
        <p:spPr>
          <a:xfrm>
            <a:off x="7652612" y="4246473"/>
            <a:ext cx="1014985" cy="29261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445" name="Connector 20"/>
          <p:cNvSpPr/>
          <p:nvPr/>
        </p:nvSpPr>
        <p:spPr>
          <a:xfrm>
            <a:off x="8667597" y="4275734"/>
            <a:ext cx="608991" cy="14630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446" name="TextBox 21"/>
          <p:cNvSpPr txBox="1"/>
          <p:nvPr/>
        </p:nvSpPr>
        <p:spPr>
          <a:xfrm>
            <a:off x="4892040" y="3300984"/>
            <a:ext cx="82296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722376">
              <a:defRPr b="1" sz="711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raw signal</a:t>
            </a:r>
          </a:p>
        </p:txBody>
      </p:sp>
      <p:sp>
        <p:nvSpPr>
          <p:cNvPr id="1447" name="TextBox 22"/>
          <p:cNvSpPr txBox="1"/>
          <p:nvPr/>
        </p:nvSpPr>
        <p:spPr>
          <a:xfrm>
            <a:off x="9006839" y="3300984"/>
            <a:ext cx="73152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722376">
              <a:defRPr b="1" sz="711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10m avg</a:t>
            </a:r>
          </a:p>
        </p:txBody>
      </p:sp>
      <p:sp>
        <p:nvSpPr>
          <p:cNvPr id="1448" name="Rounded Rectangle 23"/>
          <p:cNvSpPr/>
          <p:nvPr/>
        </p:nvSpPr>
        <p:spPr>
          <a:xfrm>
            <a:off x="658368" y="6053328"/>
            <a:ext cx="1643478" cy="3108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BE0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9" name="TextBox 24"/>
          <p:cNvSpPr txBox="1"/>
          <p:nvPr/>
        </p:nvSpPr>
        <p:spPr>
          <a:xfrm>
            <a:off x="832104" y="6126479"/>
            <a:ext cx="1296006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800">
                <a:solidFill>
                  <a:srgbClr val="1F222C"/>
                </a:solidFill>
              </a:defRPr>
            </a:pPr>
            <a:r>
              <a:t>Related cases: </a:t>
            </a:r>
            <a:r>
              <a:rPr u="sng">
                <a:solidFill>
                  <a:srgbClr val="8000FF"/>
                </a:solidFill>
                <a:uFill>
                  <a:solidFill>
                    <a:srgbClr val="8000FF"/>
                  </a:solidFill>
                </a:uFill>
                <a:hlinkClick r:id="rId2" invalidUrl="" action="" tgtFrame="" tooltip="" history="1" highlightClick="0" endSnd="0"/>
              </a:rPr>
              <a:t>#2868302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25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Lab missions</a:t>
            </a:r>
          </a:p>
        </p:txBody>
      </p:sp>
      <p:sp>
        <p:nvSpPr>
          <p:cNvPr id="1452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defRPr b="1" sz="1500">
                <a:latin typeface="+mj-lt"/>
                <a:ea typeface="+mj-ea"/>
                <a:cs typeface="+mj-cs"/>
                <a:sym typeface="Arial"/>
              </a:defRPr>
            </a:pPr>
            <a:r>
              <a:t>The rule</a:t>
            </a: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Bring evidence, one rejected hypothesis, and two possible fixes.</a:t>
            </a: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The slide gives the case and the question.</a:t>
            </a: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The final answer stays for the live discussion.</a:t>
            </a:r>
          </a:p>
        </p:txBody>
      </p:sp>
      <p:sp>
        <p:nvSpPr>
          <p:cNvPr id="1453" name="TextBox 4"/>
          <p:cNvSpPr txBox="1"/>
          <p:nvPr/>
        </p:nvSpPr>
        <p:spPr>
          <a:xfrm>
            <a:off x="4416551" y="749808"/>
            <a:ext cx="6217921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50391">
              <a:defRPr b="1" sz="1953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Day 4 lab: log monitor traps</a:t>
            </a:r>
          </a:p>
        </p:txBody>
      </p:sp>
      <p:sp>
        <p:nvSpPr>
          <p:cNvPr id="1454" name="TextBox 5"/>
          <p:cNvSpPr txBox="1"/>
          <p:nvPr/>
        </p:nvSpPr>
        <p:spPr>
          <a:xfrm>
            <a:off x="4453128" y="1307591"/>
            <a:ext cx="329185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32104">
              <a:defRPr b="1" sz="1092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455" name="TextBox 6"/>
          <p:cNvSpPr txBox="1"/>
          <p:nvPr/>
        </p:nvSpPr>
        <p:spPr>
          <a:xfrm>
            <a:off x="4983479" y="1280160"/>
            <a:ext cx="541324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67512">
              <a:defRPr b="1" sz="1095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Catches Everything</a:t>
            </a:r>
          </a:p>
        </p:txBody>
      </p:sp>
      <p:sp>
        <p:nvSpPr>
          <p:cNvPr id="1456" name="TextBox 7"/>
          <p:cNvSpPr txBox="1"/>
          <p:nvPr/>
        </p:nvSpPr>
        <p:spPr>
          <a:xfrm>
            <a:off x="4983479" y="1554480"/>
            <a:ext cx="5413249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Which query proves this is one failure mode, not every error?</a:t>
            </a:r>
          </a:p>
        </p:txBody>
      </p:sp>
      <p:sp>
        <p:nvSpPr>
          <p:cNvPr id="1457" name="Rectangle 8"/>
          <p:cNvSpPr/>
          <p:nvPr/>
        </p:nvSpPr>
        <p:spPr>
          <a:xfrm>
            <a:off x="4407408" y="2002535"/>
            <a:ext cx="6035041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8" name="TextBox 9"/>
          <p:cNvSpPr txBox="1"/>
          <p:nvPr/>
        </p:nvSpPr>
        <p:spPr>
          <a:xfrm>
            <a:off x="4453128" y="2093976"/>
            <a:ext cx="329185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32104">
              <a:defRPr b="1" sz="1092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59" name="TextBox 10"/>
          <p:cNvSpPr txBox="1"/>
          <p:nvPr/>
        </p:nvSpPr>
        <p:spPr>
          <a:xfrm>
            <a:off x="4983479" y="2066544"/>
            <a:ext cx="541324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67512">
              <a:defRPr b="1" sz="1095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Alert Storm</a:t>
            </a:r>
          </a:p>
        </p:txBody>
      </p:sp>
      <p:sp>
        <p:nvSpPr>
          <p:cNvPr id="1460" name="TextBox 11"/>
          <p:cNvSpPr txBox="1"/>
          <p:nvPr/>
        </p:nvSpPr>
        <p:spPr>
          <a:xfrm>
            <a:off x="4983479" y="2340864"/>
            <a:ext cx="5413249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Which dimensions create ownership, and which create alert spam?</a:t>
            </a:r>
          </a:p>
        </p:txBody>
      </p:sp>
      <p:sp>
        <p:nvSpPr>
          <p:cNvPr id="1461" name="Rectangle 12"/>
          <p:cNvSpPr/>
          <p:nvPr/>
        </p:nvSpPr>
        <p:spPr>
          <a:xfrm>
            <a:off x="4407408" y="2788920"/>
            <a:ext cx="6035041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2" name="TextBox 13"/>
          <p:cNvSpPr txBox="1"/>
          <p:nvPr/>
        </p:nvSpPr>
        <p:spPr>
          <a:xfrm>
            <a:off x="4453128" y="2880360"/>
            <a:ext cx="329185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32104">
              <a:defRPr b="1" sz="1092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463" name="TextBox 14"/>
          <p:cNvSpPr txBox="1"/>
          <p:nvPr/>
        </p:nvSpPr>
        <p:spPr>
          <a:xfrm>
            <a:off x="4983479" y="2852927"/>
            <a:ext cx="541324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67512">
              <a:defRPr b="1" sz="1095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Inbox Flood</a:t>
            </a:r>
          </a:p>
        </p:txBody>
      </p:sp>
      <p:sp>
        <p:nvSpPr>
          <p:cNvPr id="1464" name="TextBox 15"/>
          <p:cNvSpPr txBox="1"/>
          <p:nvPr/>
        </p:nvSpPr>
        <p:spPr>
          <a:xfrm>
            <a:off x="4983479" y="3127248"/>
            <a:ext cx="5413249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Who needs the page, and when should it repeat?</a:t>
            </a:r>
          </a:p>
        </p:txBody>
      </p:sp>
      <p:sp>
        <p:nvSpPr>
          <p:cNvPr id="1465" name="Rectangle 16"/>
          <p:cNvSpPr/>
          <p:nvPr/>
        </p:nvSpPr>
        <p:spPr>
          <a:xfrm>
            <a:off x="4407408" y="3575303"/>
            <a:ext cx="6035041" cy="38101"/>
          </a:xfrm>
          <a:prstGeom prst="rect">
            <a:avLst/>
          </a:prstGeom>
          <a:solidFill>
            <a:srgbClr val="D6CF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6" name="TextBox 17"/>
          <p:cNvSpPr txBox="1"/>
          <p:nvPr/>
        </p:nvSpPr>
        <p:spPr>
          <a:xfrm>
            <a:off x="4453128" y="3666744"/>
            <a:ext cx="329185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32104">
              <a:defRPr b="1" sz="1092">
                <a:solidFill>
                  <a:srgbClr val="009B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467" name="TextBox 18"/>
          <p:cNvSpPr txBox="1"/>
          <p:nvPr/>
        </p:nvSpPr>
        <p:spPr>
          <a:xfrm>
            <a:off x="4983479" y="3639311"/>
            <a:ext cx="541324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67512">
              <a:defRPr b="1" sz="1095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Static Count</a:t>
            </a:r>
          </a:p>
        </p:txBody>
      </p:sp>
      <p:sp>
        <p:nvSpPr>
          <p:cNvPr id="1468" name="TextBox 19"/>
          <p:cNvSpPr txBox="1"/>
          <p:nvPr/>
        </p:nvSpPr>
        <p:spPr>
          <a:xfrm>
            <a:off x="4983479" y="3913632"/>
            <a:ext cx="5413249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Does a static count describe this service's normal pattern?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anchor="t"/>
          <a:lstStyle>
            <a:lvl1pPr>
              <a:defRPr sz="30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Day 4 takeaway: a log alert should point to one failure mode, not the entire log stream.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Title 1"/>
          <p:cNvSpPr txBox="1"/>
          <p:nvPr>
            <p:ph type="title"/>
          </p:nvPr>
        </p:nvSpPr>
        <p:spPr>
          <a:xfrm>
            <a:off x="695084" y="695325"/>
            <a:ext cx="10773018" cy="1244600"/>
          </a:xfrm>
          <a:prstGeom prst="rect">
            <a:avLst/>
          </a:prstGeom>
        </p:spPr>
        <p:txBody>
          <a:bodyPr/>
          <a:lstStyle/>
          <a:p>
            <a:pPr>
              <a:defRPr sz="3800">
                <a:latin typeface="Aptos"/>
                <a:ea typeface="Aptos"/>
                <a:cs typeface="Aptos"/>
                <a:sym typeface="Aptos"/>
              </a:defRPr>
            </a:pPr>
            <a:r>
              <a:t>DAY 5</a:t>
            </a:r>
          </a:p>
          <a:p>
            <a:pPr>
              <a:defRPr sz="3800">
                <a:latin typeface="Aptos"/>
                <a:ea typeface="Aptos"/>
                <a:cs typeface="Aptos"/>
                <a:sym typeface="Aptos"/>
              </a:defRPr>
            </a:pPr>
            <a:r>
              <a:t>Dynamic Challenge: Custom Metrics</a:t>
            </a:r>
          </a:p>
        </p:txBody>
      </p:sp>
      <p:sp>
        <p:nvSpPr>
          <p:cNvPr id="1473" name="Subtitle 2"/>
          <p:cNvSpPr txBox="1"/>
          <p:nvPr>
            <p:ph type="body" sz="quarter" idx="1"/>
          </p:nvPr>
        </p:nvSpPr>
        <p:spPr>
          <a:xfrm>
            <a:off x="695084" y="2077085"/>
            <a:ext cx="10773018" cy="1107440"/>
          </a:xfrm>
          <a:prstGeom prst="rect">
            <a:avLst/>
          </a:prstGeom>
        </p:spPr>
        <p:txBody>
          <a:bodyPr/>
          <a:lstStyle>
            <a:lvl1pPr>
              <a:defRPr sz="21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Participants switch roles and prove they can investigate, fix, and communicate.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Day 5 is not another lecture</a:t>
            </a:r>
          </a:p>
        </p:txBody>
      </p:sp>
      <p:sp>
        <p:nvSpPr>
          <p:cNvPr id="1476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Format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Half the room plays customer.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Half the room plays support.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Then they switch.</a:t>
            </a:r>
          </a:p>
        </p:txBody>
      </p:sp>
      <p:sp>
        <p:nvSpPr>
          <p:cNvPr id="1477" name="TextBox 4"/>
          <p:cNvSpPr txBox="1"/>
          <p:nvPr/>
        </p:nvSpPr>
        <p:spPr>
          <a:xfrm>
            <a:off x="4416552" y="749808"/>
            <a:ext cx="612648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100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What success looks like</a:t>
            </a:r>
          </a:p>
        </p:txBody>
      </p:sp>
      <p:sp>
        <p:nvSpPr>
          <p:cNvPr id="1478" name="TextBox 5"/>
          <p:cNvSpPr txBox="1"/>
          <p:nvPr/>
        </p:nvSpPr>
        <p:spPr>
          <a:xfrm>
            <a:off x="4453128" y="1261872"/>
            <a:ext cx="5943601" cy="1645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Ask clarifying questions.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 segmented metrics to find the hidden issue.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Fix or replace the monitor.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Explain it without dumping query syntax on the customer.</a:t>
            </a:r>
          </a:p>
        </p:txBody>
      </p:sp>
      <p:sp>
        <p:nvSpPr>
          <p:cNvPr id="1479" name="Rounded Rectangle 6"/>
          <p:cNvSpPr/>
          <p:nvPr/>
        </p:nvSpPr>
        <p:spPr>
          <a:xfrm>
            <a:off x="4407408" y="324612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EE843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0" name="TextBox 7"/>
          <p:cNvSpPr txBox="1"/>
          <p:nvPr/>
        </p:nvSpPr>
        <p:spPr>
          <a:xfrm>
            <a:off x="4526279" y="3392423"/>
            <a:ext cx="117957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481" name="TextBox 8"/>
          <p:cNvSpPr txBox="1"/>
          <p:nvPr/>
        </p:nvSpPr>
        <p:spPr>
          <a:xfrm>
            <a:off x="4526279" y="368503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vague ticket</a:t>
            </a:r>
          </a:p>
        </p:txBody>
      </p:sp>
      <p:sp>
        <p:nvSpPr>
          <p:cNvPr id="1482" name="TextBox 9"/>
          <p:cNvSpPr txBox="1"/>
          <p:nvPr/>
        </p:nvSpPr>
        <p:spPr>
          <a:xfrm>
            <a:off x="5907023" y="354787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483" name="Rounded Rectangle 10"/>
          <p:cNvSpPr/>
          <p:nvPr/>
        </p:nvSpPr>
        <p:spPr>
          <a:xfrm>
            <a:off x="6117335" y="324612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EE843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4" name="TextBox 11"/>
          <p:cNvSpPr txBox="1"/>
          <p:nvPr/>
        </p:nvSpPr>
        <p:spPr>
          <a:xfrm>
            <a:off x="6236208" y="3392423"/>
            <a:ext cx="117957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Support</a:t>
            </a:r>
          </a:p>
        </p:txBody>
      </p:sp>
      <p:sp>
        <p:nvSpPr>
          <p:cNvPr id="1485" name="TextBox 12"/>
          <p:cNvSpPr txBox="1"/>
          <p:nvPr/>
        </p:nvSpPr>
        <p:spPr>
          <a:xfrm>
            <a:off x="6236208" y="368503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questions</a:t>
            </a:r>
          </a:p>
        </p:txBody>
      </p:sp>
      <p:sp>
        <p:nvSpPr>
          <p:cNvPr id="1486" name="TextBox 13"/>
          <p:cNvSpPr txBox="1"/>
          <p:nvPr/>
        </p:nvSpPr>
        <p:spPr>
          <a:xfrm>
            <a:off x="7616951" y="354787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487" name="Rounded Rectangle 14"/>
          <p:cNvSpPr/>
          <p:nvPr/>
        </p:nvSpPr>
        <p:spPr>
          <a:xfrm>
            <a:off x="7827264" y="324612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EE843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8" name="TextBox 15"/>
          <p:cNvSpPr txBox="1"/>
          <p:nvPr/>
        </p:nvSpPr>
        <p:spPr>
          <a:xfrm>
            <a:off x="7946135" y="3392423"/>
            <a:ext cx="117957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</a:t>
            </a:r>
          </a:p>
        </p:txBody>
      </p:sp>
      <p:sp>
        <p:nvSpPr>
          <p:cNvPr id="1489" name="TextBox 16"/>
          <p:cNvSpPr txBox="1"/>
          <p:nvPr/>
        </p:nvSpPr>
        <p:spPr>
          <a:xfrm>
            <a:off x="7946135" y="368503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segmented</a:t>
            </a:r>
          </a:p>
        </p:txBody>
      </p:sp>
      <p:sp>
        <p:nvSpPr>
          <p:cNvPr id="1490" name="TextBox 17"/>
          <p:cNvSpPr txBox="1"/>
          <p:nvPr/>
        </p:nvSpPr>
        <p:spPr>
          <a:xfrm>
            <a:off x="9326879" y="354787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491" name="Rounded Rectangle 18"/>
          <p:cNvSpPr/>
          <p:nvPr/>
        </p:nvSpPr>
        <p:spPr>
          <a:xfrm>
            <a:off x="9537192" y="324612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EE843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2" name="TextBox 19"/>
          <p:cNvSpPr txBox="1"/>
          <p:nvPr/>
        </p:nvSpPr>
        <p:spPr>
          <a:xfrm>
            <a:off x="9656063" y="3392423"/>
            <a:ext cx="117957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Monitor</a:t>
            </a:r>
          </a:p>
        </p:txBody>
      </p:sp>
      <p:sp>
        <p:nvSpPr>
          <p:cNvPr id="1493" name="TextBox 20"/>
          <p:cNvSpPr txBox="1"/>
          <p:nvPr/>
        </p:nvSpPr>
        <p:spPr>
          <a:xfrm>
            <a:off x="9656063" y="368503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fixed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6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7" name="Text Placeholder 3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1498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9" name="Hard Mode Rail"/>
          <p:cNvSpPr/>
          <p:nvPr/>
        </p:nvSpPr>
        <p:spPr>
          <a:xfrm>
            <a:off x="0" y="0"/>
            <a:ext cx="2395728" cy="6858000"/>
          </a:xfrm>
          <a:prstGeom prst="rect">
            <a:avLst/>
          </a:prstGeom>
          <a:solidFill>
            <a:srgbClr val="5200C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0" name="Hard Mode Rail Accent"/>
          <p:cNvSpPr/>
          <p:nvPr/>
        </p:nvSpPr>
        <p:spPr>
          <a:xfrm>
            <a:off x="2221992" y="0"/>
            <a:ext cx="173737" cy="6858000"/>
          </a:xfrm>
          <a:prstGeom prst="rect">
            <a:avLst/>
          </a:prstGeom>
          <a:solidFill>
            <a:srgbClr val="EE3B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1" name="TextBox 7"/>
          <p:cNvSpPr txBox="1"/>
          <p:nvPr/>
        </p:nvSpPr>
        <p:spPr>
          <a:xfrm>
            <a:off x="301752" y="457200"/>
            <a:ext cx="1691640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DAY 5 HARD MODE</a:t>
            </a:r>
          </a:p>
        </p:txBody>
      </p:sp>
      <p:sp>
        <p:nvSpPr>
          <p:cNvPr id="1502" name="TextBox 8"/>
          <p:cNvSpPr txBox="1"/>
          <p:nvPr/>
        </p:nvSpPr>
        <p:spPr>
          <a:xfrm>
            <a:off x="10866119" y="6473952"/>
            <a:ext cx="1051561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632CA6"/>
                </a:solidFill>
              </a:defRPr>
            </a:lvl1pPr>
          </a:lstStyle>
          <a:p>
            <a:pPr/>
            <a:r>
              <a:t>DATADOG</a:t>
            </a:r>
          </a:p>
        </p:txBody>
      </p:sp>
      <p:sp>
        <p:nvSpPr>
          <p:cNvPr id="1503" name="TextBox 9"/>
          <p:cNvSpPr txBox="1"/>
          <p:nvPr/>
        </p:nvSpPr>
        <p:spPr>
          <a:xfrm>
            <a:off x="2926079" y="502919"/>
            <a:ext cx="7772401" cy="992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100">
                <a:solidFill>
                  <a:srgbClr val="1F2230"/>
                </a:solidFill>
              </a:defRPr>
            </a:lvl1pPr>
          </a:lstStyle>
          <a:p>
            <a:pPr/>
            <a:r>
              <a:t>Challenge cards make the case less linear</a:t>
            </a:r>
          </a:p>
        </p:txBody>
      </p:sp>
      <p:sp>
        <p:nvSpPr>
          <p:cNvPr id="1504" name="TextBox 10"/>
          <p:cNvSpPr txBox="1"/>
          <p:nvPr/>
        </p:nvSpPr>
        <p:spPr>
          <a:xfrm>
            <a:off x="2953512" y="1042414"/>
            <a:ext cx="7040879" cy="33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586073"/>
                </a:solidFill>
              </a:defRPr>
            </a:lvl1pPr>
          </a:lstStyle>
          <a:p>
            <a:pPr/>
            <a:r>
              <a:t>Use one when a group reaches a fix too quickly.</a:t>
            </a:r>
          </a:p>
        </p:txBody>
      </p:sp>
      <p:sp>
        <p:nvSpPr>
          <p:cNvPr id="1505" name="Challenge Card - Missing tag"/>
          <p:cNvSpPr/>
          <p:nvPr/>
        </p:nvSpPr>
        <p:spPr>
          <a:xfrm>
            <a:off x="2880360" y="1691639"/>
            <a:ext cx="2331721" cy="1591057"/>
          </a:xfrm>
          <a:prstGeom prst="roundRect">
            <a:avLst>
              <a:gd name="adj" fmla="val 16667"/>
            </a:avLst>
          </a:prstGeom>
          <a:solidFill>
            <a:srgbClr val="F6F7FC"/>
          </a:solidFill>
          <a:ln w="13970">
            <a:solidFill>
              <a:srgbClr val="D8DD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6" name="Rounded Rectangle 12"/>
          <p:cNvSpPr/>
          <p:nvPr/>
        </p:nvSpPr>
        <p:spPr>
          <a:xfrm>
            <a:off x="3044951" y="1856232"/>
            <a:ext cx="1417321" cy="292609"/>
          </a:xfrm>
          <a:prstGeom prst="roundRect">
            <a:avLst>
              <a:gd name="adj" fmla="val 16667"/>
            </a:avLst>
          </a:prstGeom>
          <a:solidFill>
            <a:srgbClr val="217E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7" name="TextBox 13"/>
          <p:cNvSpPr txBox="1"/>
          <p:nvPr/>
        </p:nvSpPr>
        <p:spPr>
          <a:xfrm>
            <a:off x="3163823" y="1901951"/>
            <a:ext cx="114300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TAG</a:t>
            </a:r>
          </a:p>
        </p:txBody>
      </p:sp>
      <p:sp>
        <p:nvSpPr>
          <p:cNvPr id="1508" name="TextBox 14"/>
          <p:cNvSpPr txBox="1"/>
          <p:nvPr/>
        </p:nvSpPr>
        <p:spPr>
          <a:xfrm>
            <a:off x="3145536" y="2304288"/>
            <a:ext cx="1801368" cy="362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900">
                <a:solidFill>
                  <a:srgbClr val="1F2230"/>
                </a:solidFill>
              </a:defRPr>
            </a:lvl1pPr>
          </a:lstStyle>
          <a:p>
            <a:pPr/>
            <a:r>
              <a:t>Missing tag</a:t>
            </a:r>
          </a:p>
        </p:txBody>
      </p:sp>
      <p:sp>
        <p:nvSpPr>
          <p:cNvPr id="1509" name="TextBox 15"/>
          <p:cNvSpPr txBox="1"/>
          <p:nvPr/>
        </p:nvSpPr>
        <p:spPr>
          <a:xfrm>
            <a:off x="3145536" y="2770632"/>
            <a:ext cx="1801368" cy="46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86073"/>
                </a:solidFill>
              </a:defRPr>
            </a:lvl1pPr>
          </a:lstStyle>
          <a:p>
            <a:pPr/>
            <a:r>
              <a:t>Expected tag is absent or inconsistent.</a:t>
            </a:r>
          </a:p>
        </p:txBody>
      </p:sp>
      <p:sp>
        <p:nvSpPr>
          <p:cNvPr id="1510" name="Challenge Card - Late data"/>
          <p:cNvSpPr/>
          <p:nvPr/>
        </p:nvSpPr>
        <p:spPr>
          <a:xfrm>
            <a:off x="5532120" y="1691639"/>
            <a:ext cx="2331721" cy="1591057"/>
          </a:xfrm>
          <a:prstGeom prst="roundRect">
            <a:avLst>
              <a:gd name="adj" fmla="val 16667"/>
            </a:avLst>
          </a:prstGeom>
          <a:solidFill>
            <a:srgbClr val="F6F7FC"/>
          </a:solidFill>
          <a:ln w="13970">
            <a:solidFill>
              <a:srgbClr val="D8DD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1" name="Rounded Rectangle 17"/>
          <p:cNvSpPr/>
          <p:nvPr/>
        </p:nvSpPr>
        <p:spPr>
          <a:xfrm>
            <a:off x="5696711" y="1856232"/>
            <a:ext cx="1417321" cy="292609"/>
          </a:xfrm>
          <a:prstGeom prst="roundRect">
            <a:avLst>
              <a:gd name="adj" fmla="val 16667"/>
            </a:avLst>
          </a:prstGeom>
          <a:solidFill>
            <a:srgbClr val="632CA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2" name="TextBox 18"/>
          <p:cNvSpPr txBox="1"/>
          <p:nvPr/>
        </p:nvSpPr>
        <p:spPr>
          <a:xfrm>
            <a:off x="5815584" y="1901951"/>
            <a:ext cx="114300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TIME</a:t>
            </a:r>
          </a:p>
        </p:txBody>
      </p:sp>
      <p:sp>
        <p:nvSpPr>
          <p:cNvPr id="1513" name="TextBox 19"/>
          <p:cNvSpPr txBox="1"/>
          <p:nvPr/>
        </p:nvSpPr>
        <p:spPr>
          <a:xfrm>
            <a:off x="5797296" y="2304288"/>
            <a:ext cx="1801368" cy="362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900">
                <a:solidFill>
                  <a:srgbClr val="1F2230"/>
                </a:solidFill>
              </a:defRPr>
            </a:lvl1pPr>
          </a:lstStyle>
          <a:p>
            <a:pPr/>
            <a:r>
              <a:t>Late data</a:t>
            </a:r>
          </a:p>
        </p:txBody>
      </p:sp>
      <p:sp>
        <p:nvSpPr>
          <p:cNvPr id="1514" name="TextBox 20"/>
          <p:cNvSpPr txBox="1"/>
          <p:nvPr/>
        </p:nvSpPr>
        <p:spPr>
          <a:xfrm>
            <a:off x="5797296" y="2770632"/>
            <a:ext cx="1801368" cy="657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86073"/>
                </a:solidFill>
              </a:defRPr>
            </a:lvl1pPr>
          </a:lstStyle>
          <a:p>
            <a:pPr/>
            <a:r>
              <a:t>The graph changes when the window moves back.</a:t>
            </a:r>
          </a:p>
        </p:txBody>
      </p:sp>
      <p:sp>
        <p:nvSpPr>
          <p:cNvPr id="1515" name="Challenge Card - Sparse metric"/>
          <p:cNvSpPr/>
          <p:nvPr/>
        </p:nvSpPr>
        <p:spPr>
          <a:xfrm>
            <a:off x="8183878" y="1691639"/>
            <a:ext cx="2331721" cy="1591057"/>
          </a:xfrm>
          <a:prstGeom prst="roundRect">
            <a:avLst>
              <a:gd name="adj" fmla="val 16667"/>
            </a:avLst>
          </a:prstGeom>
          <a:solidFill>
            <a:srgbClr val="F6F7FC"/>
          </a:solidFill>
          <a:ln w="13970">
            <a:solidFill>
              <a:srgbClr val="D8DD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6" name="Rounded Rectangle 22"/>
          <p:cNvSpPr/>
          <p:nvPr/>
        </p:nvSpPr>
        <p:spPr>
          <a:xfrm>
            <a:off x="8348471" y="1856232"/>
            <a:ext cx="1417321" cy="292609"/>
          </a:xfrm>
          <a:prstGeom prst="roundRect">
            <a:avLst>
              <a:gd name="adj" fmla="val 16667"/>
            </a:avLst>
          </a:prstGeom>
          <a:solidFill>
            <a:srgbClr val="EE3B7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7" name="TextBox 23"/>
          <p:cNvSpPr txBox="1"/>
          <p:nvPr/>
        </p:nvSpPr>
        <p:spPr>
          <a:xfrm>
            <a:off x="8467342" y="1901951"/>
            <a:ext cx="114300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WINDOW</a:t>
            </a:r>
          </a:p>
        </p:txBody>
      </p:sp>
      <p:sp>
        <p:nvSpPr>
          <p:cNvPr id="1518" name="TextBox 24"/>
          <p:cNvSpPr txBox="1"/>
          <p:nvPr/>
        </p:nvSpPr>
        <p:spPr>
          <a:xfrm>
            <a:off x="8449054" y="2304288"/>
            <a:ext cx="1801368" cy="362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900">
                <a:solidFill>
                  <a:srgbClr val="1F2230"/>
                </a:solidFill>
              </a:defRPr>
            </a:lvl1pPr>
          </a:lstStyle>
          <a:p>
            <a:pPr/>
            <a:r>
              <a:t>Sparse metric</a:t>
            </a:r>
          </a:p>
        </p:txBody>
      </p:sp>
      <p:sp>
        <p:nvSpPr>
          <p:cNvPr id="1519" name="TextBox 25"/>
          <p:cNvSpPr txBox="1"/>
          <p:nvPr/>
        </p:nvSpPr>
        <p:spPr>
          <a:xfrm>
            <a:off x="8449054" y="2770632"/>
            <a:ext cx="1801368" cy="46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86073"/>
                </a:solidFill>
              </a:defRPr>
            </a:lvl1pPr>
          </a:lstStyle>
          <a:p>
            <a:pPr/>
            <a:r>
              <a:t>Require Full Window would skip evaluation.</a:t>
            </a:r>
          </a:p>
        </p:txBody>
      </p:sp>
      <p:sp>
        <p:nvSpPr>
          <p:cNvPr id="1520" name="Challenge Card - Wrong statistic"/>
          <p:cNvSpPr/>
          <p:nvPr/>
        </p:nvSpPr>
        <p:spPr>
          <a:xfrm>
            <a:off x="2880360" y="3730752"/>
            <a:ext cx="2331721" cy="1591057"/>
          </a:xfrm>
          <a:prstGeom prst="roundRect">
            <a:avLst>
              <a:gd name="adj" fmla="val 16667"/>
            </a:avLst>
          </a:prstGeom>
          <a:solidFill>
            <a:srgbClr val="F6F7FC"/>
          </a:solidFill>
          <a:ln w="13970">
            <a:solidFill>
              <a:srgbClr val="D8DD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1" name="Rounded Rectangle 27"/>
          <p:cNvSpPr/>
          <p:nvPr/>
        </p:nvSpPr>
        <p:spPr>
          <a:xfrm>
            <a:off x="3044951" y="3895344"/>
            <a:ext cx="1417321" cy="292609"/>
          </a:xfrm>
          <a:prstGeom prst="roundRect">
            <a:avLst>
              <a:gd name="adj" fmla="val 16667"/>
            </a:avLst>
          </a:prstGeom>
          <a:solidFill>
            <a:srgbClr val="FF7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2" name="TextBox 28"/>
          <p:cNvSpPr txBox="1"/>
          <p:nvPr/>
        </p:nvSpPr>
        <p:spPr>
          <a:xfrm>
            <a:off x="3163823" y="3941064"/>
            <a:ext cx="1143002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MATH</a:t>
            </a:r>
          </a:p>
        </p:txBody>
      </p:sp>
      <p:sp>
        <p:nvSpPr>
          <p:cNvPr id="1523" name="TextBox 29"/>
          <p:cNvSpPr txBox="1"/>
          <p:nvPr/>
        </p:nvSpPr>
        <p:spPr>
          <a:xfrm>
            <a:off x="3145536" y="4343400"/>
            <a:ext cx="1801368" cy="642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900">
                <a:solidFill>
                  <a:srgbClr val="1F2230"/>
                </a:solidFill>
              </a:defRPr>
            </a:lvl1pPr>
          </a:lstStyle>
          <a:p>
            <a:pPr/>
            <a:r>
              <a:t>Wrong statistic</a:t>
            </a:r>
          </a:p>
        </p:txBody>
      </p:sp>
      <p:sp>
        <p:nvSpPr>
          <p:cNvPr id="1524" name="TextBox 30"/>
          <p:cNvSpPr txBox="1"/>
          <p:nvPr/>
        </p:nvSpPr>
        <p:spPr>
          <a:xfrm>
            <a:off x="3145536" y="4809744"/>
            <a:ext cx="1801368" cy="657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86073"/>
                </a:solidFill>
              </a:defRPr>
            </a:lvl1pPr>
          </a:lstStyle>
          <a:p>
            <a:pPr/>
            <a:r>
              <a:t>Average looks fine; max or p95 shows pain.</a:t>
            </a:r>
          </a:p>
        </p:txBody>
      </p:sp>
      <p:sp>
        <p:nvSpPr>
          <p:cNvPr id="1525" name="Challenge Card - Noisy group-by"/>
          <p:cNvSpPr/>
          <p:nvPr/>
        </p:nvSpPr>
        <p:spPr>
          <a:xfrm>
            <a:off x="5532120" y="3730752"/>
            <a:ext cx="2331721" cy="1591057"/>
          </a:xfrm>
          <a:prstGeom prst="roundRect">
            <a:avLst>
              <a:gd name="adj" fmla="val 16667"/>
            </a:avLst>
          </a:prstGeom>
          <a:solidFill>
            <a:srgbClr val="F6F7FC"/>
          </a:solidFill>
          <a:ln w="13970">
            <a:solidFill>
              <a:srgbClr val="D8DD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6" name="Rounded Rectangle 32"/>
          <p:cNvSpPr/>
          <p:nvPr/>
        </p:nvSpPr>
        <p:spPr>
          <a:xfrm>
            <a:off x="5696711" y="3895344"/>
            <a:ext cx="1417321" cy="292609"/>
          </a:xfrm>
          <a:prstGeom prst="roundRect">
            <a:avLst>
              <a:gd name="adj" fmla="val 16667"/>
            </a:avLst>
          </a:prstGeom>
          <a:solidFill>
            <a:srgbClr val="00A67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7" name="TextBox 33"/>
          <p:cNvSpPr txBox="1"/>
          <p:nvPr/>
        </p:nvSpPr>
        <p:spPr>
          <a:xfrm>
            <a:off x="5815584" y="3941064"/>
            <a:ext cx="1143001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GROUP</a:t>
            </a:r>
          </a:p>
        </p:txBody>
      </p:sp>
      <p:sp>
        <p:nvSpPr>
          <p:cNvPr id="1528" name="TextBox 34"/>
          <p:cNvSpPr txBox="1"/>
          <p:nvPr/>
        </p:nvSpPr>
        <p:spPr>
          <a:xfrm>
            <a:off x="5797296" y="4343400"/>
            <a:ext cx="1801368" cy="642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900">
                <a:solidFill>
                  <a:srgbClr val="1F2230"/>
                </a:solidFill>
              </a:defRPr>
            </a:lvl1pPr>
          </a:lstStyle>
          <a:p>
            <a:pPr/>
            <a:r>
              <a:t>Noisy group-by</a:t>
            </a:r>
          </a:p>
        </p:txBody>
      </p:sp>
      <p:sp>
        <p:nvSpPr>
          <p:cNvPr id="1529" name="TextBox 35"/>
          <p:cNvSpPr txBox="1"/>
          <p:nvPr/>
        </p:nvSpPr>
        <p:spPr>
          <a:xfrm>
            <a:off x="5797296" y="4809744"/>
            <a:ext cx="1801368" cy="46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86073"/>
                </a:solidFill>
              </a:defRPr>
            </a:lvl1pPr>
          </a:lstStyle>
          <a:p>
            <a:pPr/>
            <a:r>
              <a:t>The first fix creates too many alert groups.</a:t>
            </a:r>
          </a:p>
        </p:txBody>
      </p:sp>
      <p:sp>
        <p:nvSpPr>
          <p:cNvPr id="1530" name="Challenge Card - Customer pushback"/>
          <p:cNvSpPr/>
          <p:nvPr/>
        </p:nvSpPr>
        <p:spPr>
          <a:xfrm>
            <a:off x="8183878" y="3730752"/>
            <a:ext cx="2331721" cy="1591057"/>
          </a:xfrm>
          <a:prstGeom prst="roundRect">
            <a:avLst>
              <a:gd name="adj" fmla="val 16667"/>
            </a:avLst>
          </a:prstGeom>
          <a:solidFill>
            <a:srgbClr val="F6F7FC"/>
          </a:solidFill>
          <a:ln w="13970">
            <a:solidFill>
              <a:srgbClr val="D8DD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1" name="Rounded Rectangle 37"/>
          <p:cNvSpPr/>
          <p:nvPr/>
        </p:nvSpPr>
        <p:spPr>
          <a:xfrm>
            <a:off x="8348471" y="3895344"/>
            <a:ext cx="1417321" cy="292609"/>
          </a:xfrm>
          <a:prstGeom prst="roundRect">
            <a:avLst>
              <a:gd name="adj" fmla="val 16667"/>
            </a:avLst>
          </a:prstGeom>
          <a:solidFill>
            <a:srgbClr val="632CA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2" name="TextBox 38"/>
          <p:cNvSpPr txBox="1"/>
          <p:nvPr/>
        </p:nvSpPr>
        <p:spPr>
          <a:xfrm>
            <a:off x="8467342" y="3941064"/>
            <a:ext cx="1143001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PUSHBACK</a:t>
            </a:r>
          </a:p>
        </p:txBody>
      </p:sp>
      <p:sp>
        <p:nvSpPr>
          <p:cNvPr id="1533" name="TextBox 39"/>
          <p:cNvSpPr txBox="1"/>
          <p:nvPr/>
        </p:nvSpPr>
        <p:spPr>
          <a:xfrm>
            <a:off x="8449054" y="4343400"/>
            <a:ext cx="1801368" cy="642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900">
                <a:solidFill>
                  <a:srgbClr val="1F2230"/>
                </a:solidFill>
              </a:defRPr>
            </a:lvl1pPr>
          </a:lstStyle>
          <a:p>
            <a:pPr/>
            <a:r>
              <a:t>Customer pushback</a:t>
            </a:r>
          </a:p>
        </p:txBody>
      </p:sp>
      <p:sp>
        <p:nvSpPr>
          <p:cNvPr id="1534" name="TextBox 40"/>
          <p:cNvSpPr txBox="1"/>
          <p:nvPr/>
        </p:nvSpPr>
        <p:spPr>
          <a:xfrm>
            <a:off x="8449054" y="4809744"/>
            <a:ext cx="1801368" cy="657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86073"/>
                </a:solidFill>
              </a:defRPr>
            </a:lvl1pPr>
          </a:lstStyle>
          <a:p>
            <a:pPr/>
            <a:r>
              <a:t>Monitor fired, but dashboard looked normal.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DogStatsD type changes the truth</a:t>
            </a:r>
          </a:p>
        </p:txBody>
      </p:sp>
      <p:sp>
        <p:nvSpPr>
          <p:cNvPr id="1537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The trap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Gauge keeps the last value.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Count sums events.</a:t>
            </a:r>
          </a:p>
          <a:p>
            <a:pPr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Histogram preserves distribution summaries.</a:t>
            </a:r>
          </a:p>
        </p:txBody>
      </p:sp>
      <p:sp>
        <p:nvSpPr>
          <p:cNvPr id="1538" name="TextBox 4"/>
          <p:cNvSpPr txBox="1"/>
          <p:nvPr/>
        </p:nvSpPr>
        <p:spPr>
          <a:xfrm>
            <a:off x="4416552" y="749808"/>
            <a:ext cx="612648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100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Why learners need this</a:t>
            </a:r>
          </a:p>
        </p:txBody>
      </p:sp>
      <p:sp>
        <p:nvSpPr>
          <p:cNvPr id="1539" name="TextBox 5"/>
          <p:cNvSpPr txBox="1"/>
          <p:nvPr/>
        </p:nvSpPr>
        <p:spPr>
          <a:xfrm>
            <a:off x="4453128" y="1261872"/>
            <a:ext cx="5943601" cy="1645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Failed payments sent as the wrong type can look impossibly low.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Latency as histogram gives avg/p95/max views.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Counts usually need .as_count() or .as_rate() in monitors.</a:t>
            </a:r>
          </a:p>
        </p:txBody>
      </p:sp>
      <p:sp>
        <p:nvSpPr>
          <p:cNvPr id="1540" name="Rounded Rectangle 6"/>
          <p:cNvSpPr/>
          <p:nvPr/>
        </p:nvSpPr>
        <p:spPr>
          <a:xfrm>
            <a:off x="4407408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EE843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1" name="TextBox 7"/>
          <p:cNvSpPr txBox="1"/>
          <p:nvPr/>
        </p:nvSpPr>
        <p:spPr>
          <a:xfrm>
            <a:off x="4526279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Metric</a:t>
            </a:r>
          </a:p>
        </p:txBody>
      </p:sp>
      <p:sp>
        <p:nvSpPr>
          <p:cNvPr id="1542" name="TextBox 8"/>
          <p:cNvSpPr txBox="1"/>
          <p:nvPr/>
        </p:nvSpPr>
        <p:spPr>
          <a:xfrm>
            <a:off x="4526279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raw signal</a:t>
            </a:r>
          </a:p>
        </p:txBody>
      </p:sp>
      <p:sp>
        <p:nvSpPr>
          <p:cNvPr id="1543" name="TextBox 9"/>
          <p:cNvSpPr txBox="1"/>
          <p:nvPr/>
        </p:nvSpPr>
        <p:spPr>
          <a:xfrm>
            <a:off x="5907023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544" name="Rounded Rectangle 10"/>
          <p:cNvSpPr/>
          <p:nvPr/>
        </p:nvSpPr>
        <p:spPr>
          <a:xfrm>
            <a:off x="6117335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EE843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5" name="TextBox 11"/>
          <p:cNvSpPr txBox="1"/>
          <p:nvPr/>
        </p:nvSpPr>
        <p:spPr>
          <a:xfrm>
            <a:off x="6236208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Aggregator</a:t>
            </a:r>
          </a:p>
        </p:txBody>
      </p:sp>
      <p:sp>
        <p:nvSpPr>
          <p:cNvPr id="1546" name="TextBox 12"/>
          <p:cNvSpPr txBox="1"/>
          <p:nvPr/>
        </p:nvSpPr>
        <p:spPr>
          <a:xfrm>
            <a:off x="6236208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time + space</a:t>
            </a:r>
          </a:p>
        </p:txBody>
      </p:sp>
      <p:sp>
        <p:nvSpPr>
          <p:cNvPr id="1547" name="TextBox 13"/>
          <p:cNvSpPr txBox="1"/>
          <p:nvPr/>
        </p:nvSpPr>
        <p:spPr>
          <a:xfrm>
            <a:off x="7616951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548" name="Rounded Rectangle 14"/>
          <p:cNvSpPr/>
          <p:nvPr/>
        </p:nvSpPr>
        <p:spPr>
          <a:xfrm>
            <a:off x="7827264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EE843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9" name="TextBox 15"/>
          <p:cNvSpPr txBox="1"/>
          <p:nvPr/>
        </p:nvSpPr>
        <p:spPr>
          <a:xfrm>
            <a:off x="7946135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Group</a:t>
            </a:r>
          </a:p>
        </p:txBody>
      </p:sp>
      <p:sp>
        <p:nvSpPr>
          <p:cNvPr id="1550" name="TextBox 16"/>
          <p:cNvSpPr txBox="1"/>
          <p:nvPr/>
        </p:nvSpPr>
        <p:spPr>
          <a:xfrm>
            <a:off x="7946135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owner</a:t>
            </a:r>
          </a:p>
        </p:txBody>
      </p:sp>
      <p:sp>
        <p:nvSpPr>
          <p:cNvPr id="1551" name="TextBox 17"/>
          <p:cNvSpPr txBox="1"/>
          <p:nvPr/>
        </p:nvSpPr>
        <p:spPr>
          <a:xfrm>
            <a:off x="9326879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552" name="Rounded Rectangle 18"/>
          <p:cNvSpPr/>
          <p:nvPr/>
        </p:nvSpPr>
        <p:spPr>
          <a:xfrm>
            <a:off x="9537192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EE843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3" name="TextBox 19"/>
          <p:cNvSpPr txBox="1"/>
          <p:nvPr/>
        </p:nvSpPr>
        <p:spPr>
          <a:xfrm>
            <a:off x="9656063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Threshold</a:t>
            </a:r>
          </a:p>
        </p:txBody>
      </p:sp>
      <p:sp>
        <p:nvSpPr>
          <p:cNvPr id="1554" name="TextBox 20"/>
          <p:cNvSpPr txBox="1"/>
          <p:nvPr/>
        </p:nvSpPr>
        <p:spPr>
          <a:xfrm>
            <a:off x="9656063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Title 1"/>
          <p:cNvSpPr txBox="1"/>
          <p:nvPr>
            <p:ph type="title"/>
          </p:nvPr>
        </p:nvSpPr>
        <p:spPr>
          <a:xfrm>
            <a:off x="695322" y="357808"/>
            <a:ext cx="10795004" cy="8683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Lab A: Online Store</a:t>
            </a:r>
          </a:p>
        </p:txBody>
      </p:sp>
      <p:pic>
        <p:nvPicPr>
          <p:cNvPr id="155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77240" y="1622415"/>
            <a:ext cx="10469881" cy="37046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 defTabSz="640079">
              <a:defRPr sz="2520"/>
            </a:lvl1pPr>
          </a:lstStyle>
          <a:p>
            <a:pPr/>
            <a:r>
              <a:t>E-commerce investigation prompts</a:t>
            </a:r>
          </a:p>
        </p:txBody>
      </p:sp>
      <p:sp>
        <p:nvSpPr>
          <p:cNvPr id="1560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Learner job</a:t>
            </a:r>
          </a:p>
          <a:p>
            <a:pPr/>
          </a:p>
          <a:p>
            <a:pPr/>
            <a:r>
              <a:t>Start from vague customer tickets.</a:t>
            </a:r>
          </a:p>
          <a:p>
            <a:pPr/>
          </a:p>
          <a:p>
            <a:pPr/>
            <a:r>
              <a:t>Build hypotheses before changing the monitor.</a:t>
            </a:r>
          </a:p>
          <a:p>
            <a:pPr/>
          </a:p>
          <a:p>
            <a:pPr/>
            <a:r>
              <a:t>Prove or reject each hypothesis in Metrics Explorer.</a:t>
            </a:r>
          </a:p>
        </p:txBody>
      </p:sp>
      <p:sp>
        <p:nvSpPr>
          <p:cNvPr id="1561" name="TextBox 4"/>
          <p:cNvSpPr txBox="1"/>
          <p:nvPr/>
        </p:nvSpPr>
        <p:spPr>
          <a:xfrm>
            <a:off x="4416552" y="749808"/>
            <a:ext cx="612648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Signals to inspect</a:t>
            </a:r>
          </a:p>
        </p:txBody>
      </p:sp>
      <p:sp>
        <p:nvSpPr>
          <p:cNvPr id="1562" name="TextBox 5"/>
          <p:cNvSpPr txBox="1"/>
          <p:nvPr/>
        </p:nvSpPr>
        <p:spPr>
          <a:xfrm>
            <a:off x="4453128" y="1261872"/>
            <a:ext cx="5943601" cy="1645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ecommerce.payment.latency.*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ecommerce.orders.count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ecommerce.cart.abandonment</a:t>
            </a:r>
          </a:p>
          <a:p>
            <a:pPr>
              <a:spcBef>
                <a:spcPts val="500"/>
              </a:spcBef>
              <a:defRPr sz="15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ecommerce.failed_payments</a:t>
            </a:r>
          </a:p>
        </p:txBody>
      </p:sp>
      <p:sp>
        <p:nvSpPr>
          <p:cNvPr id="1563" name="Rounded Rectangle 6"/>
          <p:cNvSpPr/>
          <p:nvPr/>
        </p:nvSpPr>
        <p:spPr>
          <a:xfrm>
            <a:off x="4407408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EE843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4" name="TextBox 7"/>
          <p:cNvSpPr txBox="1"/>
          <p:nvPr/>
        </p:nvSpPr>
        <p:spPr>
          <a:xfrm>
            <a:off x="4526279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Metric</a:t>
            </a:r>
          </a:p>
        </p:txBody>
      </p:sp>
      <p:sp>
        <p:nvSpPr>
          <p:cNvPr id="1565" name="TextBox 8"/>
          <p:cNvSpPr txBox="1"/>
          <p:nvPr/>
        </p:nvSpPr>
        <p:spPr>
          <a:xfrm>
            <a:off x="4526279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raw signal</a:t>
            </a:r>
          </a:p>
        </p:txBody>
      </p:sp>
      <p:sp>
        <p:nvSpPr>
          <p:cNvPr id="1566" name="TextBox 9"/>
          <p:cNvSpPr txBox="1"/>
          <p:nvPr/>
        </p:nvSpPr>
        <p:spPr>
          <a:xfrm>
            <a:off x="5907023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567" name="Rounded Rectangle 10"/>
          <p:cNvSpPr/>
          <p:nvPr/>
        </p:nvSpPr>
        <p:spPr>
          <a:xfrm>
            <a:off x="6117335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EE843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8" name="TextBox 11"/>
          <p:cNvSpPr txBox="1"/>
          <p:nvPr/>
        </p:nvSpPr>
        <p:spPr>
          <a:xfrm>
            <a:off x="6236208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Aggregator</a:t>
            </a:r>
          </a:p>
        </p:txBody>
      </p:sp>
      <p:sp>
        <p:nvSpPr>
          <p:cNvPr id="1569" name="TextBox 12"/>
          <p:cNvSpPr txBox="1"/>
          <p:nvPr/>
        </p:nvSpPr>
        <p:spPr>
          <a:xfrm>
            <a:off x="6236208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time + space</a:t>
            </a:r>
          </a:p>
        </p:txBody>
      </p:sp>
      <p:sp>
        <p:nvSpPr>
          <p:cNvPr id="1570" name="TextBox 13"/>
          <p:cNvSpPr txBox="1"/>
          <p:nvPr/>
        </p:nvSpPr>
        <p:spPr>
          <a:xfrm>
            <a:off x="7616951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571" name="Rounded Rectangle 14"/>
          <p:cNvSpPr/>
          <p:nvPr/>
        </p:nvSpPr>
        <p:spPr>
          <a:xfrm>
            <a:off x="7827264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EE843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2" name="TextBox 15"/>
          <p:cNvSpPr txBox="1"/>
          <p:nvPr/>
        </p:nvSpPr>
        <p:spPr>
          <a:xfrm>
            <a:off x="7946135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Group</a:t>
            </a:r>
          </a:p>
        </p:txBody>
      </p:sp>
      <p:sp>
        <p:nvSpPr>
          <p:cNvPr id="1573" name="TextBox 16"/>
          <p:cNvSpPr txBox="1"/>
          <p:nvPr/>
        </p:nvSpPr>
        <p:spPr>
          <a:xfrm>
            <a:off x="7946135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owner</a:t>
            </a:r>
          </a:p>
        </p:txBody>
      </p:sp>
      <p:sp>
        <p:nvSpPr>
          <p:cNvPr id="1574" name="TextBox 17"/>
          <p:cNvSpPr txBox="1"/>
          <p:nvPr/>
        </p:nvSpPr>
        <p:spPr>
          <a:xfrm>
            <a:off x="9326879" y="359359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575" name="Rounded Rectangle 18"/>
          <p:cNvSpPr/>
          <p:nvPr/>
        </p:nvSpPr>
        <p:spPr>
          <a:xfrm>
            <a:off x="9537192" y="329184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EE843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6" name="TextBox 19"/>
          <p:cNvSpPr txBox="1"/>
          <p:nvPr/>
        </p:nvSpPr>
        <p:spPr>
          <a:xfrm>
            <a:off x="9656063" y="3438144"/>
            <a:ext cx="1179577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Threshold</a:t>
            </a:r>
          </a:p>
        </p:txBody>
      </p:sp>
      <p:sp>
        <p:nvSpPr>
          <p:cNvPr id="1577" name="TextBox 20"/>
          <p:cNvSpPr txBox="1"/>
          <p:nvPr/>
        </p:nvSpPr>
        <p:spPr>
          <a:xfrm>
            <a:off x="9656063" y="373075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Title 1"/>
          <p:cNvSpPr txBox="1"/>
          <p:nvPr>
            <p:ph type="title"/>
          </p:nvPr>
        </p:nvSpPr>
        <p:spPr>
          <a:xfrm>
            <a:off x="695322" y="357808"/>
            <a:ext cx="10795004" cy="8683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18142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Lab B: Farm IoT Sensors</a:t>
            </a:r>
          </a:p>
        </p:txBody>
      </p:sp>
      <p:pic>
        <p:nvPicPr>
          <p:cNvPr id="158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77240" y="1675327"/>
            <a:ext cx="10469881" cy="35987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 defTabSz="685800">
              <a:defRPr sz="2700"/>
            </a:lvl1pPr>
          </a:lstStyle>
          <a:p>
            <a:pPr/>
            <a:r>
              <a:t>IoT investigation prompts</a:t>
            </a:r>
          </a:p>
        </p:txBody>
      </p:sp>
      <p:sp>
        <p:nvSpPr>
          <p:cNvPr id="1583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Learner job</a:t>
            </a:r>
          </a:p>
          <a:p>
            <a:pPr/>
          </a:p>
          <a:p>
            <a:pPr/>
            <a:r>
              <a:t>Start from symptoms, not monitor types.</a:t>
            </a:r>
          </a:p>
          <a:p>
            <a:pPr/>
          </a:p>
          <a:p>
            <a:pPr/>
            <a:r>
              <a:t>Compare each sensor against its peer group.</a:t>
            </a:r>
          </a:p>
          <a:p>
            <a:pPr/>
          </a:p>
          <a:p>
            <a:pPr/>
            <a:r>
              <a:t>Choose alert behavior only after the signal is proven.</a:t>
            </a:r>
          </a:p>
        </p:txBody>
      </p:sp>
      <p:sp>
        <p:nvSpPr>
          <p:cNvPr id="1584" name="TextBox 4"/>
          <p:cNvSpPr txBox="1"/>
          <p:nvPr/>
        </p:nvSpPr>
        <p:spPr>
          <a:xfrm>
            <a:off x="4416552" y="749808"/>
            <a:ext cx="612648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Signals to inspect</a:t>
            </a:r>
          </a:p>
        </p:txBody>
      </p:sp>
      <p:sp>
        <p:nvSpPr>
          <p:cNvPr id="1585" name="TextBox 5"/>
          <p:cNvSpPr txBox="1"/>
          <p:nvPr/>
        </p:nvSpPr>
        <p:spPr>
          <a:xfrm>
            <a:off x="4453128" y="1261872"/>
            <a:ext cx="5943601" cy="1645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temperature by zone and sensor_id</a:t>
            </a:r>
          </a:p>
          <a:p>
            <a:pPr/>
          </a:p>
          <a:p>
            <a:pPr/>
            <a:r>
              <a:t>battery level by sensor_id</a:t>
            </a:r>
          </a:p>
          <a:p>
            <a:pPr/>
          </a:p>
          <a:p>
            <a:pPr/>
            <a:r>
              <a:t>reading frequency and missing data</a:t>
            </a:r>
          </a:p>
          <a:p>
            <a:pPr/>
          </a:p>
          <a:p>
            <a:pPr/>
            <a:r>
              <a:t>one sensor versus peer baseline</a:t>
            </a:r>
          </a:p>
        </p:txBody>
      </p:sp>
      <p:sp>
        <p:nvSpPr>
          <p:cNvPr id="1586" name="Rectangle 6"/>
          <p:cNvSpPr/>
          <p:nvPr/>
        </p:nvSpPr>
        <p:spPr>
          <a:xfrm>
            <a:off x="4389120" y="3154679"/>
            <a:ext cx="5715001" cy="2148841"/>
          </a:xfrm>
          <a:prstGeom prst="rect">
            <a:avLst/>
          </a:prstGeom>
          <a:solidFill>
            <a:srgbClr val="FBFAFF"/>
          </a:solidFill>
          <a:ln w="12700">
            <a:solidFill>
              <a:srgbClr val="D6CF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7" name="Rectangle 7"/>
          <p:cNvSpPr/>
          <p:nvPr/>
        </p:nvSpPr>
        <p:spPr>
          <a:xfrm>
            <a:off x="4709159" y="4892040"/>
            <a:ext cx="5074921" cy="38101"/>
          </a:xfrm>
          <a:prstGeom prst="rect">
            <a:avLst/>
          </a:prstGeom>
          <a:solidFill>
            <a:srgbClr val="DCD8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8" name="Rectangle 8"/>
          <p:cNvSpPr/>
          <p:nvPr/>
        </p:nvSpPr>
        <p:spPr>
          <a:xfrm>
            <a:off x="4709159" y="3474720"/>
            <a:ext cx="25401" cy="1417321"/>
          </a:xfrm>
          <a:prstGeom prst="rect">
            <a:avLst/>
          </a:prstGeom>
          <a:solidFill>
            <a:srgbClr val="DCD8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9" name="Connector 9"/>
          <p:cNvSpPr/>
          <p:nvPr/>
        </p:nvSpPr>
        <p:spPr>
          <a:xfrm flipV="1">
            <a:off x="5115152" y="4378148"/>
            <a:ext cx="608991" cy="58521"/>
          </a:xfrm>
          <a:prstGeom prst="line">
            <a:avLst/>
          </a:prstGeom>
          <a:ln w="27940">
            <a:solidFill>
              <a:srgbClr val="EE843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590" name="Connector 10"/>
          <p:cNvSpPr/>
          <p:nvPr/>
        </p:nvSpPr>
        <p:spPr>
          <a:xfrm flipV="1">
            <a:off x="5724143" y="4334256"/>
            <a:ext cx="558242" cy="43892"/>
          </a:xfrm>
          <a:prstGeom prst="line">
            <a:avLst/>
          </a:prstGeom>
          <a:ln w="27940">
            <a:solidFill>
              <a:srgbClr val="EE843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591" name="Connector 11"/>
          <p:cNvSpPr/>
          <p:nvPr/>
        </p:nvSpPr>
        <p:spPr>
          <a:xfrm flipV="1">
            <a:off x="6282385" y="3646626"/>
            <a:ext cx="355245" cy="687629"/>
          </a:xfrm>
          <a:prstGeom prst="line">
            <a:avLst/>
          </a:prstGeom>
          <a:ln w="27940">
            <a:solidFill>
              <a:srgbClr val="EE843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592" name="Connector 12"/>
          <p:cNvSpPr/>
          <p:nvPr/>
        </p:nvSpPr>
        <p:spPr>
          <a:xfrm>
            <a:off x="6637628" y="3646627"/>
            <a:ext cx="304496" cy="760780"/>
          </a:xfrm>
          <a:prstGeom prst="line">
            <a:avLst/>
          </a:prstGeom>
          <a:ln w="27940">
            <a:solidFill>
              <a:srgbClr val="EE843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593" name="Connector 13"/>
          <p:cNvSpPr/>
          <p:nvPr/>
        </p:nvSpPr>
        <p:spPr>
          <a:xfrm flipV="1">
            <a:off x="6942124" y="4363515"/>
            <a:ext cx="710489" cy="43892"/>
          </a:xfrm>
          <a:prstGeom prst="line">
            <a:avLst/>
          </a:prstGeom>
          <a:ln w="27940">
            <a:solidFill>
              <a:srgbClr val="EE843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594" name="Connector 14"/>
          <p:cNvSpPr/>
          <p:nvPr/>
        </p:nvSpPr>
        <p:spPr>
          <a:xfrm flipV="1">
            <a:off x="7652612" y="4319625"/>
            <a:ext cx="710489" cy="43892"/>
          </a:xfrm>
          <a:prstGeom prst="line">
            <a:avLst/>
          </a:prstGeom>
          <a:ln w="27940">
            <a:solidFill>
              <a:srgbClr val="EE843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595" name="Connector 15"/>
          <p:cNvSpPr/>
          <p:nvPr/>
        </p:nvSpPr>
        <p:spPr>
          <a:xfrm>
            <a:off x="8363101" y="4319624"/>
            <a:ext cx="913486" cy="58521"/>
          </a:xfrm>
          <a:prstGeom prst="line">
            <a:avLst/>
          </a:prstGeom>
          <a:ln w="27940">
            <a:solidFill>
              <a:srgbClr val="EE843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596" name="Connector 16"/>
          <p:cNvSpPr/>
          <p:nvPr/>
        </p:nvSpPr>
        <p:spPr>
          <a:xfrm flipV="1">
            <a:off x="5115152" y="4261103"/>
            <a:ext cx="811988" cy="29261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597" name="Connector 17"/>
          <p:cNvSpPr/>
          <p:nvPr/>
        </p:nvSpPr>
        <p:spPr>
          <a:xfrm flipV="1">
            <a:off x="5927140" y="4202582"/>
            <a:ext cx="811988" cy="58521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598" name="Connector 18"/>
          <p:cNvSpPr/>
          <p:nvPr/>
        </p:nvSpPr>
        <p:spPr>
          <a:xfrm>
            <a:off x="6739127" y="4202581"/>
            <a:ext cx="913487" cy="43892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599" name="Connector 19"/>
          <p:cNvSpPr/>
          <p:nvPr/>
        </p:nvSpPr>
        <p:spPr>
          <a:xfrm>
            <a:off x="7652612" y="4246473"/>
            <a:ext cx="1014985" cy="29261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600" name="Connector 20"/>
          <p:cNvSpPr/>
          <p:nvPr/>
        </p:nvSpPr>
        <p:spPr>
          <a:xfrm>
            <a:off x="8667597" y="4275734"/>
            <a:ext cx="608991" cy="14630"/>
          </a:xfrm>
          <a:prstGeom prst="line">
            <a:avLst/>
          </a:prstGeom>
          <a:ln w="25400">
            <a:solidFill>
              <a:srgbClr val="9B92B5"/>
            </a:solidFill>
            <a:prstDash val="das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601" name="TextBox 21"/>
          <p:cNvSpPr txBox="1"/>
          <p:nvPr/>
        </p:nvSpPr>
        <p:spPr>
          <a:xfrm>
            <a:off x="4892040" y="3300984"/>
            <a:ext cx="82296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722376">
              <a:defRPr b="1" sz="711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raw signal</a:t>
            </a:r>
          </a:p>
        </p:txBody>
      </p:sp>
      <p:sp>
        <p:nvSpPr>
          <p:cNvPr id="1602" name="TextBox 22"/>
          <p:cNvSpPr txBox="1"/>
          <p:nvPr/>
        </p:nvSpPr>
        <p:spPr>
          <a:xfrm>
            <a:off x="9006839" y="3300984"/>
            <a:ext cx="73152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722376">
              <a:defRPr b="1" sz="711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10m avg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Title 1"/>
          <p:cNvSpPr txBox="1"/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final tribunal</a:t>
            </a:r>
          </a:p>
        </p:txBody>
      </p:sp>
      <p:sp>
        <p:nvSpPr>
          <p:cNvPr id="1605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defRPr b="1" sz="1500">
                <a:latin typeface="+mj-lt"/>
                <a:ea typeface="+mj-ea"/>
                <a:cs typeface="+mj-cs"/>
                <a:sym typeface="Arial"/>
              </a:defRPr>
            </a:pPr>
            <a:r>
              <a:t>Each group presents</a:t>
            </a: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The original vague ticket.</a:t>
            </a: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Evidence that proves the failure mode.</a:t>
            </a: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One rejected hypothesis.</a:t>
            </a: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Two possible fixes and the chosen trade-off.</a:t>
            </a:r>
          </a:p>
          <a:p>
            <a:pPr>
              <a:spcBef>
                <a:spcPts val="200"/>
              </a:spcBef>
              <a:defRPr sz="1100">
                <a:solidFill>
                  <a:srgbClr val="E8DE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The customer-ready explanation.</a:t>
            </a:r>
          </a:p>
        </p:txBody>
      </p:sp>
      <p:sp>
        <p:nvSpPr>
          <p:cNvPr id="1606" name="TextBox 4"/>
          <p:cNvSpPr txBox="1"/>
          <p:nvPr/>
        </p:nvSpPr>
        <p:spPr>
          <a:xfrm>
            <a:off x="4416552" y="749808"/>
            <a:ext cx="612648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100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Score the work</a:t>
            </a:r>
          </a:p>
        </p:txBody>
      </p:sp>
      <p:sp>
        <p:nvSpPr>
          <p:cNvPr id="1607" name="TextBox 5"/>
          <p:cNvSpPr txBox="1"/>
          <p:nvPr/>
        </p:nvSpPr>
        <p:spPr>
          <a:xfrm>
            <a:off x="4453128" y="1261872"/>
            <a:ext cx="5943601" cy="1645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500"/>
              </a:spcBef>
              <a:defRPr sz="1500">
                <a:solidFill>
                  <a:srgbClr val="1F2230"/>
                </a:solidFill>
              </a:defRPr>
            </a:pPr>
            <a:r>
              <a:t>Evidence: did they prove it?</a:t>
            </a:r>
          </a:p>
          <a:p>
            <a:pPr>
              <a:spcBef>
                <a:spcPts val="500"/>
              </a:spcBef>
              <a:defRPr sz="1500">
                <a:solidFill>
                  <a:srgbClr val="1F2230"/>
                </a:solidFill>
              </a:defRPr>
            </a:pPr>
            <a:r>
              <a:t>Alternatives: did they compare fixes?</a:t>
            </a:r>
          </a:p>
          <a:p>
            <a:pPr>
              <a:spcBef>
                <a:spcPts val="500"/>
              </a:spcBef>
              <a:defRPr sz="1500">
                <a:solidFill>
                  <a:srgbClr val="1F2230"/>
                </a:solidFill>
              </a:defRPr>
            </a:pPr>
            <a:r>
              <a:t>Noise: will it avoid false positives?</a:t>
            </a:r>
          </a:p>
          <a:p>
            <a:pPr>
              <a:spcBef>
                <a:spcPts val="500"/>
              </a:spcBef>
              <a:defRPr sz="1500">
                <a:solidFill>
                  <a:srgbClr val="1F2230"/>
                </a:solidFill>
              </a:defRPr>
            </a:pPr>
            <a:r>
              <a:t>Detection: will it fire soon enough?</a:t>
            </a:r>
          </a:p>
          <a:p>
            <a:pPr>
              <a:spcBef>
                <a:spcPts val="500"/>
              </a:spcBef>
              <a:defRPr sz="1500">
                <a:solidFill>
                  <a:srgbClr val="1F2230"/>
                </a:solidFill>
              </a:defRPr>
            </a:pPr>
            <a:r>
              <a:t>Clarity: can the receiver act?</a:t>
            </a:r>
          </a:p>
        </p:txBody>
      </p:sp>
      <p:sp>
        <p:nvSpPr>
          <p:cNvPr id="1608" name="Rounded Rectangle 6"/>
          <p:cNvSpPr/>
          <p:nvPr/>
        </p:nvSpPr>
        <p:spPr>
          <a:xfrm>
            <a:off x="4407408" y="324612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EE843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9" name="TextBox 7"/>
          <p:cNvSpPr txBox="1"/>
          <p:nvPr/>
        </p:nvSpPr>
        <p:spPr>
          <a:xfrm>
            <a:off x="4526279" y="3392423"/>
            <a:ext cx="117957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610" name="TextBox 8"/>
          <p:cNvSpPr txBox="1"/>
          <p:nvPr/>
        </p:nvSpPr>
        <p:spPr>
          <a:xfrm>
            <a:off x="4526279" y="368503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vague ticket</a:t>
            </a:r>
          </a:p>
        </p:txBody>
      </p:sp>
      <p:sp>
        <p:nvSpPr>
          <p:cNvPr id="1611" name="TextBox 9"/>
          <p:cNvSpPr txBox="1"/>
          <p:nvPr/>
        </p:nvSpPr>
        <p:spPr>
          <a:xfrm>
            <a:off x="5907023" y="354787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612" name="Rounded Rectangle 10"/>
          <p:cNvSpPr/>
          <p:nvPr/>
        </p:nvSpPr>
        <p:spPr>
          <a:xfrm>
            <a:off x="6117335" y="324612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EE843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3" name="TextBox 11"/>
          <p:cNvSpPr txBox="1"/>
          <p:nvPr/>
        </p:nvSpPr>
        <p:spPr>
          <a:xfrm>
            <a:off x="6236208" y="3392423"/>
            <a:ext cx="117957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40079">
              <a:defRPr b="1" sz="839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Support</a:t>
            </a:r>
          </a:p>
        </p:txBody>
      </p:sp>
      <p:sp>
        <p:nvSpPr>
          <p:cNvPr id="1614" name="TextBox 12"/>
          <p:cNvSpPr txBox="1"/>
          <p:nvPr/>
        </p:nvSpPr>
        <p:spPr>
          <a:xfrm>
            <a:off x="6236208" y="368503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900">
                <a:solidFill>
                  <a:srgbClr val="564E6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questions</a:t>
            </a:r>
          </a:p>
        </p:txBody>
      </p:sp>
      <p:sp>
        <p:nvSpPr>
          <p:cNvPr id="1615" name="TextBox 13"/>
          <p:cNvSpPr txBox="1"/>
          <p:nvPr/>
        </p:nvSpPr>
        <p:spPr>
          <a:xfrm>
            <a:off x="7616951" y="354787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616" name="Rounded Rectangle 14"/>
          <p:cNvSpPr/>
          <p:nvPr/>
        </p:nvSpPr>
        <p:spPr>
          <a:xfrm>
            <a:off x="7827264" y="324612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EE843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7" name="TextBox 15"/>
          <p:cNvSpPr txBox="1"/>
          <p:nvPr/>
        </p:nvSpPr>
        <p:spPr>
          <a:xfrm>
            <a:off x="7946135" y="3392423"/>
            <a:ext cx="117957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12648">
              <a:defRPr sz="938"/>
            </a:lvl1pPr>
          </a:lstStyle>
          <a:p>
            <a:pPr/>
            <a:r>
              <a:t>Evidence</a:t>
            </a:r>
          </a:p>
        </p:txBody>
      </p:sp>
      <p:sp>
        <p:nvSpPr>
          <p:cNvPr id="1618" name="TextBox 16"/>
          <p:cNvSpPr txBox="1"/>
          <p:nvPr/>
        </p:nvSpPr>
        <p:spPr>
          <a:xfrm>
            <a:off x="7946135" y="368503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proven</a:t>
            </a:r>
          </a:p>
        </p:txBody>
      </p:sp>
      <p:sp>
        <p:nvSpPr>
          <p:cNvPr id="1619" name="TextBox 17"/>
          <p:cNvSpPr txBox="1"/>
          <p:nvPr/>
        </p:nvSpPr>
        <p:spPr>
          <a:xfrm>
            <a:off x="9326879" y="3547871"/>
            <a:ext cx="109729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621791">
              <a:defRPr b="1" sz="1088">
                <a:solidFill>
                  <a:srgbClr val="EE843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620" name="Rounded Rectangle 18"/>
          <p:cNvSpPr/>
          <p:nvPr/>
        </p:nvSpPr>
        <p:spPr>
          <a:xfrm>
            <a:off x="9537192" y="3246120"/>
            <a:ext cx="1417321" cy="960121"/>
          </a:xfrm>
          <a:prstGeom prst="roundRect">
            <a:avLst>
              <a:gd name="adj" fmla="val 16667"/>
            </a:avLst>
          </a:prstGeom>
          <a:solidFill>
            <a:srgbClr val="F6F4FC"/>
          </a:solidFill>
          <a:ln w="12700">
            <a:solidFill>
              <a:srgbClr val="EE843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1" name="TextBox 19"/>
          <p:cNvSpPr txBox="1"/>
          <p:nvPr/>
        </p:nvSpPr>
        <p:spPr>
          <a:xfrm>
            <a:off x="9656063" y="3392423"/>
            <a:ext cx="1179577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12648">
              <a:defRPr sz="938"/>
            </a:lvl1pPr>
          </a:lstStyle>
          <a:p>
            <a:pPr/>
            <a:r>
              <a:t>Trade-off</a:t>
            </a:r>
          </a:p>
        </p:txBody>
      </p:sp>
      <p:sp>
        <p:nvSpPr>
          <p:cNvPr id="1622" name="TextBox 20"/>
          <p:cNvSpPr txBox="1"/>
          <p:nvPr/>
        </p:nvSpPr>
        <p:spPr>
          <a:xfrm>
            <a:off x="9656063" y="3685032"/>
            <a:ext cx="1179577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defended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Title 1"/>
          <p:cNvSpPr txBox="1"/>
          <p:nvPr>
            <p:ph type="title"/>
          </p:nvPr>
        </p:nvSpPr>
        <p:spPr>
          <a:xfrm>
            <a:off x="695322" y="357808"/>
            <a:ext cx="10795004" cy="86833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six rules TSEs should remember</a:t>
            </a:r>
          </a:p>
        </p:txBody>
      </p:sp>
      <p:grpSp>
        <p:nvGrpSpPr>
          <p:cNvPr id="1627" name="Rounded Rectangle 3"/>
          <p:cNvGrpSpPr/>
          <p:nvPr/>
        </p:nvGrpSpPr>
        <p:grpSpPr>
          <a:xfrm>
            <a:off x="658368" y="1225296"/>
            <a:ext cx="1691640" cy="310897"/>
            <a:chOff x="0" y="0"/>
            <a:chExt cx="1691639" cy="310895"/>
          </a:xfrm>
        </p:grpSpPr>
        <p:sp>
          <p:nvSpPr>
            <p:cNvPr id="1625" name="Rounded Rectangle"/>
            <p:cNvSpPr/>
            <p:nvPr/>
          </p:nvSpPr>
          <p:spPr>
            <a:xfrm>
              <a:off x="0" y="0"/>
              <a:ext cx="1691640" cy="310896"/>
            </a:xfrm>
            <a:prstGeom prst="roundRect">
              <a:avLst>
                <a:gd name="adj" fmla="val 16667"/>
              </a:avLst>
            </a:prstGeom>
            <a:solidFill>
              <a:srgbClr val="612CC9"/>
            </a:solidFill>
            <a:ln w="12700" cap="flat">
              <a:solidFill>
                <a:srgbClr val="612CC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26" name="final mental model"/>
            <p:cNvSpPr txBox="1"/>
            <p:nvPr/>
          </p:nvSpPr>
          <p:spPr>
            <a:xfrm>
              <a:off x="67246" y="21526"/>
              <a:ext cx="1557148" cy="2678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defRPr b="1" sz="1100">
                  <a:solidFill>
                    <a:srgbClr val="F4EE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final mental model</a:t>
              </a:r>
            </a:p>
          </p:txBody>
        </p:sp>
      </p:grpSp>
      <p:sp>
        <p:nvSpPr>
          <p:cNvPr id="1628" name="TextBox 4"/>
          <p:cNvSpPr txBox="1"/>
          <p:nvPr/>
        </p:nvSpPr>
        <p:spPr>
          <a:xfrm>
            <a:off x="795527" y="1700783"/>
            <a:ext cx="9966961" cy="3840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187157" indent="-187157">
              <a:buSzPct val="100000"/>
              <a:buAutoNum type="arabicPeriod" startAt="1"/>
              <a:defRPr>
                <a:solidFill>
                  <a:srgbClr val="FFFFFF"/>
                </a:solidFill>
              </a:defRPr>
            </a:pPr>
            <a:r>
              <a:t>Prove the metric is trustworthy before tuning the monitor.</a:t>
            </a:r>
          </a:p>
          <a:p>
            <a:pPr>
              <a:defRPr>
                <a:solidFill>
                  <a:srgbClr val="FFFFFF"/>
                </a:solidFill>
              </a:defRPr>
            </a:pPr>
          </a:p>
          <a:p>
            <a:pPr>
              <a:defRPr>
                <a:solidFill>
                  <a:srgbClr val="FFFFFF"/>
                </a:solidFill>
              </a:defRPr>
            </a:pPr>
            <a:r>
              <a:t>2. Pick the statistic that matches user pain.</a:t>
            </a:r>
          </a:p>
          <a:p>
            <a:pPr>
              <a:defRPr>
                <a:solidFill>
                  <a:srgbClr val="FFFFFF"/>
                </a:solidFill>
              </a:defRPr>
            </a:pPr>
          </a:p>
          <a:p>
            <a:pPr>
              <a:defRPr>
                <a:solidFill>
                  <a:srgbClr val="FFFFFF"/>
                </a:solidFill>
              </a:defRPr>
            </a:pPr>
            <a:r>
              <a:t>3. Segment by the thing someone can fix.</a:t>
            </a:r>
          </a:p>
          <a:p>
            <a:pPr>
              <a:defRPr>
                <a:solidFill>
                  <a:srgbClr val="FFFFFF"/>
                </a:solidFill>
              </a:defRPr>
            </a:pPr>
          </a:p>
          <a:p>
            <a:pPr>
              <a:defRPr>
                <a:solidFill>
                  <a:srgbClr val="FFFFFF"/>
                </a:solidFill>
              </a:defRPr>
            </a:pPr>
            <a:r>
              <a:t>4. Treat counters, gauges, histograms, and distributions differently.</a:t>
            </a:r>
          </a:p>
          <a:p>
            <a:pPr>
              <a:defRPr>
                <a:solidFill>
                  <a:srgbClr val="FFFFFF"/>
                </a:solidFill>
              </a:defRPr>
            </a:pPr>
          </a:p>
          <a:p>
            <a:pPr>
              <a:defRPr>
                <a:solidFill>
                  <a:srgbClr val="FFFFFF"/>
                </a:solidFill>
              </a:defRPr>
            </a:pPr>
            <a:r>
              <a:t>5. Tune noise before you add routing.</a:t>
            </a:r>
          </a:p>
          <a:p>
            <a:pPr>
              <a:defRPr>
                <a:solidFill>
                  <a:srgbClr val="FFFFFF"/>
                </a:solidFill>
              </a:defRPr>
            </a:pPr>
          </a:p>
          <a:p>
            <a:pPr>
              <a:defRPr>
                <a:solidFill>
                  <a:srgbClr val="FFFFFF"/>
                </a:solidFill>
              </a:defRPr>
            </a:pPr>
            <a:r>
              <a:t>6. Bring evidence, alternatives, and a useful 3 AM message.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Title 1"/>
          <p:cNvSpPr txBox="1"/>
          <p:nvPr>
            <p:ph type="title"/>
          </p:nvPr>
        </p:nvSpPr>
        <p:spPr>
          <a:xfrm>
            <a:off x="695322" y="4395789"/>
            <a:ext cx="10795004" cy="1881186"/>
          </a:xfrm>
          <a:prstGeom prst="rect">
            <a:avLst/>
          </a:prstGeom>
        </p:spPr>
        <p:txBody>
          <a:bodyPr anchor="t"/>
          <a:lstStyle>
            <a:lvl1pPr>
              <a:defRPr sz="30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good Metrics and Monitors TSE can explain the signal, prove the query, and turn the alert into action.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025 template">
  <a:themeElements>
    <a:clrScheme name="2025 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E37D"/>
      </a:accent1>
      <a:accent2>
        <a:srgbClr val="0060FF"/>
      </a:accent2>
      <a:accent3>
        <a:srgbClr val="FF5E00"/>
      </a:accent3>
      <a:accent4>
        <a:srgbClr val="00CAFF"/>
      </a:accent4>
      <a:accent5>
        <a:srgbClr val="FF9B00"/>
      </a:accent5>
      <a:accent6>
        <a:srgbClr val="FF0080"/>
      </a:accent6>
      <a:hlink>
        <a:srgbClr val="0000FF"/>
      </a:hlink>
      <a:folHlink>
        <a:srgbClr val="FF00FF"/>
      </a:folHlink>
    </a:clrScheme>
    <a:fontScheme name="2025 templat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2025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025 template">
  <a:themeElements>
    <a:clrScheme name="2025 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E37D"/>
      </a:accent1>
      <a:accent2>
        <a:srgbClr val="0060FF"/>
      </a:accent2>
      <a:accent3>
        <a:srgbClr val="FF5E00"/>
      </a:accent3>
      <a:accent4>
        <a:srgbClr val="00CAFF"/>
      </a:accent4>
      <a:accent5>
        <a:srgbClr val="FF9B00"/>
      </a:accent5>
      <a:accent6>
        <a:srgbClr val="FF0080"/>
      </a:accent6>
      <a:hlink>
        <a:srgbClr val="0000FF"/>
      </a:hlink>
      <a:folHlink>
        <a:srgbClr val="FF00FF"/>
      </a:folHlink>
    </a:clrScheme>
    <a:fontScheme name="2025 templat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2025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